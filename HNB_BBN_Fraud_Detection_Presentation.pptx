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45eb09-84f7-dc77-0da1-94fa0ab8b460}">
          <p14:sldIdLst>
            <p14:sldId id="256"/>
            <p14:sldId id="257"/>
            <p14:sldId id="258"/>
          </p14:sldIdLst>
        </p14:section>
        <p14:section name="Methodology" id="{d562b558-2acc-c7ff-2a2c-2179963726d4}">
          <p14:sldIdLst>
            <p14:sldId id="259"/>
            <p14:sldId id="260"/>
            <p14:sldId id="261"/>
            <p14:sldId id="262"/>
          </p14:sldIdLst>
        </p14:section>
        <p14:section name="Models" id="{683deea1-398d-e812-1e77-46dfe50886b0}">
          <p14:sldIdLst>
            <p14:sldId id="263"/>
            <p14:sldId id="264"/>
          </p14:sldIdLst>
        </p14:section>
        <p14:section name="Results" id="{31b87b49-7833-28d3-e02e-8291dafa8e4c}">
          <p14:sldIdLst>
            <p14:sldId id="265"/>
            <p14:sldId id="266"/>
            <p14:sldId id="267"/>
            <p14:sldId id="268"/>
            <p14:sldId id="269"/>
          </p14:sldIdLst>
        </p14:section>
        <p14:section name="Conclusion" id="{2f23a82e-216a-a591-9e0a-d32915894b4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D29"/>
                </a:solidFill>
                <a:latin typeface="+mn-lt"/>
              </a:defRPr>
            </a:pPr>
            <a:r>
              <a:rPr sz="1200" b="0" i="0" u="none" strike="noStrike">
                <a:solidFill>
                  <a:srgbClr val="1A1D29"/>
                </a:solidFill>
                <a:latin typeface="+mn-lt"/>
              </a:rPr>
              <a:t>Fraud rate (%) when the flag is set</a:t>
            </a:r>
          </a:p>
        </c:rich>
      </c:tx>
      <c:layout/>
      <c:overlay val="0"/>
    </c:title>
    <c:autoTitleDeleted val="0"/>
    <c:plotArea>
      <c:layout/>
      <c:barChart>
        <c:barDir val="col"/>
        <c:grouping val="clustered"/>
        <c:varyColors val="0"/>
        <c:ser>
          <c:idx val="0"/>
          <c:order val="0"/>
          <c:tx>
            <c:strRef>
              <c:f>Sheet1!$B$1</c:f>
              <c:strCache>
                <c:ptCount val="1"/>
                <c:pt idx="0">
                  <c:v>Fraud rate (%)</c:v>
                </c:pt>
              </c:strCache>
            </c:strRef>
          </c:tx>
          <c:spPr>
            <a:solidFill>
              <a:srgbClr val="C8102E"/>
            </a:solidFill>
            <a:effectLst/>
          </c:spPr>
          <c:invertIfNegative val="0"/>
          <c:dLbls>
            <c:numFmt formatCode="0.0&quot;%&quot;" sourceLinked="0"/>
            <c:txPr>
              <a:bodyPr/>
              <a:lstStyle/>
              <a:p>
                <a:pPr>
                  <a:defRPr b="0" i="0" strike="noStrike" sz="1100" u="none">
                    <a:solidFill>
                      <a:srgbClr val="1A1D29"/>
                    </a:solidFill>
                    <a:latin typeface="+mn-lt"/>
                  </a:defRPr>
                </a:pPr>
              </a:p>
            </c:txPr>
            <c:showLegendKey val="0"/>
            <c:showVal val="1"/>
            <c:showCatName val="0"/>
            <c:showSerName val="0"/>
            <c:showPercent val="0"/>
            <c:showBubbleSize val="0"/>
            <c:showLeaderLines val="0"/>
          </c:dLbls>
          <c:cat>
            <c:multiLvlStrRef>
              <c:f>Sheet1!$A$2:$A$5</c:f>
              <c:multiLvlStrCache>
                <c:ptCount val="4"/>
                <c:lvl>
                  <c:pt idx="0">
                    <c:v>All transactions</c:v>
                  </c:pt>
                  <c:pt idx="1">
                    <c:v>Foreign transaction</c:v>
                  </c:pt>
                  <c:pt idx="2">
                    <c:v>Declined</c:v>
                  </c:pt>
                  <c:pt idx="3">
                    <c:v>High-risk country</c:v>
                  </c:pt>
                </c:lvl>
              </c:multiLvlStrCache>
            </c:multiLvlStrRef>
          </c:cat>
          <c:val>
            <c:numRef>
              <c:f>Sheet1!$B$2:$B$5</c:f>
              <c:numCache>
                <c:formatCode>General</c:formatCode>
                <c:ptCount val="4"/>
                <c:pt idx="0">
                  <c:v>14.57</c:v>
                </c:pt>
                <c:pt idx="1">
                  <c:v>45.47</c:v>
                </c:pt>
                <c:pt idx="2">
                  <c:v>84.21</c:v>
                </c:pt>
                <c:pt idx="3">
                  <c:v>99.02</c:v>
                </c:pt>
              </c:numCache>
            </c:numRef>
          </c:val>
        </c:ser>
        <c:dLbls>
          <c:numFmt formatCode="0.0&quot;%&quot;" sourceLinked="0"/>
          <c:txPr>
            <a:bodyPr/>
            <a:lstStyle/>
            <a:p>
              <a:pPr>
                <a:defRPr b="0" i="0" strike="noStrike" sz="1100" u="none">
                  <a:solidFill>
                    <a:srgbClr val="1A1D2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63"/>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D29"/>
                </a:solidFill>
                <a:latin typeface="+mn-lt"/>
              </a:defRPr>
            </a:pPr>
            <a:r>
              <a:rPr sz="1200" b="0" i="0" u="none" strike="noStrike">
                <a:solidFill>
                  <a:srgbClr val="1A1D29"/>
                </a:solidFill>
                <a:latin typeface="+mn-lt"/>
              </a:rPr>
              <a:t>Class counts per data split</a:t>
            </a:r>
          </a:p>
        </c:rich>
      </c:tx>
      <c:layout/>
      <c:overlay val="0"/>
    </c:title>
    <c:autoTitleDeleted val="0"/>
    <c:plotArea>
      <c:layout/>
      <c:barChart>
        <c:barDir val="col"/>
        <c:grouping val="clustered"/>
        <c:varyColors val="0"/>
        <c:ser>
          <c:idx val="0"/>
          <c:order val="0"/>
          <c:tx>
            <c:strRef>
              <c:f>Sheet1!$B$1</c:f>
              <c:strCache>
                <c:ptCount val="1"/>
                <c:pt idx="0">
                  <c:v>Legitimate</c:v>
                </c:pt>
              </c:strCache>
            </c:strRef>
          </c:tx>
          <c:spPr>
            <a:solidFill>
              <a:srgbClr val="0E7C7B"/>
            </a:solidFill>
            <a:effectLst/>
          </c:spPr>
          <c:invertIfNegative val="0"/>
          <c:dLbls>
            <c:numFmt formatCode="#,##0" sourceLinked="0"/>
            <c:txPr>
              <a:bodyPr/>
              <a:lstStyle/>
              <a:p>
                <a:pPr>
                  <a:defRPr b="0" i="0" strike="noStrike" sz="1000" u="none">
                    <a:solidFill>
                      <a:srgbClr val="1A1D29"/>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 (before ROS)</c:v>
                  </c:pt>
                  <c:pt idx="1">
                    <c:v>Train (after ROS)</c:v>
                  </c:pt>
                  <c:pt idx="2">
                    <c:v>Test (untouched)</c:v>
                  </c:pt>
                </c:lvl>
              </c:multiLvlStrCache>
            </c:multiLvlStrRef>
          </c:cat>
          <c:val>
            <c:numRef>
              <c:f>Sheet1!$B$2:$B$4</c:f>
              <c:numCache>
                <c:formatCode>General</c:formatCode>
                <c:ptCount val="3"/>
                <c:pt idx="0">
                  <c:v>2102</c:v>
                </c:pt>
                <c:pt idx="1">
                  <c:v>2102</c:v>
                </c:pt>
                <c:pt idx="2">
                  <c:v>525</c:v>
                </c:pt>
              </c:numCache>
            </c:numRef>
          </c:val>
        </c:ser>
        <c:ser>
          <c:idx val="1"/>
          <c:order val="1"/>
          <c:tx>
            <c:strRef>
              <c:f>Sheet1!$C$1</c:f>
              <c:strCache>
                <c:ptCount val="1"/>
                <c:pt idx="0">
                  <c:v>Fraudulent</c:v>
                </c:pt>
              </c:strCache>
            </c:strRef>
          </c:tx>
          <c:spPr>
            <a:solidFill>
              <a:srgbClr val="C8102E"/>
            </a:solidFill>
            <a:effectLst/>
          </c:spPr>
          <c:invertIfNegative val="0"/>
          <c:dLbls>
            <c:numFmt formatCode="#,##0" sourceLinked="0"/>
            <c:txPr>
              <a:bodyPr/>
              <a:lstStyle/>
              <a:p>
                <a:pPr>
                  <a:defRPr b="0" i="0" strike="noStrike" sz="1000" u="none">
                    <a:solidFill>
                      <a:srgbClr val="1A1D29"/>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 (before ROS)</c:v>
                  </c:pt>
                  <c:pt idx="1">
                    <c:v>Train (after ROS)</c:v>
                  </c:pt>
                  <c:pt idx="2">
                    <c:v>Test (untouched)</c:v>
                  </c:pt>
                </c:lvl>
              </c:multiLvlStrCache>
            </c:multiLvlStrRef>
          </c:cat>
          <c:val>
            <c:numRef>
              <c:f>Sheet1!$C$2:$C$4</c:f>
              <c:numCache>
                <c:formatCode>General</c:formatCode>
                <c:ptCount val="3"/>
                <c:pt idx="0">
                  <c:v>358</c:v>
                </c:pt>
                <c:pt idx="1">
                  <c:v>2102</c:v>
                </c:pt>
                <c:pt idx="2">
                  <c:v>90</c:v>
                </c:pt>
              </c:numCache>
            </c:numRef>
          </c:val>
        </c:ser>
        <c:dLbls>
          <c:numFmt formatCode="#,##0" sourceLinked="0"/>
          <c:txPr>
            <a:bodyPr/>
            <a:lstStyle/>
            <a:p>
              <a:pPr>
                <a:defRPr b="0" i="0" strike="noStrike" sz="1000" u="none">
                  <a:solidFill>
                    <a:srgbClr val="1A1D29"/>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63"/>
                </a:solidFill>
                <a:latin typeface="+mn-lt"/>
              </a:defRPr>
            </a:pPr>
            <a:endParaRPr lang="en-US"/>
          </a:p>
        </c:txPr>
        <c:crossAx val="2094734552"/>
        <c:crosses val="autoZero"/>
        <c:auto val="1"/>
        <c:lblAlgn val="ctr"/>
        <c:noMultiLvlLbl val="1"/>
      </c:catAx>
      <c:valAx>
        <c:axId val="2094734552"/>
        <c:scaling>
          <c:orientation val="minMax"/>
          <c:max val="25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D29"/>
                </a:solidFill>
                <a:latin typeface="+mn-lt"/>
              </a:defRPr>
            </a:pPr>
            <a:r>
              <a:rPr sz="1200" b="0" i="0" u="none" strike="noStrike">
                <a:solidFill>
                  <a:srgbClr val="1A1D29"/>
                </a:solidFill>
                <a:latin typeface="+mn-lt"/>
              </a:rPr>
              <a:t>Strongest feature interactions (mean IP)</a:t>
            </a:r>
          </a:p>
        </c:rich>
      </c:tx>
      <c:layout/>
      <c:overlay val="0"/>
    </c:title>
    <c:autoTitleDeleted val="0"/>
    <c:plotArea>
      <c:layout/>
      <c:barChart>
        <c:barDir val="bar"/>
        <c:grouping val="clustered"/>
        <c:varyColors val="0"/>
        <c:ser>
          <c:idx val="0"/>
          <c:order val="0"/>
          <c:tx>
            <c:strRef>
              <c:f>Sheet1!$B$1</c:f>
              <c:strCache>
                <c:ptCount val="1"/>
                <c:pt idx="0">
                  <c:v>Mean IP</c:v>
                </c:pt>
              </c:strCache>
            </c:strRef>
          </c:tx>
          <c:spPr>
            <a:solidFill>
              <a:srgbClr val="0E7C7B"/>
            </a:solidFill>
            <a:effectLst/>
          </c:spPr>
          <c:invertIfNegative val="0"/>
          <c:dLbls>
            <c:numFmt formatCode="0.00" sourceLinked="0"/>
            <c:txPr>
              <a:bodyPr/>
              <a:lstStyle/>
              <a:p>
                <a:pPr>
                  <a:defRPr b="0" i="0" strike="noStrike" sz="1000" u="none">
                    <a:solidFill>
                      <a:srgbClr val="1A1D29"/>
                    </a:solidFill>
                    <a:latin typeface="+mn-lt"/>
                  </a:defRPr>
                </a:pPr>
              </a:p>
            </c:txPr>
            <c:showLegendKey val="0"/>
            <c:showVal val="1"/>
            <c:showCatName val="0"/>
            <c:showSerName val="0"/>
            <c:showPercent val="0"/>
            <c:showBubbleSize val="0"/>
            <c:showLeaderLines val="0"/>
          </c:dLbls>
          <c:cat>
            <c:multiLvlStrRef>
              <c:f>Sheet1!$A$2:$A$6</c:f>
              <c:multiLvlStrCache>
                <c:ptCount val="5"/>
                <c:lvl>
                  <c:pt idx="0">
                    <c:v>Txn amount × Declined</c:v>
                  </c:pt>
                  <c:pt idx="1">
                    <c:v>Avg amt × Txn amount</c:v>
                  </c:pt>
                  <c:pt idx="2">
                    <c:v>Foreign × High-risk</c:v>
                  </c:pt>
                  <c:pt idx="3">
                    <c:v>Txn amount × High-risk</c:v>
                  </c:pt>
                  <c:pt idx="4">
                    <c:v>Declined × High-risk</c:v>
                  </c:pt>
                </c:lvl>
              </c:multiLvlStrCache>
            </c:multiLvlStrRef>
          </c:cat>
          <c:val>
            <c:numRef>
              <c:f>Sheet1!$B$2:$B$6</c:f>
              <c:numCache>
                <c:formatCode>General</c:formatCode>
                <c:ptCount val="5"/>
                <c:pt idx="0">
                  <c:v>1.29</c:v>
                </c:pt>
                <c:pt idx="1">
                  <c:v>1.63</c:v>
                </c:pt>
                <c:pt idx="2">
                  <c:v>2.15</c:v>
                </c:pt>
                <c:pt idx="3">
                  <c:v>2.64</c:v>
                </c:pt>
                <c:pt idx="4">
                  <c:v>38.35</c:v>
                </c:pt>
              </c:numCache>
            </c:numRef>
          </c:val>
        </c:ser>
        <c:dLbls>
          <c:numFmt formatCode="0.00" sourceLinked="0"/>
          <c:txPr>
            <a:bodyPr/>
            <a:lstStyle/>
            <a:p>
              <a:pPr>
                <a:defRPr b="0" i="0" strike="noStrike" sz="1000" u="none">
                  <a:solidFill>
                    <a:srgbClr val="1A1D29"/>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A5163"/>
                </a:solidFill>
                <a:latin typeface="+mn-lt"/>
              </a:defRPr>
            </a:pPr>
            <a:endParaRPr lang="en-US"/>
          </a:p>
        </c:txPr>
        <c:crossAx val="2094734552"/>
        <c:crosses val="autoZero"/>
        <c:auto val="1"/>
        <c:lblAlgn val="ctr"/>
        <c:noMultiLvlLbl val="1"/>
      </c:catAx>
      <c:valAx>
        <c:axId val="2094734552"/>
        <c:scaling>
          <c:orientation val="minMax"/>
          <c:max val="4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D29"/>
                </a:solidFill>
                <a:latin typeface="+mn-lt"/>
              </a:defRPr>
            </a:pPr>
            <a:r>
              <a:rPr sz="1100" b="0" i="0" u="none" strike="noStrike">
                <a:solidFill>
                  <a:srgbClr val="1A1D29"/>
                </a:solidFill>
                <a:latin typeface="+mn-lt"/>
              </a:rPr>
              <a:t>Test-set metrics (%) — paper uses corrected Table IV reading</a:t>
            </a:r>
          </a:p>
        </c:rich>
      </c:tx>
      <c:layout/>
      <c:overlay val="0"/>
    </c:title>
    <c:autoTitleDeleted val="0"/>
    <c:plotArea>
      <c:layout/>
      <c:barChart>
        <c:barDir val="col"/>
        <c:grouping val="clustered"/>
        <c:varyColors val="0"/>
        <c:ser>
          <c:idx val="0"/>
          <c:order val="0"/>
          <c:tx>
            <c:strRef>
              <c:f>Sheet1!$B$1</c:f>
              <c:strCache>
                <c:ptCount val="1"/>
                <c:pt idx="0">
                  <c:v>Paper HNB</c:v>
                </c:pt>
              </c:strCache>
            </c:strRef>
          </c:tx>
          <c:spPr>
            <a:solidFill>
              <a:srgbClr val="9FD3D2"/>
            </a:solidFill>
            <a:effectLst/>
          </c:spPr>
          <c:invertIfNegative val="0"/>
          <c:dLbls>
            <c:numFmt formatCode="0" sourceLinked="0"/>
            <c:txPr>
              <a:bodyPr/>
              <a:lstStyle/>
              <a:p>
                <a:pPr>
                  <a:defRPr b="0" i="0" strike="noStrike" sz="750" u="none">
                    <a:solidFill>
                      <a:srgbClr val="4A5163"/>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86.82</c:v>
                </c:pt>
                <c:pt idx="1">
                  <c:v>22.33</c:v>
                </c:pt>
                <c:pt idx="2">
                  <c:v>95.8</c:v>
                </c:pt>
                <c:pt idx="3">
                  <c:v>36.22</c:v>
                </c:pt>
              </c:numCache>
            </c:numRef>
          </c:val>
        </c:ser>
        <c:ser>
          <c:idx val="1"/>
          <c:order val="1"/>
          <c:tx>
            <c:strRef>
              <c:f>Sheet1!$C$1</c:f>
              <c:strCache>
                <c:ptCount val="1"/>
                <c:pt idx="0">
                  <c:v>Our HNB</c:v>
                </c:pt>
              </c:strCache>
            </c:strRef>
          </c:tx>
          <c:spPr>
            <a:solidFill>
              <a:srgbClr val="0E7C7B"/>
            </a:solidFill>
            <a:effectLst/>
          </c:spPr>
          <c:invertIfNegative val="0"/>
          <c:dLbls>
            <c:numFmt formatCode="0" sourceLinked="0"/>
            <c:txPr>
              <a:bodyPr/>
              <a:lstStyle/>
              <a:p>
                <a:pPr>
                  <a:defRPr b="0" i="0" strike="noStrike" sz="750" u="none">
                    <a:solidFill>
                      <a:srgbClr val="4A5163"/>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93.66</c:v>
                </c:pt>
                <c:pt idx="1">
                  <c:v>72.97</c:v>
                </c:pt>
                <c:pt idx="2">
                  <c:v>90</c:v>
                </c:pt>
                <c:pt idx="3">
                  <c:v>80.6</c:v>
                </c:pt>
              </c:numCache>
            </c:numRef>
          </c:val>
        </c:ser>
        <c:ser>
          <c:idx val="2"/>
          <c:order val="2"/>
          <c:tx>
            <c:strRef>
              <c:f>Sheet1!$D$1</c:f>
              <c:strCache>
                <c:ptCount val="1"/>
                <c:pt idx="0">
                  <c:v>Paper BBN</c:v>
                </c:pt>
              </c:strCache>
            </c:strRef>
          </c:tx>
          <c:spPr>
            <a:solidFill>
              <a:srgbClr val="B8C0E3"/>
            </a:solidFill>
            <a:effectLst/>
          </c:spPr>
          <c:invertIfNegative val="0"/>
          <c:dLbls>
            <c:numFmt formatCode="0" sourceLinked="0"/>
            <c:txPr>
              <a:bodyPr/>
              <a:lstStyle/>
              <a:p>
                <a:pPr>
                  <a:defRPr b="0" i="0" strike="noStrike" sz="750" u="none">
                    <a:solidFill>
                      <a:srgbClr val="4A5163"/>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Sheet1!$D$2:$D$5</c:f>
              <c:numCache>
                <c:formatCode>General</c:formatCode>
                <c:ptCount val="4"/>
                <c:pt idx="0">
                  <c:v>89.59</c:v>
                </c:pt>
                <c:pt idx="1">
                  <c:v>27.77</c:v>
                </c:pt>
                <c:pt idx="2">
                  <c:v>85.18</c:v>
                </c:pt>
                <c:pt idx="3">
                  <c:v>41.81</c:v>
                </c:pt>
              </c:numCache>
            </c:numRef>
          </c:val>
        </c:ser>
        <c:ser>
          <c:idx val="3"/>
          <c:order val="3"/>
          <c:tx>
            <c:strRef>
              <c:f>Sheet1!$E$1</c:f>
              <c:strCache>
                <c:ptCount val="1"/>
                <c:pt idx="0">
                  <c:v>Our BBN</c:v>
                </c:pt>
              </c:strCache>
            </c:strRef>
          </c:tx>
          <c:spPr>
            <a:solidFill>
              <a:srgbClr val="3D4B8C"/>
            </a:solidFill>
            <a:effectLst/>
          </c:spPr>
          <c:invertIfNegative val="0"/>
          <c:dLbls>
            <c:numFmt formatCode="0" sourceLinked="0"/>
            <c:txPr>
              <a:bodyPr/>
              <a:lstStyle/>
              <a:p>
                <a:pPr>
                  <a:defRPr b="0" i="0" strike="noStrike" sz="750" u="none">
                    <a:solidFill>
                      <a:srgbClr val="4A5163"/>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Sheet1!$E$2:$E$5</c:f>
              <c:numCache>
                <c:formatCode>General</c:formatCode>
                <c:ptCount val="4"/>
                <c:pt idx="0">
                  <c:v>93.01</c:v>
                </c:pt>
                <c:pt idx="1">
                  <c:v>77.01</c:v>
                </c:pt>
                <c:pt idx="2">
                  <c:v>74.44</c:v>
                </c:pt>
                <c:pt idx="3">
                  <c:v>75.71</c:v>
                </c:pt>
              </c:numCache>
            </c:numRef>
          </c:val>
        </c:ser>
        <c:dLbls>
          <c:numFmt formatCode="0" sourceLinked="0"/>
          <c:txPr>
            <a:bodyPr/>
            <a:lstStyle/>
            <a:p>
              <a:pPr>
                <a:defRPr b="0" i="0" strike="noStrike" sz="750" u="none">
                  <a:solidFill>
                    <a:srgbClr val="4A516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D29"/>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re-implemented the HNB and BBN fraud detectors from the IEEE I2CT 2024 paper and compared our results with what the paper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only 14.57% of the data, so a model that always says 'legitimate' already scores about 85.4% accuracy on our test set. That is the real bar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analysis: 99% of high-risk-country transactions and 84% of declined transactions are fraudulent, so these binary flags carry most of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 in Fig. 1 of the paper: load, statistical analysis, scaling, normalization, random oversampling, then training of HNB and BBN, testing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The important design choice is ordering: split first, then fit scalers and oversampling on the training part only, so the test set stays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oversampling balances the training data. We only oversample after splitting, otherwise duplicated fraud rows would leak into the test set and inflate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data, pre-processing, two parallel probabilistic engines (HNB and BBN) that share the same discretized features, and an evaluation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HNB uses pairwise class-conditional probabilities over all 15 pairs of the 6 usable features. The interaction parameters show strong dependencies, especially between declines and high-risk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BBN encodes domain knowledge: daily declines influence whether a transaction is declined, high-risk countries imply foreign transactions, and four parents feed the fraud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untouched 615-row test set (90 frauds) HNB reaches 93.66% accuracy and 90% recall. BBN reaches 93.01% accuracy with the highest precision,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reports 86.82% (HNB) and 89.59% (BBN) accuracy. Recomputing precision, recall and F1 from its own confusion matrix shows the metric columns in Table IV are mislabelled.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models are more accurate and far more precise. The paper's models have higher recall because they flag many more transactions, which costs many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deltas are improvements, red are regressions. We gain hugely on precision and F1 and lose some recall. False alarms drop from 80 to 30 (HNB) and 60 to 20 (BBN).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likely reasons for the gap: leakage-free preprocessing, a realistic stratified test set, our discretization and feature pruning, and specific model design choices the paper does not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takeaways: both models clearly beat the trivial baseline; HNB maximises recall, BBN minimises false alarms; careful preprocessing matters more than the reported numbers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use the full weighted HNB, learn the BBN structure from data, tune thresholds by cost, add behavioural features, validate on larger data, and move toward real-time hybrid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2004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1325880"/>
            <a:ext cx="6035040" cy="14630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2834640"/>
            <a:ext cx="6035040" cy="64008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rtlCol="0"/>
          <a:lstStyle>
            <a:lvl1pPr indent="0" marL="0">
              <a:buNone/>
              <a:defRPr lang="en-US" sz="1000" b="1" spc="200" kern="0"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Credit Card Fraud Detection · HNB &amp; BBN</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rtlCol="0"/>
          <a:lstStyle>
            <a:lvl1pPr indent="0" marL="0">
              <a:buNone/>
              <a:defRPr lang="en-US" sz="1000" b="1" spc="200" kern="0"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Credit Card Fraud Detection · HNB &amp; BBN</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20040"/>
          </a:xfrm>
          <a:prstGeom prst="rect">
            <a:avLst/>
          </a:prstGeom>
          <a:noFill/>
          <a:ln/>
        </p:spPr>
        <p:txBody>
          <a:bodyPr wrap="square" lIns="0" tIns="0" rIns="0" bIns="0" rtlCol="0"/>
          <a:lstStyle/>
          <a:p>
            <a:pPr indent="0" marL="0">
              <a:buNone/>
            </a:pPr>
            <a:r>
              <a:rPr lang="en-US" sz="1100" b="1" spc="200" kern="0" dirty="0">
                <a:solidFill>
                  <a:schemeClr val="accent1"/>
                </a:solidFill>
              </a:rPr>
              <a:t>PROBABILISTIC REASONING · PROJECT REVIEW</a:t>
            </a:r>
            <a:endParaRPr lang="en-US" sz="1100" dirty="0"/>
          </a:p>
        </p:txBody>
      </p:sp>
      <p:sp>
        <p:nvSpPr>
          <p:cNvPr id="3" name="Text 0"/>
          <p:cNvSpPr/>
          <p:nvPr>
            <p:ph idx="101" type="title" hasCustomPrompt="1"/>
          </p:nvPr>
        </p:nvSpPr>
        <p:spPr>
          <a:xfrm>
            <a:off x="548640" y="1325880"/>
            <a:ext cx="6035040" cy="1463040"/>
          </a:xfrm>
          <a:prstGeom prst="rect">
            <a:avLst/>
          </a:prstGeom>
          <a:noFill/>
          <a:ln/>
        </p:spPr>
        <p:txBody>
          <a:bodyPr wrap="square" lIns="0" tIns="0" rIns="0" bIns="0" rtlCol="0" anchor="b"/>
          <a:lstStyle/>
          <a:p>
            <a:pPr algn="l" indent="0" marL="0">
              <a:buNone/>
            </a:pPr>
            <a:r>
              <a:rPr lang="en-US" sz="3200" b="1" dirty="0">
                <a:solidFill>
                  <a:schemeClr val="bg1"/>
                </a:solidFill>
              </a:rPr>
              <a:t>Credit Card Fraud Detection using Hidden Naive Bayes &amp; Bayesian Belief Network</a:t>
            </a:r>
            <a:endParaRPr lang="en-US" sz="3200" dirty="0"/>
          </a:p>
        </p:txBody>
      </p:sp>
      <p:sp>
        <p:nvSpPr>
          <p:cNvPr id="4" name="Text 0"/>
          <p:cNvSpPr/>
          <p:nvPr>
            <p:ph idx="102" type="body" hasCustomPrompt="1"/>
          </p:nvPr>
        </p:nvSpPr>
        <p:spPr>
          <a:xfrm>
            <a:off x="548640" y="2834640"/>
            <a:ext cx="6035040" cy="640080"/>
          </a:xfrm>
          <a:prstGeom prst="rect">
            <a:avLst/>
          </a:prstGeom>
          <a:noFill/>
          <a:ln/>
        </p:spPr>
        <p:txBody>
          <a:bodyPr wrap="square" lIns="0" tIns="0" rIns="0" bIns="0" rtlCol="0" anchor="t"/>
          <a:lstStyle/>
          <a:p>
            <a:pPr indent="0" marL="0">
              <a:buNone/>
            </a:pPr>
            <a:r>
              <a:rPr lang="en-US" sz="1400" dirty="0">
                <a:solidFill>
                  <a:schemeClr val="accent6"/>
                </a:solidFill>
              </a:rPr>
              <a:t>Re-implementation and critical comparison with Chaitanya et al., IEEE I2CT 2024</a:t>
            </a:r>
            <a:endParaRPr lang="en-US" sz="1400" dirty="0"/>
          </a:p>
        </p:txBody>
      </p:sp>
      <p:sp>
        <p:nvSpPr>
          <p:cNvPr id="5" name="Shape 3"/>
          <p:cNvSpPr/>
          <p:nvPr/>
        </p:nvSpPr>
        <p:spPr>
          <a:xfrm>
            <a:off x="7086600" y="1325880"/>
            <a:ext cx="1554480" cy="15544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452360" y="1691640"/>
            <a:ext cx="822960" cy="822960"/>
          </a:xfrm>
          <a:prstGeom prst="rect">
            <a:avLst/>
          </a:prstGeom>
        </p:spPr>
      </p:pic>
      <p:sp>
        <p:nvSpPr>
          <p:cNvPr id="7" name="Text 4"/>
          <p:cNvSpPr txBox="1"/>
          <p:nvPr/>
        </p:nvSpPr>
        <p:spPr>
          <a:xfrm>
            <a:off x="548640" y="3840480"/>
            <a:ext cx="21945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3,075</a:t>
            </a:r>
            <a:endParaRPr lang="en-US" sz="2600" dirty="0"/>
          </a:p>
        </p:txBody>
      </p:sp>
      <p:sp>
        <p:nvSpPr>
          <p:cNvPr id="8" name="Text 5"/>
          <p:cNvSpPr txBox="1"/>
          <p:nvPr/>
        </p:nvSpPr>
        <p:spPr>
          <a:xfrm>
            <a:off x="548640" y="4297680"/>
            <a:ext cx="2194560" cy="274320"/>
          </a:xfrm>
          <a:prstGeom prst="rect">
            <a:avLst/>
          </a:prstGeom>
          <a:noFill/>
          <a:ln/>
        </p:spPr>
        <p:txBody>
          <a:bodyPr wrap="square" lIns="0" tIns="0" rIns="0" bIns="0" rtlCol="0" anchor="t"/>
          <a:lstStyle/>
          <a:p>
            <a:pPr indent="0" marL="0">
              <a:buNone/>
            </a:pPr>
            <a:r>
              <a:rPr lang="en-US" sz="1100" dirty="0">
                <a:solidFill>
                  <a:schemeClr val="accent6"/>
                </a:solidFill>
              </a:rPr>
              <a:t>transactions analysed</a:t>
            </a:r>
            <a:endParaRPr lang="en-US" sz="1100" dirty="0"/>
          </a:p>
        </p:txBody>
      </p:sp>
      <p:sp>
        <p:nvSpPr>
          <p:cNvPr id="9" name="Text 6"/>
          <p:cNvSpPr txBox="1"/>
          <p:nvPr/>
        </p:nvSpPr>
        <p:spPr>
          <a:xfrm>
            <a:off x="2926080" y="3840480"/>
            <a:ext cx="21945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0" name="Text 7"/>
          <p:cNvSpPr txBox="1"/>
          <p:nvPr/>
        </p:nvSpPr>
        <p:spPr>
          <a:xfrm>
            <a:off x="2926080" y="4297680"/>
            <a:ext cx="2194560" cy="274320"/>
          </a:xfrm>
          <a:prstGeom prst="rect">
            <a:avLst/>
          </a:prstGeom>
          <a:noFill/>
          <a:ln/>
        </p:spPr>
        <p:txBody>
          <a:bodyPr wrap="square" lIns="0" tIns="0" rIns="0" bIns="0" rtlCol="0" anchor="t"/>
          <a:lstStyle/>
          <a:p>
            <a:pPr indent="0" marL="0">
              <a:buNone/>
            </a:pPr>
            <a:r>
              <a:rPr lang="en-US" sz="1100" dirty="0">
                <a:solidFill>
                  <a:schemeClr val="accent6"/>
                </a:solidFill>
              </a:rPr>
              <a:t>probabilistic models</a:t>
            </a:r>
            <a:endParaRPr lang="en-US" sz="1100" dirty="0"/>
          </a:p>
        </p:txBody>
      </p:sp>
      <p:sp>
        <p:nvSpPr>
          <p:cNvPr id="11" name="Text 8"/>
          <p:cNvSpPr txBox="1"/>
          <p:nvPr/>
        </p:nvSpPr>
        <p:spPr>
          <a:xfrm>
            <a:off x="5303520" y="3840480"/>
            <a:ext cx="21945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93.7%</a:t>
            </a:r>
            <a:endParaRPr lang="en-US" sz="2600" dirty="0"/>
          </a:p>
        </p:txBody>
      </p:sp>
      <p:sp>
        <p:nvSpPr>
          <p:cNvPr id="12" name="Text 9"/>
          <p:cNvSpPr txBox="1"/>
          <p:nvPr/>
        </p:nvSpPr>
        <p:spPr>
          <a:xfrm>
            <a:off x="5303520" y="4297680"/>
            <a:ext cx="2194560" cy="274320"/>
          </a:xfrm>
          <a:prstGeom prst="rect">
            <a:avLst/>
          </a:prstGeom>
          <a:noFill/>
          <a:ln/>
        </p:spPr>
        <p:txBody>
          <a:bodyPr wrap="square" lIns="0" tIns="0" rIns="0" bIns="0" rtlCol="0" anchor="t"/>
          <a:lstStyle/>
          <a:p>
            <a:pPr indent="0" marL="0">
              <a:buNone/>
            </a:pPr>
            <a:r>
              <a:rPr lang="en-US" sz="1100" dirty="0">
                <a:solidFill>
                  <a:schemeClr val="accent6"/>
                </a:solidFill>
              </a:rPr>
              <a:t>best test accuracy (HNB)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INTRODUCTION</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Why probabilistic fraud detection?</a:t>
            </a:r>
            <a:endParaRPr lang="en-US" sz="2600" dirty="0"/>
          </a:p>
        </p:txBody>
      </p:sp>
      <p:sp>
        <p:nvSpPr>
          <p:cNvPr id="4" name="Text 2"/>
          <p:cNvSpPr txBox="1"/>
          <p:nvPr/>
        </p:nvSpPr>
        <p:spPr>
          <a:xfrm>
            <a:off x="457200" y="1143000"/>
            <a:ext cx="4572000" cy="868680"/>
          </a:xfrm>
          <a:prstGeom prst="rect">
            <a:avLst/>
          </a:prstGeom>
          <a:noFill/>
          <a:ln/>
        </p:spPr>
        <p:txBody>
          <a:bodyPr wrap="square" lIns="0" tIns="0" rIns="0" bIns="0" rtlCol="0" anchor="t"/>
          <a:lstStyle/>
          <a:p>
            <a:pPr indent="0" marL="0">
              <a:buNone/>
            </a:pPr>
            <a:r>
              <a:rPr lang="en-US" sz="1300" dirty="0">
                <a:solidFill>
                  <a:schemeClr val="tx2"/>
                </a:solidFill>
              </a:rPr>
              <a:t>Card fraud is rare, costly and keeps changing. A good detector must catch fraud (recall) without flooding analysts with false alarms (precision). Probabilistic models also explain why a transaction was flagged.</a:t>
            </a:r>
            <a:endParaRPr lang="en-US" sz="1300" dirty="0"/>
          </a:p>
        </p:txBody>
      </p:sp>
      <p:sp>
        <p:nvSpPr>
          <p:cNvPr id="5" name="Shape 3"/>
          <p:cNvSpPr/>
          <p:nvPr/>
        </p:nvSpPr>
        <p:spPr>
          <a:xfrm>
            <a:off x="457200" y="2194560"/>
            <a:ext cx="502920" cy="50292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577901" y="2315261"/>
            <a:ext cx="261518" cy="261518"/>
          </a:xfrm>
          <a:prstGeom prst="rect">
            <a:avLst/>
          </a:prstGeom>
        </p:spPr>
      </p:pic>
      <p:sp>
        <p:nvSpPr>
          <p:cNvPr id="7" name="Text 4"/>
          <p:cNvSpPr txBox="1"/>
          <p:nvPr/>
        </p:nvSpPr>
        <p:spPr>
          <a:xfrm>
            <a:off x="1143000" y="2176272"/>
            <a:ext cx="3931920" cy="274320"/>
          </a:xfrm>
          <a:prstGeom prst="rect">
            <a:avLst/>
          </a:prstGeom>
          <a:noFill/>
          <a:ln/>
        </p:spPr>
        <p:txBody>
          <a:bodyPr wrap="square" lIns="0" tIns="0" rIns="0" bIns="0" rtlCol="0" anchor="t"/>
          <a:lstStyle/>
          <a:p>
            <a:pPr indent="0" marL="0">
              <a:buNone/>
            </a:pPr>
            <a:r>
              <a:rPr lang="en-US" sz="1350" b="1" dirty="0">
                <a:solidFill>
                  <a:schemeClr val="tx1"/>
                </a:solidFill>
              </a:rPr>
              <a:t>Re-implement both models</a:t>
            </a:r>
            <a:endParaRPr lang="en-US" sz="1350" dirty="0"/>
          </a:p>
        </p:txBody>
      </p:sp>
      <p:sp>
        <p:nvSpPr>
          <p:cNvPr id="8" name="Text 5"/>
          <p:cNvSpPr txBox="1"/>
          <p:nvPr/>
        </p:nvSpPr>
        <p:spPr>
          <a:xfrm>
            <a:off x="1143000" y="2450592"/>
            <a:ext cx="3931920" cy="457200"/>
          </a:xfrm>
          <a:prstGeom prst="rect">
            <a:avLst/>
          </a:prstGeom>
          <a:noFill/>
          <a:ln/>
        </p:spPr>
        <p:txBody>
          <a:bodyPr wrap="square" lIns="0" tIns="0" rIns="0" bIns="0" rtlCol="0" anchor="t"/>
          <a:lstStyle/>
          <a:p>
            <a:pPr indent="0" marL="0">
              <a:buNone/>
            </a:pPr>
            <a:r>
              <a:rPr lang="en-US" sz="1100" dirty="0">
                <a:solidFill>
                  <a:schemeClr val="tx2"/>
                </a:solidFill>
              </a:rPr>
              <a:t>Hidden Naive Bayes and Bayesian Belief Network from the I2CT 2024 paper</a:t>
            </a:r>
            <a:endParaRPr lang="en-US" sz="1100" dirty="0"/>
          </a:p>
        </p:txBody>
      </p:sp>
      <p:sp>
        <p:nvSpPr>
          <p:cNvPr id="9" name="Shape 6"/>
          <p:cNvSpPr/>
          <p:nvPr/>
        </p:nvSpPr>
        <p:spPr>
          <a:xfrm>
            <a:off x="457200" y="3017520"/>
            <a:ext cx="502920" cy="50292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577901" y="3138221"/>
            <a:ext cx="261518" cy="261518"/>
          </a:xfrm>
          <a:prstGeom prst="rect">
            <a:avLst/>
          </a:prstGeom>
        </p:spPr>
      </p:pic>
      <p:sp>
        <p:nvSpPr>
          <p:cNvPr id="11" name="Text 7"/>
          <p:cNvSpPr txBox="1"/>
          <p:nvPr/>
        </p:nvSpPr>
        <p:spPr>
          <a:xfrm>
            <a:off x="1143000" y="2999232"/>
            <a:ext cx="3931920" cy="274320"/>
          </a:xfrm>
          <a:prstGeom prst="rect">
            <a:avLst/>
          </a:prstGeom>
          <a:noFill/>
          <a:ln/>
        </p:spPr>
        <p:txBody>
          <a:bodyPr wrap="square" lIns="0" tIns="0" rIns="0" bIns="0" rtlCol="0" anchor="t"/>
          <a:lstStyle/>
          <a:p>
            <a:pPr indent="0" marL="0">
              <a:buNone/>
            </a:pPr>
            <a:r>
              <a:rPr lang="en-US" sz="1350" b="1" dirty="0">
                <a:solidFill>
                  <a:schemeClr val="tx1"/>
                </a:solidFill>
              </a:rPr>
              <a:t>Build a leakage-free pipeline</a:t>
            </a:r>
            <a:endParaRPr lang="en-US" sz="1350" dirty="0"/>
          </a:p>
        </p:txBody>
      </p:sp>
      <p:sp>
        <p:nvSpPr>
          <p:cNvPr id="12" name="Text 8"/>
          <p:cNvSpPr txBox="1"/>
          <p:nvPr/>
        </p:nvSpPr>
        <p:spPr>
          <a:xfrm>
            <a:off x="1143000" y="3273552"/>
            <a:ext cx="3931920" cy="457200"/>
          </a:xfrm>
          <a:prstGeom prst="rect">
            <a:avLst/>
          </a:prstGeom>
          <a:noFill/>
          <a:ln/>
        </p:spPr>
        <p:txBody>
          <a:bodyPr wrap="square" lIns="0" tIns="0" rIns="0" bIns="0" rtlCol="0" anchor="t"/>
          <a:lstStyle/>
          <a:p>
            <a:pPr indent="0" marL="0">
              <a:buNone/>
            </a:pPr>
            <a:r>
              <a:rPr lang="en-US" sz="1100" dirty="0">
                <a:solidFill>
                  <a:schemeClr val="tx2"/>
                </a:solidFill>
              </a:rPr>
              <a:t>Same L&amp;T credit-card dataset; fit every transform on training data only</a:t>
            </a:r>
            <a:endParaRPr lang="en-US" sz="1100" dirty="0"/>
          </a:p>
        </p:txBody>
      </p:sp>
      <p:sp>
        <p:nvSpPr>
          <p:cNvPr id="13" name="Shape 9"/>
          <p:cNvSpPr/>
          <p:nvPr/>
        </p:nvSpPr>
        <p:spPr>
          <a:xfrm>
            <a:off x="457200" y="3840480"/>
            <a:ext cx="502920" cy="502920"/>
          </a:xfrm>
          <a:prstGeom prst="ellipse">
            <a:avLst/>
          </a:prstGeom>
          <a:solidFill>
            <a:schemeClr val="accent2"/>
          </a:solidFill>
          <a:ln w="12700">
            <a:solidFill>
              <a:schemeClr val="accent2"/>
            </a:solidFill>
            <a:prstDash val="solid"/>
          </a:ln>
        </p:spPr>
      </p:sp>
      <p:pic>
        <p:nvPicPr>
          <p:cNvPr id="14" name="Image 2" descr="preencoded.png">    </p:cNvPr>
          <p:cNvPicPr>
            <a:picLocks noChangeAspect="1"/>
          </p:cNvPicPr>
          <p:nvPr/>
        </p:nvPicPr>
        <p:blipFill>
          <a:blip r:embed="rId3"/>
          <a:stretch>
            <a:fillRect/>
          </a:stretch>
        </p:blipFill>
        <p:spPr>
          <a:xfrm>
            <a:off x="577901" y="3961181"/>
            <a:ext cx="261518" cy="261518"/>
          </a:xfrm>
          <a:prstGeom prst="rect">
            <a:avLst/>
          </a:prstGeom>
        </p:spPr>
      </p:pic>
      <p:sp>
        <p:nvSpPr>
          <p:cNvPr id="15" name="Text 10"/>
          <p:cNvSpPr txBox="1"/>
          <p:nvPr/>
        </p:nvSpPr>
        <p:spPr>
          <a:xfrm>
            <a:off x="1143000" y="3822192"/>
            <a:ext cx="3931920" cy="274320"/>
          </a:xfrm>
          <a:prstGeom prst="rect">
            <a:avLst/>
          </a:prstGeom>
          <a:noFill/>
          <a:ln/>
        </p:spPr>
        <p:txBody>
          <a:bodyPr wrap="square" lIns="0" tIns="0" rIns="0" bIns="0" rtlCol="0" anchor="t"/>
          <a:lstStyle/>
          <a:p>
            <a:pPr indent="0" marL="0">
              <a:buNone/>
            </a:pPr>
            <a:r>
              <a:rPr lang="en-US" sz="1350" b="1" dirty="0">
                <a:solidFill>
                  <a:schemeClr val="tx1"/>
                </a:solidFill>
              </a:rPr>
              <a:t>Compare against the paper</a:t>
            </a:r>
            <a:endParaRPr lang="en-US" sz="1350" dirty="0"/>
          </a:p>
        </p:txBody>
      </p:sp>
      <p:sp>
        <p:nvSpPr>
          <p:cNvPr id="16" name="Text 11"/>
          <p:cNvSpPr txBox="1"/>
          <p:nvPr/>
        </p:nvSpPr>
        <p:spPr>
          <a:xfrm>
            <a:off x="1143000" y="4096512"/>
            <a:ext cx="3931920" cy="457200"/>
          </a:xfrm>
          <a:prstGeom prst="rect">
            <a:avLst/>
          </a:prstGeom>
          <a:noFill/>
          <a:ln/>
        </p:spPr>
        <p:txBody>
          <a:bodyPr wrap="square" lIns="0" tIns="0" rIns="0" bIns="0" rtlCol="0" anchor="t"/>
          <a:lstStyle/>
          <a:p>
            <a:pPr indent="0" marL="0">
              <a:buNone/>
            </a:pPr>
            <a:r>
              <a:rPr lang="en-US" sz="1100" dirty="0">
                <a:solidFill>
                  <a:schemeClr val="tx2"/>
                </a:solidFill>
              </a:rPr>
              <a:t>Measure and explain the differences in accuracy, precision, recall and F1</a:t>
            </a:r>
            <a:endParaRPr lang="en-US" sz="1100" dirty="0"/>
          </a:p>
        </p:txBody>
      </p:sp>
      <p:sp>
        <p:nvSpPr>
          <p:cNvPr id="17" name="Shape 12"/>
          <p:cNvSpPr/>
          <p:nvPr/>
        </p:nvSpPr>
        <p:spPr>
          <a:xfrm>
            <a:off x="5486400" y="1143000"/>
            <a:ext cx="3200400" cy="1024128"/>
          </a:xfrm>
          <a:prstGeom prst="roundRect">
            <a:avLst>
              <a:gd name="adj" fmla="val 7143"/>
            </a:avLst>
          </a:prstGeom>
          <a:solidFill>
            <a:schemeClr val="bg2"/>
          </a:solidFill>
          <a:ln w="12700">
            <a:solidFill>
              <a:schemeClr val="bg2"/>
            </a:solidFill>
            <a:prstDash val="solid"/>
          </a:ln>
        </p:spPr>
      </p:sp>
      <p:sp>
        <p:nvSpPr>
          <p:cNvPr id="18" name="Text 13"/>
          <p:cNvSpPr txBox="1"/>
          <p:nvPr/>
        </p:nvSpPr>
        <p:spPr>
          <a:xfrm>
            <a:off x="5715000" y="1252728"/>
            <a:ext cx="2834640" cy="4572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3,075</a:t>
            </a:r>
            <a:endParaRPr lang="en-US" sz="2800" dirty="0"/>
          </a:p>
        </p:txBody>
      </p:sp>
      <p:sp>
        <p:nvSpPr>
          <p:cNvPr id="19" name="Text 14"/>
          <p:cNvSpPr txBox="1"/>
          <p:nvPr/>
        </p:nvSpPr>
        <p:spPr>
          <a:xfrm>
            <a:off x="5715000" y="1728216"/>
            <a:ext cx="2834640" cy="384048"/>
          </a:xfrm>
          <a:prstGeom prst="rect">
            <a:avLst/>
          </a:prstGeom>
          <a:noFill/>
          <a:ln/>
        </p:spPr>
        <p:txBody>
          <a:bodyPr wrap="square" lIns="0" tIns="0" rIns="0" bIns="0" rtlCol="0" anchor="t"/>
          <a:lstStyle/>
          <a:p>
            <a:pPr indent="0" marL="0">
              <a:buNone/>
            </a:pPr>
            <a:r>
              <a:rPr lang="en-US" sz="1100" dirty="0">
                <a:solidFill>
                  <a:schemeClr val="tx2"/>
                </a:solidFill>
              </a:rPr>
              <a:t>transactions × 12 columns</a:t>
            </a:r>
            <a:endParaRPr lang="en-US" sz="1100" dirty="0"/>
          </a:p>
        </p:txBody>
      </p:sp>
      <p:sp>
        <p:nvSpPr>
          <p:cNvPr id="20" name="Shape 15"/>
          <p:cNvSpPr/>
          <p:nvPr/>
        </p:nvSpPr>
        <p:spPr>
          <a:xfrm>
            <a:off x="5486400" y="2304288"/>
            <a:ext cx="3200400" cy="1024128"/>
          </a:xfrm>
          <a:prstGeom prst="roundRect">
            <a:avLst>
              <a:gd name="adj" fmla="val 7143"/>
            </a:avLst>
          </a:prstGeom>
          <a:solidFill>
            <a:schemeClr val="bg2"/>
          </a:solidFill>
          <a:ln w="12700">
            <a:solidFill>
              <a:schemeClr val="bg2"/>
            </a:solidFill>
            <a:prstDash val="solid"/>
          </a:ln>
        </p:spPr>
      </p:sp>
      <p:sp>
        <p:nvSpPr>
          <p:cNvPr id="21" name="Text 16"/>
          <p:cNvSpPr txBox="1"/>
          <p:nvPr/>
        </p:nvSpPr>
        <p:spPr>
          <a:xfrm>
            <a:off x="5715000" y="2414016"/>
            <a:ext cx="283464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14.57%</a:t>
            </a:r>
            <a:endParaRPr lang="en-US" sz="2800" dirty="0"/>
          </a:p>
        </p:txBody>
      </p:sp>
      <p:sp>
        <p:nvSpPr>
          <p:cNvPr id="22" name="Text 17"/>
          <p:cNvSpPr txBox="1"/>
          <p:nvPr/>
        </p:nvSpPr>
        <p:spPr>
          <a:xfrm>
            <a:off x="5715000" y="2889504"/>
            <a:ext cx="2834640" cy="384048"/>
          </a:xfrm>
          <a:prstGeom prst="rect">
            <a:avLst/>
          </a:prstGeom>
          <a:noFill/>
          <a:ln/>
        </p:spPr>
        <p:txBody>
          <a:bodyPr wrap="square" lIns="0" tIns="0" rIns="0" bIns="0" rtlCol="0" anchor="t"/>
          <a:lstStyle/>
          <a:p>
            <a:pPr indent="0" marL="0">
              <a:buNone/>
            </a:pPr>
            <a:r>
              <a:rPr lang="en-US" sz="1100" dirty="0">
                <a:solidFill>
                  <a:schemeClr val="tx2"/>
                </a:solidFill>
              </a:rPr>
              <a:t>fraudulent (448 of 3,075)</a:t>
            </a:r>
            <a:endParaRPr lang="en-US" sz="1100" dirty="0"/>
          </a:p>
        </p:txBody>
      </p:sp>
      <p:sp>
        <p:nvSpPr>
          <p:cNvPr id="23" name="Shape 18"/>
          <p:cNvSpPr/>
          <p:nvPr/>
        </p:nvSpPr>
        <p:spPr>
          <a:xfrm>
            <a:off x="5486400" y="3465576"/>
            <a:ext cx="3200400" cy="1024128"/>
          </a:xfrm>
          <a:prstGeom prst="roundRect">
            <a:avLst>
              <a:gd name="adj" fmla="val 7143"/>
            </a:avLst>
          </a:prstGeom>
          <a:solidFill>
            <a:schemeClr val="bg2"/>
          </a:solidFill>
          <a:ln w="12700">
            <a:solidFill>
              <a:schemeClr val="bg2"/>
            </a:solidFill>
            <a:prstDash val="solid"/>
          </a:ln>
        </p:spPr>
      </p:sp>
      <p:sp>
        <p:nvSpPr>
          <p:cNvPr id="24" name="Text 19"/>
          <p:cNvSpPr txBox="1"/>
          <p:nvPr/>
        </p:nvSpPr>
        <p:spPr>
          <a:xfrm>
            <a:off x="5715000" y="3575304"/>
            <a:ext cx="2834640" cy="45720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85.4%</a:t>
            </a:r>
            <a:endParaRPr lang="en-US" sz="2800" dirty="0"/>
          </a:p>
        </p:txBody>
      </p:sp>
      <p:sp>
        <p:nvSpPr>
          <p:cNvPr id="25" name="Text 20"/>
          <p:cNvSpPr txBox="1"/>
          <p:nvPr/>
        </p:nvSpPr>
        <p:spPr>
          <a:xfrm>
            <a:off x="5715000" y="4050792"/>
            <a:ext cx="2834640" cy="384048"/>
          </a:xfrm>
          <a:prstGeom prst="rect">
            <a:avLst/>
          </a:prstGeom>
          <a:noFill/>
          <a:ln/>
        </p:spPr>
        <p:txBody>
          <a:bodyPr wrap="square" lIns="0" tIns="0" rIns="0" bIns="0" rtlCol="0" anchor="t"/>
          <a:lstStyle/>
          <a:p>
            <a:pPr indent="0" marL="0">
              <a:buNone/>
            </a:pPr>
            <a:r>
              <a:rPr lang="en-US" sz="1100" dirty="0">
                <a:solidFill>
                  <a:schemeClr val="tx2"/>
                </a:solidFill>
              </a:rPr>
              <a:t>accuracy of always guessing "legitimate" (the baseline to beat)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DATASET &amp; EDA</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What the data tells us before modelling</a:t>
            </a:r>
            <a:endParaRPr lang="en-US" sz="2600" dirty="0"/>
          </a:p>
        </p:txBody>
      </p:sp>
      <p:graphicFrame>
        <p:nvGraphicFramePr>
          <p:cNvPr id="4" name="Chart 0" descr=""/>
          <p:cNvGraphicFramePr/>
          <p:nvPr/>
        </p:nvGraphicFramePr>
        <p:xfrm>
          <a:off x="365760" y="109728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1188720"/>
            <a:ext cx="457200" cy="4572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2"/>
          <a:stretch>
            <a:fillRect/>
          </a:stretch>
        </p:blipFill>
        <p:spPr>
          <a:xfrm>
            <a:off x="5687568" y="1298448"/>
            <a:ext cx="237744" cy="237744"/>
          </a:xfrm>
          <a:prstGeom prst="rect">
            <a:avLst/>
          </a:prstGeom>
        </p:spPr>
      </p:pic>
      <p:sp>
        <p:nvSpPr>
          <p:cNvPr id="7" name="Text 3"/>
          <p:cNvSpPr txBox="1"/>
          <p:nvPr/>
        </p:nvSpPr>
        <p:spPr>
          <a:xfrm>
            <a:off x="6172200" y="1170432"/>
            <a:ext cx="2560320" cy="274320"/>
          </a:xfrm>
          <a:prstGeom prst="rect">
            <a:avLst/>
          </a:prstGeom>
          <a:noFill/>
          <a:ln/>
        </p:spPr>
        <p:txBody>
          <a:bodyPr wrap="square" lIns="0" tIns="0" rIns="0" bIns="0" rtlCol="0" anchor="t"/>
          <a:lstStyle/>
          <a:p>
            <a:pPr indent="0" marL="0">
              <a:buNone/>
            </a:pPr>
            <a:r>
              <a:rPr lang="en-US" sz="1300" b="1" dirty="0">
                <a:solidFill>
                  <a:schemeClr val="tx1"/>
                </a:solidFill>
              </a:rPr>
              <a:t>Transaction date</a:t>
            </a:r>
            <a:endParaRPr lang="en-US" sz="1300" dirty="0"/>
          </a:p>
        </p:txBody>
      </p:sp>
      <p:sp>
        <p:nvSpPr>
          <p:cNvPr id="8" name="Text 4"/>
          <p:cNvSpPr txBox="1"/>
          <p:nvPr/>
        </p:nvSpPr>
        <p:spPr>
          <a:xfrm>
            <a:off x="6172200" y="1435608"/>
            <a:ext cx="2560320" cy="502920"/>
          </a:xfrm>
          <a:prstGeom prst="rect">
            <a:avLst/>
          </a:prstGeom>
          <a:noFill/>
          <a:ln/>
        </p:spPr>
        <p:txBody>
          <a:bodyPr wrap="square" lIns="0" tIns="0" rIns="0" bIns="0" rtlCol="0" anchor="t"/>
          <a:lstStyle/>
          <a:p>
            <a:pPr indent="0" marL="0">
              <a:buNone/>
            </a:pPr>
            <a:r>
              <a:rPr lang="en-US" sz="1100" dirty="0">
                <a:solidFill>
                  <a:schemeClr val="tx2"/>
                </a:solidFill>
              </a:rPr>
              <a:t>100% missing → dropped</a:t>
            </a:r>
            <a:endParaRPr lang="en-US" sz="1100" dirty="0"/>
          </a:p>
        </p:txBody>
      </p:sp>
      <p:sp>
        <p:nvSpPr>
          <p:cNvPr id="9" name="Shape 5"/>
          <p:cNvSpPr/>
          <p:nvPr/>
        </p:nvSpPr>
        <p:spPr>
          <a:xfrm>
            <a:off x="5577840" y="2057400"/>
            <a:ext cx="457200" cy="457200"/>
          </a:xfrm>
          <a:prstGeom prst="ellipse">
            <a:avLst/>
          </a:prstGeom>
          <a:solidFill>
            <a:schemeClr val="tx1"/>
          </a:solidFill>
          <a:ln w="12700">
            <a:solidFill>
              <a:schemeClr val="tx1"/>
            </a:solidFill>
            <a:prstDash val="solid"/>
          </a:ln>
        </p:spPr>
      </p:sp>
      <p:pic>
        <p:nvPicPr>
          <p:cNvPr id="10" name="Image 1" descr="preencoded.png">    </p:cNvPr>
          <p:cNvPicPr>
            <a:picLocks noChangeAspect="1"/>
          </p:cNvPicPr>
          <p:nvPr/>
        </p:nvPicPr>
        <p:blipFill>
          <a:blip r:embed="rId3"/>
          <a:stretch>
            <a:fillRect/>
          </a:stretch>
        </p:blipFill>
        <p:spPr>
          <a:xfrm>
            <a:off x="5687568" y="2167128"/>
            <a:ext cx="237744" cy="237744"/>
          </a:xfrm>
          <a:prstGeom prst="rect">
            <a:avLst/>
          </a:prstGeom>
        </p:spPr>
      </p:pic>
      <p:sp>
        <p:nvSpPr>
          <p:cNvPr id="11" name="Text 6"/>
          <p:cNvSpPr txBox="1"/>
          <p:nvPr/>
        </p:nvSpPr>
        <p:spPr>
          <a:xfrm>
            <a:off x="6172200" y="2039112"/>
            <a:ext cx="2560320" cy="274320"/>
          </a:xfrm>
          <a:prstGeom prst="rect">
            <a:avLst/>
          </a:prstGeom>
          <a:noFill/>
          <a:ln/>
        </p:spPr>
        <p:txBody>
          <a:bodyPr wrap="square" lIns="0" tIns="0" rIns="0" bIns="0" rtlCol="0" anchor="t"/>
          <a:lstStyle/>
          <a:p>
            <a:pPr indent="0" marL="0">
              <a:buNone/>
            </a:pPr>
            <a:r>
              <a:rPr lang="en-US" sz="1300" b="1" dirty="0">
                <a:solidFill>
                  <a:schemeClr val="tx1"/>
                </a:solidFill>
              </a:rPr>
              <a:t>Merchant_id</a:t>
            </a:r>
            <a:endParaRPr lang="en-US" sz="1300" dirty="0"/>
          </a:p>
        </p:txBody>
      </p:sp>
      <p:sp>
        <p:nvSpPr>
          <p:cNvPr id="12" name="Text 7"/>
          <p:cNvSpPr txBox="1"/>
          <p:nvPr/>
        </p:nvSpPr>
        <p:spPr>
          <a:xfrm>
            <a:off x="6172200" y="2304288"/>
            <a:ext cx="2560320" cy="502920"/>
          </a:xfrm>
          <a:prstGeom prst="rect">
            <a:avLst/>
          </a:prstGeom>
          <a:noFill/>
          <a:ln/>
        </p:spPr>
        <p:txBody>
          <a:bodyPr wrap="square" lIns="0" tIns="0" rIns="0" bIns="0" rtlCol="0" anchor="t"/>
          <a:lstStyle/>
          <a:p>
            <a:pPr indent="0" marL="0">
              <a:buNone/>
            </a:pPr>
            <a:r>
              <a:rPr lang="en-US" sz="1100" dirty="0">
                <a:solidFill>
                  <a:schemeClr val="tx2"/>
                </a:solidFill>
              </a:rPr>
              <a:t>Identifier, no predictive signal → dropped</a:t>
            </a:r>
            <a:endParaRPr lang="en-US" sz="1100" dirty="0"/>
          </a:p>
        </p:txBody>
      </p:sp>
      <p:sp>
        <p:nvSpPr>
          <p:cNvPr id="13" name="Shape 8"/>
          <p:cNvSpPr/>
          <p:nvPr/>
        </p:nvSpPr>
        <p:spPr>
          <a:xfrm>
            <a:off x="5577840" y="2926080"/>
            <a:ext cx="457200" cy="457200"/>
          </a:xfrm>
          <a:prstGeom prst="ellipse">
            <a:avLst/>
          </a:prstGeom>
          <a:solidFill>
            <a:schemeClr val="tx1"/>
          </a:solidFill>
          <a:ln w="12700">
            <a:solidFill>
              <a:schemeClr val="tx1"/>
            </a:solidFill>
            <a:prstDash val="solid"/>
          </a:ln>
        </p:spPr>
      </p:sp>
      <p:pic>
        <p:nvPicPr>
          <p:cNvPr id="14" name="Image 2" descr="preencoded.png">    </p:cNvPr>
          <p:cNvPicPr>
            <a:picLocks noChangeAspect="1"/>
          </p:cNvPicPr>
          <p:nvPr/>
        </p:nvPicPr>
        <p:blipFill>
          <a:blip r:embed="rId4"/>
          <a:stretch>
            <a:fillRect/>
          </a:stretch>
        </p:blipFill>
        <p:spPr>
          <a:xfrm>
            <a:off x="5687568" y="3035808"/>
            <a:ext cx="237744" cy="237744"/>
          </a:xfrm>
          <a:prstGeom prst="rect">
            <a:avLst/>
          </a:prstGeom>
        </p:spPr>
      </p:pic>
      <p:sp>
        <p:nvSpPr>
          <p:cNvPr id="15" name="Text 9"/>
          <p:cNvSpPr txBox="1"/>
          <p:nvPr/>
        </p:nvSpPr>
        <p:spPr>
          <a:xfrm>
            <a:off x="6172200" y="2907792"/>
            <a:ext cx="2560320" cy="274320"/>
          </a:xfrm>
          <a:prstGeom prst="rect">
            <a:avLst/>
          </a:prstGeom>
          <a:noFill/>
          <a:ln/>
        </p:spPr>
        <p:txBody>
          <a:bodyPr wrap="square" lIns="0" tIns="0" rIns="0" bIns="0" rtlCol="0" anchor="t"/>
          <a:lstStyle/>
          <a:p>
            <a:pPr indent="0" marL="0">
              <a:buNone/>
            </a:pPr>
            <a:r>
              <a:rPr lang="en-US" sz="1300" b="1" dirty="0">
                <a:solidFill>
                  <a:schemeClr val="tx1"/>
                </a:solidFill>
              </a:rPr>
              <a:t>Clean records</a:t>
            </a:r>
            <a:endParaRPr lang="en-US" sz="1300" dirty="0"/>
          </a:p>
        </p:txBody>
      </p:sp>
      <p:sp>
        <p:nvSpPr>
          <p:cNvPr id="16" name="Text 10"/>
          <p:cNvSpPr txBox="1"/>
          <p:nvPr/>
        </p:nvSpPr>
        <p:spPr>
          <a:xfrm>
            <a:off x="6172200" y="3172968"/>
            <a:ext cx="2560320" cy="502920"/>
          </a:xfrm>
          <a:prstGeom prst="rect">
            <a:avLst/>
          </a:prstGeom>
          <a:noFill/>
          <a:ln/>
        </p:spPr>
        <p:txBody>
          <a:bodyPr wrap="square" lIns="0" tIns="0" rIns="0" bIns="0" rtlCol="0" anchor="t"/>
          <a:lstStyle/>
          <a:p>
            <a:pPr indent="0" marL="0">
              <a:buNone/>
            </a:pPr>
            <a:r>
              <a:rPr lang="en-US" sz="1100" dirty="0">
                <a:solidFill>
                  <a:schemeClr val="tx2"/>
                </a:solidFill>
              </a:rPr>
              <a:t>0 duplicates · 9 modelling features remain</a:t>
            </a:r>
            <a:endParaRPr lang="en-US" sz="1100" dirty="0"/>
          </a:p>
        </p:txBody>
      </p:sp>
      <p:sp>
        <p:nvSpPr>
          <p:cNvPr id="17" name="Shape 11"/>
          <p:cNvSpPr/>
          <p:nvPr/>
        </p:nvSpPr>
        <p:spPr>
          <a:xfrm>
            <a:off x="5577840" y="3794760"/>
            <a:ext cx="457200" cy="457200"/>
          </a:xfrm>
          <a:prstGeom prst="ellipse">
            <a:avLst/>
          </a:prstGeom>
          <a:solidFill>
            <a:schemeClr val="tx1"/>
          </a:solidFill>
          <a:ln w="12700">
            <a:solidFill>
              <a:schemeClr val="tx1"/>
            </a:solidFill>
            <a:prstDash val="solid"/>
          </a:ln>
        </p:spPr>
      </p:sp>
      <p:pic>
        <p:nvPicPr>
          <p:cNvPr id="18" name="Image 3" descr="preencoded.png">    </p:cNvPr>
          <p:cNvPicPr>
            <a:picLocks noChangeAspect="1"/>
          </p:cNvPicPr>
          <p:nvPr/>
        </p:nvPicPr>
        <p:blipFill>
          <a:blip r:embed="rId5"/>
          <a:stretch>
            <a:fillRect/>
          </a:stretch>
        </p:blipFill>
        <p:spPr>
          <a:xfrm>
            <a:off x="5687568" y="3904488"/>
            <a:ext cx="237744" cy="237744"/>
          </a:xfrm>
          <a:prstGeom prst="rect">
            <a:avLst/>
          </a:prstGeom>
        </p:spPr>
      </p:pic>
      <p:sp>
        <p:nvSpPr>
          <p:cNvPr id="19" name="Text 12"/>
          <p:cNvSpPr txBox="1"/>
          <p:nvPr/>
        </p:nvSpPr>
        <p:spPr>
          <a:xfrm>
            <a:off x="6172200" y="3776472"/>
            <a:ext cx="2560320" cy="274320"/>
          </a:xfrm>
          <a:prstGeom prst="rect">
            <a:avLst/>
          </a:prstGeom>
          <a:noFill/>
          <a:ln/>
        </p:spPr>
        <p:txBody>
          <a:bodyPr wrap="square" lIns="0" tIns="0" rIns="0" bIns="0" rtlCol="0" anchor="t"/>
          <a:lstStyle/>
          <a:p>
            <a:pPr indent="0" marL="0">
              <a:buNone/>
            </a:pPr>
            <a:r>
              <a:rPr lang="en-US" sz="1300" b="1" dirty="0">
                <a:solidFill>
                  <a:schemeClr val="tx1"/>
                </a:solidFill>
              </a:rPr>
              <a:t>Chargeback features</a:t>
            </a:r>
            <a:endParaRPr lang="en-US" sz="1300" dirty="0"/>
          </a:p>
        </p:txBody>
      </p:sp>
      <p:sp>
        <p:nvSpPr>
          <p:cNvPr id="20" name="Text 13"/>
          <p:cNvSpPr txBox="1"/>
          <p:nvPr/>
        </p:nvSpPr>
        <p:spPr>
          <a:xfrm>
            <a:off x="6172200" y="4041648"/>
            <a:ext cx="2560320" cy="502920"/>
          </a:xfrm>
          <a:prstGeom prst="rect">
            <a:avLst/>
          </a:prstGeom>
          <a:noFill/>
          <a:ln/>
        </p:spPr>
        <p:txBody>
          <a:bodyPr wrap="square" lIns="0" tIns="0" rIns="0" bIns="0" rtlCol="0" anchor="t"/>
          <a:lstStyle/>
          <a:p>
            <a:pPr indent="0" marL="0">
              <a:buNone/>
            </a:pPr>
            <a:r>
              <a:rPr lang="en-US" sz="1100" dirty="0">
                <a:solidFill>
                  <a:schemeClr val="tx2"/>
                </a:solidFill>
              </a:rPr>
              <a:t>≥ 75% zeros; collapse to one bin after discretization</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METHODOLOGY</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Block diagram of the fraud-detection pipeline</a:t>
            </a:r>
            <a:endParaRPr lang="en-US" sz="2600" dirty="0"/>
          </a:p>
        </p:txBody>
      </p:sp>
      <p:sp>
        <p:nvSpPr>
          <p:cNvPr id="4" name="Shape 2"/>
          <p:cNvSpPr/>
          <p:nvPr/>
        </p:nvSpPr>
        <p:spPr>
          <a:xfrm>
            <a:off x="457200" y="1280160"/>
            <a:ext cx="1463040" cy="777240"/>
          </a:xfrm>
          <a:prstGeom prst="roundRect">
            <a:avLst>
              <a:gd name="adj" fmla="val 9412"/>
            </a:avLst>
          </a:prstGeom>
          <a:solidFill>
            <a:schemeClr val="bg2"/>
          </a:solidFill>
          <a:ln w="12700">
            <a:solidFill>
              <a:schemeClr val="accent6"/>
            </a:solidFill>
            <a:prstDash val="solid"/>
          </a:ln>
        </p:spPr>
      </p:sp>
      <p:sp>
        <p:nvSpPr>
          <p:cNvPr id="5" name="Text 3"/>
          <p:cNvSpPr txBox="1"/>
          <p:nvPr/>
        </p:nvSpPr>
        <p:spPr>
          <a:xfrm>
            <a:off x="457200" y="1280160"/>
            <a:ext cx="1463040" cy="777240"/>
          </a:xfrm>
          <a:prstGeom prst="rect">
            <a:avLst/>
          </a:prstGeom>
          <a:noFill/>
          <a:ln/>
        </p:spPr>
        <p:txBody>
          <a:bodyPr wrap="square" lIns="635" tIns="635" rIns="635" bIns="635" rtlCol="0" anchor="ctr"/>
          <a:lstStyle/>
          <a:p>
            <a:pPr algn="ctr" indent="0" marL="0">
              <a:buNone/>
            </a:pPr>
            <a:r>
              <a:rPr lang="en-US" sz="1150" b="1" dirty="0">
                <a:solidFill>
                  <a:schemeClr val="tx1"/>
                </a:solidFill>
              </a:rPr>
              <a:t>Load Dataset</a:t>
            </a:r>
            <a:endParaRPr lang="en-US" sz="1150" dirty="0"/>
          </a:p>
          <a:p>
            <a:pPr algn="ctr" indent="0" marL="0">
              <a:buNone/>
            </a:pPr>
            <a:r>
              <a:rPr lang="en-US" sz="950" dirty="0">
                <a:solidFill>
                  <a:schemeClr val="tx2"/>
                </a:solidFill>
              </a:rPr>
              <a:t>3,075 × 12 CSV</a:t>
            </a:r>
            <a:endParaRPr lang="en-US" sz="1150" dirty="0"/>
          </a:p>
        </p:txBody>
      </p:sp>
      <p:sp>
        <p:nvSpPr>
          <p:cNvPr id="6" name="Shape 4"/>
          <p:cNvSpPr/>
          <p:nvPr/>
        </p:nvSpPr>
        <p:spPr>
          <a:xfrm>
            <a:off x="2148840" y="1280160"/>
            <a:ext cx="1463040" cy="777240"/>
          </a:xfrm>
          <a:prstGeom prst="roundRect">
            <a:avLst>
              <a:gd name="adj" fmla="val 9412"/>
            </a:avLst>
          </a:prstGeom>
          <a:solidFill>
            <a:schemeClr val="bg2"/>
          </a:solidFill>
          <a:ln w="12700">
            <a:solidFill>
              <a:schemeClr val="accent6"/>
            </a:solidFill>
            <a:prstDash val="solid"/>
          </a:ln>
        </p:spPr>
      </p:sp>
      <p:sp>
        <p:nvSpPr>
          <p:cNvPr id="7" name="Text 5"/>
          <p:cNvSpPr txBox="1"/>
          <p:nvPr/>
        </p:nvSpPr>
        <p:spPr>
          <a:xfrm>
            <a:off x="2148840" y="1280160"/>
            <a:ext cx="1463040" cy="777240"/>
          </a:xfrm>
          <a:prstGeom prst="rect">
            <a:avLst/>
          </a:prstGeom>
          <a:noFill/>
          <a:ln/>
        </p:spPr>
        <p:txBody>
          <a:bodyPr wrap="square" lIns="635" tIns="635" rIns="635" bIns="635" rtlCol="0" anchor="ctr"/>
          <a:lstStyle/>
          <a:p>
            <a:pPr algn="ctr" indent="0" marL="0">
              <a:buNone/>
            </a:pPr>
            <a:r>
              <a:rPr lang="en-US" sz="1150" b="1" dirty="0">
                <a:solidFill>
                  <a:schemeClr val="tx1"/>
                </a:solidFill>
              </a:rPr>
              <a:t>Statistical Analysis</a:t>
            </a:r>
            <a:endParaRPr lang="en-US" sz="1150" dirty="0"/>
          </a:p>
          <a:p>
            <a:pPr algn="ctr" indent="0" marL="0">
              <a:buNone/>
            </a:pPr>
            <a:r>
              <a:rPr lang="en-US" sz="950" dirty="0">
                <a:solidFill>
                  <a:schemeClr val="tx2"/>
                </a:solidFill>
              </a:rPr>
              <a:t>describe · nulls · dups</a:t>
            </a:r>
            <a:endParaRPr lang="en-US" sz="1150" dirty="0"/>
          </a:p>
        </p:txBody>
      </p:sp>
      <p:sp>
        <p:nvSpPr>
          <p:cNvPr id="8" name="Shape 6"/>
          <p:cNvSpPr/>
          <p:nvPr/>
        </p:nvSpPr>
        <p:spPr>
          <a:xfrm>
            <a:off x="3840480" y="1280160"/>
            <a:ext cx="1463040" cy="777240"/>
          </a:xfrm>
          <a:prstGeom prst="roundRect">
            <a:avLst>
              <a:gd name="adj" fmla="val 9412"/>
            </a:avLst>
          </a:prstGeom>
          <a:solidFill>
            <a:schemeClr val="bg2"/>
          </a:solidFill>
          <a:ln w="12700">
            <a:solidFill>
              <a:schemeClr val="accent6"/>
            </a:solidFill>
            <a:prstDash val="solid"/>
          </a:ln>
        </p:spPr>
      </p:sp>
      <p:sp>
        <p:nvSpPr>
          <p:cNvPr id="9" name="Text 7"/>
          <p:cNvSpPr txBox="1"/>
          <p:nvPr/>
        </p:nvSpPr>
        <p:spPr>
          <a:xfrm>
            <a:off x="3840480" y="1280160"/>
            <a:ext cx="1463040" cy="777240"/>
          </a:xfrm>
          <a:prstGeom prst="rect">
            <a:avLst/>
          </a:prstGeom>
          <a:noFill/>
          <a:ln/>
        </p:spPr>
        <p:txBody>
          <a:bodyPr wrap="square" lIns="635" tIns="635" rIns="635" bIns="635" rtlCol="0" anchor="ctr"/>
          <a:lstStyle/>
          <a:p>
            <a:pPr algn="ctr" indent="0" marL="0">
              <a:buNone/>
            </a:pPr>
            <a:r>
              <a:rPr lang="en-US" sz="1150" b="1" dirty="0">
                <a:solidFill>
                  <a:schemeClr val="tx1"/>
                </a:solidFill>
              </a:rPr>
              <a:t>Feature Scaling</a:t>
            </a:r>
            <a:endParaRPr lang="en-US" sz="1150" dirty="0"/>
          </a:p>
          <a:p>
            <a:pPr algn="ctr" indent="0" marL="0">
              <a:buNone/>
            </a:pPr>
            <a:r>
              <a:rPr lang="en-US" sz="950" dirty="0">
                <a:solidFill>
                  <a:schemeClr val="tx2"/>
                </a:solidFill>
              </a:rPr>
              <a:t>StandardScaler</a:t>
            </a:r>
            <a:endParaRPr lang="en-US" sz="1150" dirty="0"/>
          </a:p>
        </p:txBody>
      </p:sp>
      <p:sp>
        <p:nvSpPr>
          <p:cNvPr id="10" name="Shape 8"/>
          <p:cNvSpPr/>
          <p:nvPr/>
        </p:nvSpPr>
        <p:spPr>
          <a:xfrm>
            <a:off x="5532120" y="1280160"/>
            <a:ext cx="1463040" cy="777240"/>
          </a:xfrm>
          <a:prstGeom prst="roundRect">
            <a:avLst>
              <a:gd name="adj" fmla="val 9412"/>
            </a:avLst>
          </a:prstGeom>
          <a:solidFill>
            <a:schemeClr val="bg2"/>
          </a:solidFill>
          <a:ln w="12700">
            <a:solidFill>
              <a:schemeClr val="accent6"/>
            </a:solidFill>
            <a:prstDash val="solid"/>
          </a:ln>
        </p:spPr>
      </p:sp>
      <p:sp>
        <p:nvSpPr>
          <p:cNvPr id="11" name="Text 9"/>
          <p:cNvSpPr txBox="1"/>
          <p:nvPr/>
        </p:nvSpPr>
        <p:spPr>
          <a:xfrm>
            <a:off x="5532120" y="1280160"/>
            <a:ext cx="1463040" cy="777240"/>
          </a:xfrm>
          <a:prstGeom prst="rect">
            <a:avLst/>
          </a:prstGeom>
          <a:noFill/>
          <a:ln/>
        </p:spPr>
        <p:txBody>
          <a:bodyPr wrap="square" lIns="635" tIns="635" rIns="635" bIns="635" rtlCol="0" anchor="ctr"/>
          <a:lstStyle/>
          <a:p>
            <a:pPr algn="ctr" indent="0" marL="0">
              <a:buNone/>
            </a:pPr>
            <a:r>
              <a:rPr lang="en-US" sz="1150" b="1" dirty="0">
                <a:solidFill>
                  <a:schemeClr val="tx1"/>
                </a:solidFill>
              </a:rPr>
              <a:t>Normalization</a:t>
            </a:r>
            <a:endParaRPr lang="en-US" sz="1150" dirty="0"/>
          </a:p>
          <a:p>
            <a:pPr algn="ctr" indent="0" marL="0">
              <a:buNone/>
            </a:pPr>
            <a:r>
              <a:rPr lang="en-US" sz="950" dirty="0">
                <a:solidFill>
                  <a:schemeClr val="tx2"/>
                </a:solidFill>
              </a:rPr>
              <a:t>MinMax → [0, 1]</a:t>
            </a:r>
            <a:endParaRPr lang="en-US" sz="1150" dirty="0"/>
          </a:p>
        </p:txBody>
      </p:sp>
      <p:sp>
        <p:nvSpPr>
          <p:cNvPr id="12" name="Shape 10"/>
          <p:cNvSpPr/>
          <p:nvPr/>
        </p:nvSpPr>
        <p:spPr>
          <a:xfrm>
            <a:off x="7223760" y="1280160"/>
            <a:ext cx="1463040" cy="777240"/>
          </a:xfrm>
          <a:prstGeom prst="roundRect">
            <a:avLst>
              <a:gd name="adj" fmla="val 9412"/>
            </a:avLst>
          </a:prstGeom>
          <a:solidFill>
            <a:schemeClr val="bg2"/>
          </a:solidFill>
          <a:ln w="12700">
            <a:solidFill>
              <a:schemeClr val="accent6"/>
            </a:solidFill>
            <a:prstDash val="solid"/>
          </a:ln>
        </p:spPr>
      </p:sp>
      <p:sp>
        <p:nvSpPr>
          <p:cNvPr id="13" name="Text 11"/>
          <p:cNvSpPr txBox="1"/>
          <p:nvPr/>
        </p:nvSpPr>
        <p:spPr>
          <a:xfrm>
            <a:off x="7223760" y="1280160"/>
            <a:ext cx="1463040" cy="777240"/>
          </a:xfrm>
          <a:prstGeom prst="rect">
            <a:avLst/>
          </a:prstGeom>
          <a:noFill/>
          <a:ln/>
        </p:spPr>
        <p:txBody>
          <a:bodyPr wrap="square" lIns="635" tIns="635" rIns="635" bIns="635" rtlCol="0" anchor="ctr"/>
          <a:lstStyle/>
          <a:p>
            <a:pPr algn="ctr" indent="0" marL="0">
              <a:buNone/>
            </a:pPr>
            <a:r>
              <a:rPr lang="en-US" sz="1150" b="1" dirty="0">
                <a:solidFill>
                  <a:schemeClr val="tx1"/>
                </a:solidFill>
              </a:rPr>
              <a:t>Random Oversampling</a:t>
            </a:r>
            <a:endParaRPr lang="en-US" sz="1150" dirty="0"/>
          </a:p>
          <a:p>
            <a:pPr algn="ctr" indent="0" marL="0">
              <a:buNone/>
            </a:pPr>
            <a:r>
              <a:rPr lang="en-US" sz="950" dirty="0">
                <a:solidFill>
                  <a:schemeClr val="tx2"/>
                </a:solidFill>
              </a:rPr>
              <a:t>358 → 2,102 frauds</a:t>
            </a:r>
            <a:endParaRPr lang="en-US" sz="1150" dirty="0"/>
          </a:p>
        </p:txBody>
      </p:sp>
      <p:sp>
        <p:nvSpPr>
          <p:cNvPr id="14" name="Shape 12"/>
          <p:cNvSpPr/>
          <p:nvPr/>
        </p:nvSpPr>
        <p:spPr>
          <a:xfrm>
            <a:off x="1938528" y="1668780"/>
            <a:ext cx="192024" cy="0"/>
          </a:xfrm>
          <a:prstGeom prst="line">
            <a:avLst/>
          </a:prstGeom>
          <a:noFill/>
          <a:ln w="19050">
            <a:solidFill>
              <a:schemeClr val="tx2"/>
            </a:solidFill>
            <a:prstDash val="solid"/>
            <a:tailEnd type="triangle"/>
          </a:ln>
        </p:spPr>
      </p:sp>
      <p:sp>
        <p:nvSpPr>
          <p:cNvPr id="15" name="Shape 13"/>
          <p:cNvSpPr/>
          <p:nvPr/>
        </p:nvSpPr>
        <p:spPr>
          <a:xfrm>
            <a:off x="3630168" y="1668780"/>
            <a:ext cx="192024" cy="0"/>
          </a:xfrm>
          <a:prstGeom prst="line">
            <a:avLst/>
          </a:prstGeom>
          <a:noFill/>
          <a:ln w="19050">
            <a:solidFill>
              <a:schemeClr val="tx2"/>
            </a:solidFill>
            <a:prstDash val="solid"/>
            <a:tailEnd type="triangle"/>
          </a:ln>
        </p:spPr>
      </p:sp>
      <p:sp>
        <p:nvSpPr>
          <p:cNvPr id="16" name="Shape 14"/>
          <p:cNvSpPr/>
          <p:nvPr/>
        </p:nvSpPr>
        <p:spPr>
          <a:xfrm>
            <a:off x="5321808" y="1668780"/>
            <a:ext cx="192024" cy="0"/>
          </a:xfrm>
          <a:prstGeom prst="line">
            <a:avLst/>
          </a:prstGeom>
          <a:noFill/>
          <a:ln w="19050">
            <a:solidFill>
              <a:schemeClr val="tx2"/>
            </a:solidFill>
            <a:prstDash val="solid"/>
            <a:tailEnd type="triangle"/>
          </a:ln>
        </p:spPr>
      </p:sp>
      <p:sp>
        <p:nvSpPr>
          <p:cNvPr id="17" name="Shape 15"/>
          <p:cNvSpPr/>
          <p:nvPr/>
        </p:nvSpPr>
        <p:spPr>
          <a:xfrm>
            <a:off x="7013448" y="1668780"/>
            <a:ext cx="192024" cy="0"/>
          </a:xfrm>
          <a:prstGeom prst="line">
            <a:avLst/>
          </a:prstGeom>
          <a:noFill/>
          <a:ln w="19050">
            <a:solidFill>
              <a:schemeClr val="tx2"/>
            </a:solidFill>
            <a:prstDash val="solid"/>
            <a:tailEnd type="triangle"/>
          </a:ln>
        </p:spPr>
      </p:sp>
      <p:sp>
        <p:nvSpPr>
          <p:cNvPr id="18" name="Shape 16"/>
          <p:cNvSpPr/>
          <p:nvPr/>
        </p:nvSpPr>
        <p:spPr>
          <a:xfrm>
            <a:off x="7955280" y="2075688"/>
            <a:ext cx="0" cy="740664"/>
          </a:xfrm>
          <a:prstGeom prst="line">
            <a:avLst/>
          </a:prstGeom>
          <a:noFill/>
          <a:ln w="19050">
            <a:solidFill>
              <a:schemeClr val="tx2"/>
            </a:solidFill>
            <a:prstDash val="solid"/>
            <a:tailEnd type="triangle"/>
          </a:ln>
        </p:spPr>
      </p:sp>
      <p:sp>
        <p:nvSpPr>
          <p:cNvPr id="19" name="Shape 17"/>
          <p:cNvSpPr/>
          <p:nvPr/>
        </p:nvSpPr>
        <p:spPr>
          <a:xfrm>
            <a:off x="7223760" y="2834640"/>
            <a:ext cx="1463040" cy="777240"/>
          </a:xfrm>
          <a:prstGeom prst="roundRect">
            <a:avLst>
              <a:gd name="adj" fmla="val 9412"/>
            </a:avLst>
          </a:prstGeom>
          <a:solidFill>
            <a:schemeClr val="accent2"/>
          </a:solidFill>
          <a:ln w="12700">
            <a:solidFill>
              <a:schemeClr val="accent2"/>
            </a:solidFill>
            <a:prstDash val="solid"/>
          </a:ln>
        </p:spPr>
      </p:sp>
      <p:sp>
        <p:nvSpPr>
          <p:cNvPr id="20" name="Text 18"/>
          <p:cNvSpPr txBox="1"/>
          <p:nvPr/>
        </p:nvSpPr>
        <p:spPr>
          <a:xfrm>
            <a:off x="7223760" y="2834640"/>
            <a:ext cx="1463040" cy="777240"/>
          </a:xfrm>
          <a:prstGeom prst="rect">
            <a:avLst/>
          </a:prstGeom>
          <a:noFill/>
          <a:ln/>
        </p:spPr>
        <p:txBody>
          <a:bodyPr wrap="square" lIns="635" tIns="635" rIns="635" bIns="635" rtlCol="0" anchor="ctr"/>
          <a:lstStyle/>
          <a:p>
            <a:pPr algn="ctr" indent="0" marL="0">
              <a:buNone/>
            </a:pPr>
            <a:r>
              <a:rPr lang="en-US" sz="1150" b="1" dirty="0">
                <a:solidFill>
                  <a:schemeClr val="bg1"/>
                </a:solidFill>
              </a:rPr>
              <a:t>Model Training</a:t>
            </a:r>
            <a:endParaRPr lang="en-US" sz="1150" dirty="0"/>
          </a:p>
          <a:p>
            <a:pPr algn="ctr" indent="0" marL="0">
              <a:buNone/>
            </a:pPr>
            <a:r>
              <a:rPr lang="en-US" sz="950" dirty="0">
                <a:solidFill>
                  <a:schemeClr val="bg2"/>
                </a:solidFill>
              </a:rPr>
              <a:t>HNB + BBN</a:t>
            </a:r>
            <a:endParaRPr lang="en-US" sz="1150" dirty="0"/>
          </a:p>
        </p:txBody>
      </p:sp>
      <p:sp>
        <p:nvSpPr>
          <p:cNvPr id="21" name="Shape 19"/>
          <p:cNvSpPr/>
          <p:nvPr/>
        </p:nvSpPr>
        <p:spPr>
          <a:xfrm>
            <a:off x="5532120" y="2834640"/>
            <a:ext cx="1463040" cy="777240"/>
          </a:xfrm>
          <a:prstGeom prst="roundRect">
            <a:avLst>
              <a:gd name="adj" fmla="val 9412"/>
            </a:avLst>
          </a:prstGeom>
          <a:solidFill>
            <a:schemeClr val="accent2"/>
          </a:solidFill>
          <a:ln w="12700">
            <a:solidFill>
              <a:schemeClr val="accent2"/>
            </a:solidFill>
            <a:prstDash val="solid"/>
          </a:ln>
        </p:spPr>
      </p:sp>
      <p:sp>
        <p:nvSpPr>
          <p:cNvPr id="22" name="Text 20"/>
          <p:cNvSpPr txBox="1"/>
          <p:nvPr/>
        </p:nvSpPr>
        <p:spPr>
          <a:xfrm>
            <a:off x="5532120" y="2834640"/>
            <a:ext cx="1463040" cy="777240"/>
          </a:xfrm>
          <a:prstGeom prst="rect">
            <a:avLst/>
          </a:prstGeom>
          <a:noFill/>
          <a:ln/>
        </p:spPr>
        <p:txBody>
          <a:bodyPr wrap="square" lIns="635" tIns="635" rIns="635" bIns="635" rtlCol="0" anchor="ctr"/>
          <a:lstStyle/>
          <a:p>
            <a:pPr algn="ctr" indent="0" marL="0">
              <a:buNone/>
            </a:pPr>
            <a:r>
              <a:rPr lang="en-US" sz="1150" b="1" dirty="0">
                <a:solidFill>
                  <a:schemeClr val="bg1"/>
                </a:solidFill>
              </a:rPr>
              <a:t>Model Testing</a:t>
            </a:r>
            <a:endParaRPr lang="en-US" sz="1150" dirty="0"/>
          </a:p>
          <a:p>
            <a:pPr algn="ctr" indent="0" marL="0">
              <a:buNone/>
            </a:pPr>
            <a:r>
              <a:rPr lang="en-US" sz="950" dirty="0">
                <a:solidFill>
                  <a:schemeClr val="bg2"/>
                </a:solidFill>
              </a:rPr>
              <a:t>615 hold-out rows</a:t>
            </a:r>
            <a:endParaRPr lang="en-US" sz="1150" dirty="0"/>
          </a:p>
        </p:txBody>
      </p:sp>
      <p:sp>
        <p:nvSpPr>
          <p:cNvPr id="23" name="Shape 21"/>
          <p:cNvSpPr/>
          <p:nvPr/>
        </p:nvSpPr>
        <p:spPr>
          <a:xfrm>
            <a:off x="3840480" y="2834640"/>
            <a:ext cx="1463040" cy="777240"/>
          </a:xfrm>
          <a:prstGeom prst="roundRect">
            <a:avLst>
              <a:gd name="adj" fmla="val 9412"/>
            </a:avLst>
          </a:prstGeom>
          <a:solidFill>
            <a:schemeClr val="tx1"/>
          </a:solidFill>
          <a:ln w="12700">
            <a:solidFill>
              <a:schemeClr val="tx1"/>
            </a:solidFill>
            <a:prstDash val="solid"/>
          </a:ln>
        </p:spPr>
      </p:sp>
      <p:sp>
        <p:nvSpPr>
          <p:cNvPr id="24" name="Text 22"/>
          <p:cNvSpPr txBox="1"/>
          <p:nvPr/>
        </p:nvSpPr>
        <p:spPr>
          <a:xfrm>
            <a:off x="3840480" y="2834640"/>
            <a:ext cx="1463040" cy="777240"/>
          </a:xfrm>
          <a:prstGeom prst="rect">
            <a:avLst/>
          </a:prstGeom>
          <a:noFill/>
          <a:ln/>
        </p:spPr>
        <p:txBody>
          <a:bodyPr wrap="square" lIns="635" tIns="635" rIns="635" bIns="635" rtlCol="0" anchor="ctr"/>
          <a:lstStyle/>
          <a:p>
            <a:pPr algn="ctr" indent="0" marL="0">
              <a:buNone/>
            </a:pPr>
            <a:r>
              <a:rPr lang="en-US" sz="1150" b="1" dirty="0">
                <a:solidFill>
                  <a:schemeClr val="bg1"/>
                </a:solidFill>
              </a:rPr>
              <a:t>Model Evaluation</a:t>
            </a:r>
            <a:endParaRPr lang="en-US" sz="1150" dirty="0"/>
          </a:p>
          <a:p>
            <a:pPr algn="ctr" indent="0" marL="0">
              <a:buNone/>
            </a:pPr>
            <a:r>
              <a:rPr lang="en-US" sz="950" dirty="0">
                <a:solidFill>
                  <a:schemeClr val="bg2"/>
                </a:solidFill>
              </a:rPr>
              <a:t>Acc · P · R · F1</a:t>
            </a:r>
            <a:endParaRPr lang="en-US" sz="1150" dirty="0"/>
          </a:p>
        </p:txBody>
      </p:sp>
      <p:sp>
        <p:nvSpPr>
          <p:cNvPr id="25" name="Shape 23"/>
          <p:cNvSpPr/>
          <p:nvPr/>
        </p:nvSpPr>
        <p:spPr>
          <a:xfrm>
            <a:off x="2148840" y="2834640"/>
            <a:ext cx="1463040" cy="777240"/>
          </a:xfrm>
          <a:prstGeom prst="roundRect">
            <a:avLst>
              <a:gd name="adj" fmla="val 9412"/>
            </a:avLst>
          </a:prstGeom>
          <a:solidFill>
            <a:schemeClr val="tx1"/>
          </a:solidFill>
          <a:ln w="12700">
            <a:solidFill>
              <a:schemeClr val="tx1"/>
            </a:solidFill>
            <a:prstDash val="solid"/>
          </a:ln>
        </p:spPr>
      </p:sp>
      <p:sp>
        <p:nvSpPr>
          <p:cNvPr id="26" name="Text 24"/>
          <p:cNvSpPr txBox="1"/>
          <p:nvPr/>
        </p:nvSpPr>
        <p:spPr>
          <a:xfrm>
            <a:off x="2148840" y="2834640"/>
            <a:ext cx="1463040" cy="777240"/>
          </a:xfrm>
          <a:prstGeom prst="rect">
            <a:avLst/>
          </a:prstGeom>
          <a:noFill/>
          <a:ln/>
        </p:spPr>
        <p:txBody>
          <a:bodyPr wrap="square" lIns="635" tIns="635" rIns="635" bIns="635" rtlCol="0" anchor="ctr"/>
          <a:lstStyle/>
          <a:p>
            <a:pPr algn="ctr" indent="0" marL="0">
              <a:buNone/>
            </a:pPr>
            <a:r>
              <a:rPr lang="en-US" sz="1150" b="1" dirty="0">
                <a:solidFill>
                  <a:schemeClr val="bg1"/>
                </a:solidFill>
              </a:rPr>
              <a:t>Results</a:t>
            </a:r>
            <a:endParaRPr lang="en-US" sz="1150" dirty="0"/>
          </a:p>
          <a:p>
            <a:pPr algn="ctr" indent="0" marL="0">
              <a:buNone/>
            </a:pPr>
            <a:r>
              <a:rPr lang="en-US" sz="950" dirty="0">
                <a:solidFill>
                  <a:schemeClr val="bg2"/>
                </a:solidFill>
              </a:rPr>
              <a:t>compare with paper</a:t>
            </a:r>
            <a:endParaRPr lang="en-US" sz="1150" dirty="0"/>
          </a:p>
        </p:txBody>
      </p:sp>
      <p:sp>
        <p:nvSpPr>
          <p:cNvPr id="27" name="Shape 25"/>
          <p:cNvSpPr/>
          <p:nvPr/>
        </p:nvSpPr>
        <p:spPr>
          <a:xfrm flipH="1">
            <a:off x="7013448" y="3223260"/>
            <a:ext cx="192024" cy="0"/>
          </a:xfrm>
          <a:prstGeom prst="line">
            <a:avLst/>
          </a:prstGeom>
          <a:noFill/>
          <a:ln w="19050">
            <a:solidFill>
              <a:schemeClr val="tx2"/>
            </a:solidFill>
            <a:prstDash val="solid"/>
            <a:tailEnd type="triangle"/>
          </a:ln>
        </p:spPr>
      </p:sp>
      <p:sp>
        <p:nvSpPr>
          <p:cNvPr id="28" name="Shape 26"/>
          <p:cNvSpPr/>
          <p:nvPr/>
        </p:nvSpPr>
        <p:spPr>
          <a:xfrm flipH="1">
            <a:off x="5321808" y="3223260"/>
            <a:ext cx="192024" cy="0"/>
          </a:xfrm>
          <a:prstGeom prst="line">
            <a:avLst/>
          </a:prstGeom>
          <a:noFill/>
          <a:ln w="19050">
            <a:solidFill>
              <a:schemeClr val="tx2"/>
            </a:solidFill>
            <a:prstDash val="solid"/>
            <a:tailEnd type="triangle"/>
          </a:ln>
        </p:spPr>
      </p:sp>
      <p:sp>
        <p:nvSpPr>
          <p:cNvPr id="29" name="Shape 27"/>
          <p:cNvSpPr/>
          <p:nvPr/>
        </p:nvSpPr>
        <p:spPr>
          <a:xfrm flipH="1">
            <a:off x="3630168" y="3223260"/>
            <a:ext cx="192024" cy="0"/>
          </a:xfrm>
          <a:prstGeom prst="line">
            <a:avLst/>
          </a:prstGeom>
          <a:noFill/>
          <a:ln w="19050">
            <a:solidFill>
              <a:schemeClr val="tx2"/>
            </a:solidFill>
            <a:prstDash val="solid"/>
            <a:tailEnd type="triangle"/>
          </a:ln>
        </p:spPr>
      </p:sp>
      <p:sp>
        <p:nvSpPr>
          <p:cNvPr id="30" name="Shape 28"/>
          <p:cNvSpPr/>
          <p:nvPr/>
        </p:nvSpPr>
        <p:spPr>
          <a:xfrm>
            <a:off x="7223760" y="3977640"/>
            <a:ext cx="685800" cy="384048"/>
          </a:xfrm>
          <a:prstGeom prst="roundRect">
            <a:avLst>
              <a:gd name="adj" fmla="val 19048"/>
            </a:avLst>
          </a:prstGeom>
          <a:solidFill>
            <a:schemeClr val="bg1"/>
          </a:solidFill>
          <a:ln w="19050">
            <a:solidFill>
              <a:schemeClr val="accent2"/>
            </a:solidFill>
            <a:prstDash val="solid"/>
          </a:ln>
        </p:spPr>
      </p:sp>
      <p:sp>
        <p:nvSpPr>
          <p:cNvPr id="31" name="Text 29"/>
          <p:cNvSpPr txBox="1"/>
          <p:nvPr/>
        </p:nvSpPr>
        <p:spPr>
          <a:xfrm>
            <a:off x="7223760" y="3977640"/>
            <a:ext cx="685800" cy="384048"/>
          </a:xfrm>
          <a:prstGeom prst="rect">
            <a:avLst/>
          </a:prstGeom>
          <a:noFill/>
          <a:ln/>
        </p:spPr>
        <p:txBody>
          <a:bodyPr wrap="square" lIns="0" tIns="0" rIns="0" bIns="0" rtlCol="0" anchor="ctr"/>
          <a:lstStyle/>
          <a:p>
            <a:pPr algn="ctr" indent="0" marL="0">
              <a:buNone/>
            </a:pPr>
            <a:r>
              <a:rPr lang="en-US" sz="1200" b="1" dirty="0">
                <a:solidFill>
                  <a:schemeClr val="accent2"/>
                </a:solidFill>
              </a:rPr>
              <a:t>HNB</a:t>
            </a:r>
            <a:endParaRPr lang="en-US" sz="1200" dirty="0"/>
          </a:p>
        </p:txBody>
      </p:sp>
      <p:sp>
        <p:nvSpPr>
          <p:cNvPr id="32" name="Shape 30"/>
          <p:cNvSpPr/>
          <p:nvPr/>
        </p:nvSpPr>
        <p:spPr>
          <a:xfrm flipV="1">
            <a:off x="7566660" y="3630168"/>
            <a:ext cx="0" cy="329184"/>
          </a:xfrm>
          <a:prstGeom prst="line">
            <a:avLst/>
          </a:prstGeom>
          <a:noFill/>
          <a:ln w="19050">
            <a:solidFill>
              <a:schemeClr val="accent2"/>
            </a:solidFill>
            <a:prstDash val="solid"/>
            <a:tailEnd type="triangle"/>
          </a:ln>
        </p:spPr>
      </p:sp>
      <p:sp>
        <p:nvSpPr>
          <p:cNvPr id="33" name="Shape 31"/>
          <p:cNvSpPr/>
          <p:nvPr/>
        </p:nvSpPr>
        <p:spPr>
          <a:xfrm>
            <a:off x="8001000" y="3977640"/>
            <a:ext cx="685800" cy="384048"/>
          </a:xfrm>
          <a:prstGeom prst="roundRect">
            <a:avLst>
              <a:gd name="adj" fmla="val 19048"/>
            </a:avLst>
          </a:prstGeom>
          <a:solidFill>
            <a:schemeClr val="bg1"/>
          </a:solidFill>
          <a:ln w="19050">
            <a:solidFill>
              <a:schemeClr val="accent2"/>
            </a:solidFill>
            <a:prstDash val="solid"/>
          </a:ln>
        </p:spPr>
      </p:sp>
      <p:sp>
        <p:nvSpPr>
          <p:cNvPr id="34" name="Text 32"/>
          <p:cNvSpPr txBox="1"/>
          <p:nvPr/>
        </p:nvSpPr>
        <p:spPr>
          <a:xfrm>
            <a:off x="8001000" y="3977640"/>
            <a:ext cx="685800" cy="384048"/>
          </a:xfrm>
          <a:prstGeom prst="rect">
            <a:avLst/>
          </a:prstGeom>
          <a:noFill/>
          <a:ln/>
        </p:spPr>
        <p:txBody>
          <a:bodyPr wrap="square" lIns="0" tIns="0" rIns="0" bIns="0" rtlCol="0" anchor="ctr"/>
          <a:lstStyle/>
          <a:p>
            <a:pPr algn="ctr" indent="0" marL="0">
              <a:buNone/>
            </a:pPr>
            <a:r>
              <a:rPr lang="en-US" sz="1200" b="1" dirty="0">
                <a:solidFill>
                  <a:schemeClr val="accent2"/>
                </a:solidFill>
              </a:rPr>
              <a:t>BBN</a:t>
            </a:r>
            <a:endParaRPr lang="en-US" sz="1200" dirty="0"/>
          </a:p>
        </p:txBody>
      </p:sp>
      <p:sp>
        <p:nvSpPr>
          <p:cNvPr id="35" name="Shape 33"/>
          <p:cNvSpPr/>
          <p:nvPr/>
        </p:nvSpPr>
        <p:spPr>
          <a:xfrm flipV="1">
            <a:off x="8343900" y="3630168"/>
            <a:ext cx="0" cy="329184"/>
          </a:xfrm>
          <a:prstGeom prst="line">
            <a:avLst/>
          </a:prstGeom>
          <a:noFill/>
          <a:ln w="19050">
            <a:solidFill>
              <a:schemeClr val="accent2"/>
            </a:solidFill>
            <a:prstDash val="solid"/>
            <a:tailEnd type="triangle"/>
          </a:ln>
        </p:spPr>
      </p:sp>
      <p:sp>
        <p:nvSpPr>
          <p:cNvPr id="36" name="Shape 34"/>
          <p:cNvSpPr/>
          <p:nvPr/>
        </p:nvSpPr>
        <p:spPr>
          <a:xfrm>
            <a:off x="457200" y="2916936"/>
            <a:ext cx="201168" cy="164592"/>
          </a:xfrm>
          <a:prstGeom prst="roundRect">
            <a:avLst>
              <a:gd name="adj" fmla="val 16667"/>
            </a:avLst>
          </a:prstGeom>
          <a:solidFill>
            <a:schemeClr val="bg2"/>
          </a:solidFill>
          <a:ln w="12700">
            <a:solidFill>
              <a:schemeClr val="accent6"/>
            </a:solidFill>
            <a:prstDash val="solid"/>
          </a:ln>
        </p:spPr>
      </p:sp>
      <p:sp>
        <p:nvSpPr>
          <p:cNvPr id="37" name="Text 35"/>
          <p:cNvSpPr txBox="1"/>
          <p:nvPr/>
        </p:nvSpPr>
        <p:spPr>
          <a:xfrm>
            <a:off x="731520" y="2880360"/>
            <a:ext cx="1280160" cy="237744"/>
          </a:xfrm>
          <a:prstGeom prst="rect">
            <a:avLst/>
          </a:prstGeom>
          <a:noFill/>
          <a:ln/>
        </p:spPr>
        <p:txBody>
          <a:bodyPr wrap="square" lIns="0" tIns="0" rIns="0" bIns="0" rtlCol="0" anchor="ctr"/>
          <a:lstStyle/>
          <a:p>
            <a:pPr indent="0" marL="0">
              <a:buNone/>
            </a:pPr>
            <a:r>
              <a:rPr lang="en-US" sz="950" dirty="0">
                <a:solidFill>
                  <a:schemeClr val="tx2"/>
                </a:solidFill>
              </a:rPr>
              <a:t>Data preparation</a:t>
            </a:r>
            <a:endParaRPr lang="en-US" sz="950" dirty="0"/>
          </a:p>
        </p:txBody>
      </p:sp>
      <p:sp>
        <p:nvSpPr>
          <p:cNvPr id="38" name="Shape 36"/>
          <p:cNvSpPr/>
          <p:nvPr/>
        </p:nvSpPr>
        <p:spPr>
          <a:xfrm>
            <a:off x="457200" y="3209544"/>
            <a:ext cx="201168" cy="164592"/>
          </a:xfrm>
          <a:prstGeom prst="roundRect">
            <a:avLst>
              <a:gd name="adj" fmla="val 16667"/>
            </a:avLst>
          </a:prstGeom>
          <a:solidFill>
            <a:schemeClr val="accent2"/>
          </a:solidFill>
          <a:ln w="12700">
            <a:solidFill>
              <a:schemeClr val="accent2"/>
            </a:solidFill>
            <a:prstDash val="solid"/>
          </a:ln>
        </p:spPr>
      </p:sp>
      <p:sp>
        <p:nvSpPr>
          <p:cNvPr id="39" name="Text 37"/>
          <p:cNvSpPr txBox="1"/>
          <p:nvPr/>
        </p:nvSpPr>
        <p:spPr>
          <a:xfrm>
            <a:off x="731520" y="3172968"/>
            <a:ext cx="1280160" cy="237744"/>
          </a:xfrm>
          <a:prstGeom prst="rect">
            <a:avLst/>
          </a:prstGeom>
          <a:noFill/>
          <a:ln/>
        </p:spPr>
        <p:txBody>
          <a:bodyPr wrap="square" lIns="0" tIns="0" rIns="0" bIns="0" rtlCol="0" anchor="ctr"/>
          <a:lstStyle/>
          <a:p>
            <a:pPr indent="0" marL="0">
              <a:buNone/>
            </a:pPr>
            <a:r>
              <a:rPr lang="en-US" sz="950" dirty="0">
                <a:solidFill>
                  <a:schemeClr val="tx2"/>
                </a:solidFill>
              </a:rPr>
              <a:t>Probabilistic modelling</a:t>
            </a:r>
            <a:endParaRPr lang="en-US" sz="950" dirty="0"/>
          </a:p>
        </p:txBody>
      </p:sp>
      <p:sp>
        <p:nvSpPr>
          <p:cNvPr id="40" name="Shape 38"/>
          <p:cNvSpPr/>
          <p:nvPr/>
        </p:nvSpPr>
        <p:spPr>
          <a:xfrm>
            <a:off x="457200" y="3502152"/>
            <a:ext cx="201168" cy="164592"/>
          </a:xfrm>
          <a:prstGeom prst="roundRect">
            <a:avLst>
              <a:gd name="adj" fmla="val 16667"/>
            </a:avLst>
          </a:prstGeom>
          <a:solidFill>
            <a:schemeClr val="tx1"/>
          </a:solidFill>
          <a:ln w="12700">
            <a:solidFill>
              <a:schemeClr val="tx1"/>
            </a:solidFill>
            <a:prstDash val="solid"/>
          </a:ln>
        </p:spPr>
      </p:sp>
      <p:sp>
        <p:nvSpPr>
          <p:cNvPr id="41" name="Text 39"/>
          <p:cNvSpPr txBox="1"/>
          <p:nvPr/>
        </p:nvSpPr>
        <p:spPr>
          <a:xfrm>
            <a:off x="731520" y="3465576"/>
            <a:ext cx="1280160" cy="237744"/>
          </a:xfrm>
          <a:prstGeom prst="rect">
            <a:avLst/>
          </a:prstGeom>
          <a:noFill/>
          <a:ln/>
        </p:spPr>
        <p:txBody>
          <a:bodyPr wrap="square" lIns="0" tIns="0" rIns="0" bIns="0" rtlCol="0" anchor="ctr"/>
          <a:lstStyle/>
          <a:p>
            <a:pPr indent="0" marL="0">
              <a:buNone/>
            </a:pPr>
            <a:r>
              <a:rPr lang="en-US" sz="950" dirty="0">
                <a:solidFill>
                  <a:schemeClr val="tx2"/>
                </a:solidFill>
              </a:rPr>
              <a:t>Evaluation &amp; reporting</a:t>
            </a:r>
            <a:endParaRPr lang="en-US" sz="9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METHODOLOGY</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Methodology — step by step</a:t>
            </a:r>
            <a:endParaRPr lang="en-US" sz="2600" dirty="0"/>
          </a:p>
        </p:txBody>
      </p:sp>
      <p:sp>
        <p:nvSpPr>
          <p:cNvPr id="4" name="Shape 2"/>
          <p:cNvSpPr/>
          <p:nvPr/>
        </p:nvSpPr>
        <p:spPr>
          <a:xfrm>
            <a:off x="457200" y="1179576"/>
            <a:ext cx="457200" cy="457200"/>
          </a:xfrm>
          <a:prstGeom prst="ellipse">
            <a:avLst/>
          </a:prstGeom>
          <a:solidFill>
            <a:schemeClr val="tx1"/>
          </a:solidFill>
          <a:ln w="12700">
            <a:solidFill>
              <a:schemeClr val="tx1"/>
            </a:solidFill>
            <a:prstDash val="solid"/>
          </a:ln>
        </p:spPr>
      </p:sp>
      <p:sp>
        <p:nvSpPr>
          <p:cNvPr id="5" name="Text 3"/>
          <p:cNvSpPr txBox="1"/>
          <p:nvPr/>
        </p:nvSpPr>
        <p:spPr>
          <a:xfrm>
            <a:off x="457200" y="1179576"/>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97280" y="1143000"/>
            <a:ext cx="3383280" cy="274320"/>
          </a:xfrm>
          <a:prstGeom prst="rect">
            <a:avLst/>
          </a:prstGeom>
          <a:noFill/>
          <a:ln/>
        </p:spPr>
        <p:txBody>
          <a:bodyPr wrap="square" lIns="0" tIns="0" rIns="0" bIns="0" rtlCol="0" anchor="t"/>
          <a:lstStyle/>
          <a:p>
            <a:pPr indent="0" marL="0">
              <a:buNone/>
            </a:pPr>
            <a:r>
              <a:rPr lang="en-US" sz="1350" b="1" dirty="0">
                <a:solidFill>
                  <a:schemeClr val="tx1"/>
                </a:solidFill>
              </a:rPr>
              <a:t>Data loading</a:t>
            </a:r>
            <a:endParaRPr lang="en-US" sz="1350" dirty="0"/>
          </a:p>
        </p:txBody>
      </p:sp>
      <p:sp>
        <p:nvSpPr>
          <p:cNvPr id="7" name="Text 5"/>
          <p:cNvSpPr txBox="1"/>
          <p:nvPr/>
        </p:nvSpPr>
        <p:spPr>
          <a:xfrm>
            <a:off x="1097280" y="1417320"/>
            <a:ext cx="3383280" cy="502920"/>
          </a:xfrm>
          <a:prstGeom prst="rect">
            <a:avLst/>
          </a:prstGeom>
          <a:noFill/>
          <a:ln/>
        </p:spPr>
        <p:txBody>
          <a:bodyPr wrap="square" lIns="0" tIns="0" rIns="0" bIns="0" rtlCol="0" anchor="t"/>
          <a:lstStyle/>
          <a:p>
            <a:pPr indent="0" marL="0">
              <a:buNone/>
            </a:pPr>
            <a:r>
              <a:rPr lang="en-US" sz="1100" dirty="0">
                <a:solidFill>
                  <a:schemeClr val="tx2"/>
                </a:solidFill>
              </a:rPr>
              <a:t>L&amp;T abstract credit-card dataset: 3,075 rows × 12 columns</a:t>
            </a:r>
            <a:endParaRPr lang="en-US" sz="1100" dirty="0"/>
          </a:p>
        </p:txBody>
      </p:sp>
      <p:sp>
        <p:nvSpPr>
          <p:cNvPr id="8" name="Shape 6"/>
          <p:cNvSpPr/>
          <p:nvPr/>
        </p:nvSpPr>
        <p:spPr>
          <a:xfrm>
            <a:off x="457200" y="2075688"/>
            <a:ext cx="457200" cy="457200"/>
          </a:xfrm>
          <a:prstGeom prst="ellipse">
            <a:avLst/>
          </a:prstGeom>
          <a:solidFill>
            <a:schemeClr val="tx1"/>
          </a:solidFill>
          <a:ln w="12700">
            <a:solidFill>
              <a:schemeClr val="tx1"/>
            </a:solidFill>
            <a:prstDash val="solid"/>
          </a:ln>
        </p:spPr>
      </p:sp>
      <p:sp>
        <p:nvSpPr>
          <p:cNvPr id="9" name="Text 7"/>
          <p:cNvSpPr txBox="1"/>
          <p:nvPr/>
        </p:nvSpPr>
        <p:spPr>
          <a:xfrm>
            <a:off x="457200" y="2075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097280" y="2039112"/>
            <a:ext cx="3383280" cy="274320"/>
          </a:xfrm>
          <a:prstGeom prst="rect">
            <a:avLst/>
          </a:prstGeom>
          <a:noFill/>
          <a:ln/>
        </p:spPr>
        <p:txBody>
          <a:bodyPr wrap="square" lIns="0" tIns="0" rIns="0" bIns="0" rtlCol="0" anchor="t"/>
          <a:lstStyle/>
          <a:p>
            <a:pPr indent="0" marL="0">
              <a:buNone/>
            </a:pPr>
            <a:r>
              <a:rPr lang="en-US" sz="1350" b="1" dirty="0">
                <a:solidFill>
                  <a:schemeClr val="tx1"/>
                </a:solidFill>
              </a:rPr>
              <a:t>Cleaning &amp; EDA</a:t>
            </a:r>
            <a:endParaRPr lang="en-US" sz="1350" dirty="0"/>
          </a:p>
        </p:txBody>
      </p:sp>
      <p:sp>
        <p:nvSpPr>
          <p:cNvPr id="11" name="Text 9"/>
          <p:cNvSpPr txBox="1"/>
          <p:nvPr/>
        </p:nvSpPr>
        <p:spPr>
          <a:xfrm>
            <a:off x="1097280" y="2313432"/>
            <a:ext cx="3383280" cy="502920"/>
          </a:xfrm>
          <a:prstGeom prst="rect">
            <a:avLst/>
          </a:prstGeom>
          <a:noFill/>
          <a:ln/>
        </p:spPr>
        <p:txBody>
          <a:bodyPr wrap="square" lIns="0" tIns="0" rIns="0" bIns="0" rtlCol="0" anchor="t"/>
          <a:lstStyle/>
          <a:p>
            <a:pPr indent="0" marL="0">
              <a:buNone/>
            </a:pPr>
            <a:r>
              <a:rPr lang="en-US" sz="1100" dirty="0">
                <a:solidFill>
                  <a:schemeClr val="tx2"/>
                </a:solidFill>
              </a:rPr>
              <a:t>Drop Transaction date (100% null) and Merchant_id; 0 duplicates</a:t>
            </a:r>
            <a:endParaRPr lang="en-US" sz="1100" dirty="0"/>
          </a:p>
        </p:txBody>
      </p:sp>
      <p:sp>
        <p:nvSpPr>
          <p:cNvPr id="12" name="Shape 10"/>
          <p:cNvSpPr/>
          <p:nvPr/>
        </p:nvSpPr>
        <p:spPr>
          <a:xfrm>
            <a:off x="457200" y="2971800"/>
            <a:ext cx="457200" cy="457200"/>
          </a:xfrm>
          <a:prstGeom prst="ellipse">
            <a:avLst/>
          </a:prstGeom>
          <a:solidFill>
            <a:schemeClr val="tx1"/>
          </a:solidFill>
          <a:ln w="12700">
            <a:solidFill>
              <a:schemeClr val="tx1"/>
            </a:solidFill>
            <a:prstDash val="solid"/>
          </a:ln>
        </p:spPr>
      </p:sp>
      <p:sp>
        <p:nvSpPr>
          <p:cNvPr id="13" name="Text 11"/>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097280" y="2935224"/>
            <a:ext cx="3383280" cy="274320"/>
          </a:xfrm>
          <a:prstGeom prst="rect">
            <a:avLst/>
          </a:prstGeom>
          <a:noFill/>
          <a:ln/>
        </p:spPr>
        <p:txBody>
          <a:bodyPr wrap="square" lIns="0" tIns="0" rIns="0" bIns="0" rtlCol="0" anchor="t"/>
          <a:lstStyle/>
          <a:p>
            <a:pPr indent="0" marL="0">
              <a:buNone/>
            </a:pPr>
            <a:r>
              <a:rPr lang="en-US" sz="1350" b="1" dirty="0">
                <a:solidFill>
                  <a:schemeClr val="tx1"/>
                </a:solidFill>
              </a:rPr>
              <a:t>Encoding</a:t>
            </a:r>
            <a:endParaRPr lang="en-US" sz="1350" dirty="0"/>
          </a:p>
        </p:txBody>
      </p:sp>
      <p:sp>
        <p:nvSpPr>
          <p:cNvPr id="15" name="Text 13"/>
          <p:cNvSpPr txBox="1"/>
          <p:nvPr/>
        </p:nvSpPr>
        <p:spPr>
          <a:xfrm>
            <a:off x="1097280" y="3209544"/>
            <a:ext cx="3383280" cy="502920"/>
          </a:xfrm>
          <a:prstGeom prst="rect">
            <a:avLst/>
          </a:prstGeom>
          <a:noFill/>
          <a:ln/>
        </p:spPr>
        <p:txBody>
          <a:bodyPr wrap="square" lIns="0" tIns="0" rIns="0" bIns="0" rtlCol="0" anchor="t"/>
          <a:lstStyle/>
          <a:p>
            <a:pPr indent="0" marL="0">
              <a:buNone/>
            </a:pPr>
            <a:r>
              <a:rPr lang="en-US" sz="1100" dirty="0">
                <a:solidFill>
                  <a:schemeClr val="tx2"/>
                </a:solidFill>
              </a:rPr>
              <a:t>Y/N → 1/0 for target and 3 binary flags (declined, foreign, high-risk)</a:t>
            </a:r>
            <a:endParaRPr lang="en-US" sz="1100" dirty="0"/>
          </a:p>
        </p:txBody>
      </p:sp>
      <p:sp>
        <p:nvSpPr>
          <p:cNvPr id="16" name="Shape 14"/>
          <p:cNvSpPr/>
          <p:nvPr/>
        </p:nvSpPr>
        <p:spPr>
          <a:xfrm>
            <a:off x="457200" y="3867912"/>
            <a:ext cx="457200" cy="457200"/>
          </a:xfrm>
          <a:prstGeom prst="ellipse">
            <a:avLst/>
          </a:prstGeom>
          <a:solidFill>
            <a:schemeClr val="tx1"/>
          </a:solidFill>
          <a:ln w="12700">
            <a:solidFill>
              <a:schemeClr val="tx1"/>
            </a:solidFill>
            <a:prstDash val="solid"/>
          </a:ln>
        </p:spPr>
      </p:sp>
      <p:sp>
        <p:nvSpPr>
          <p:cNvPr id="17" name="Text 15"/>
          <p:cNvSpPr txBox="1"/>
          <p:nvPr/>
        </p:nvSpPr>
        <p:spPr>
          <a:xfrm>
            <a:off x="457200" y="386791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097280" y="3831336"/>
            <a:ext cx="3383280" cy="274320"/>
          </a:xfrm>
          <a:prstGeom prst="rect">
            <a:avLst/>
          </a:prstGeom>
          <a:noFill/>
          <a:ln/>
        </p:spPr>
        <p:txBody>
          <a:bodyPr wrap="square" lIns="0" tIns="0" rIns="0" bIns="0" rtlCol="0" anchor="t"/>
          <a:lstStyle/>
          <a:p>
            <a:pPr indent="0" marL="0">
              <a:buNone/>
            </a:pPr>
            <a:r>
              <a:rPr lang="en-US" sz="1350" b="1" dirty="0">
                <a:solidFill>
                  <a:schemeClr val="tx1"/>
                </a:solidFill>
              </a:rPr>
              <a:t>Stratified split</a:t>
            </a:r>
            <a:endParaRPr lang="en-US" sz="1350" dirty="0"/>
          </a:p>
        </p:txBody>
      </p:sp>
      <p:sp>
        <p:nvSpPr>
          <p:cNvPr id="19" name="Text 17"/>
          <p:cNvSpPr txBox="1"/>
          <p:nvPr/>
        </p:nvSpPr>
        <p:spPr>
          <a:xfrm>
            <a:off x="1097280" y="4105656"/>
            <a:ext cx="3383280" cy="502920"/>
          </a:xfrm>
          <a:prstGeom prst="rect">
            <a:avLst/>
          </a:prstGeom>
          <a:noFill/>
          <a:ln/>
        </p:spPr>
        <p:txBody>
          <a:bodyPr wrap="square" lIns="0" tIns="0" rIns="0" bIns="0" rtlCol="0" anchor="t"/>
          <a:lstStyle/>
          <a:p>
            <a:pPr indent="0" marL="0">
              <a:buNone/>
            </a:pPr>
            <a:r>
              <a:rPr lang="en-US" sz="1100" dirty="0">
                <a:solidFill>
                  <a:schemeClr val="tx2"/>
                </a:solidFill>
              </a:rPr>
              <a:t>80 / 20 → 2,460 train / 615 test, fraud ratio preserved</a:t>
            </a:r>
            <a:endParaRPr lang="en-US" sz="1100" dirty="0"/>
          </a:p>
        </p:txBody>
      </p:sp>
      <p:sp>
        <p:nvSpPr>
          <p:cNvPr id="20" name="Shape 18"/>
          <p:cNvSpPr/>
          <p:nvPr/>
        </p:nvSpPr>
        <p:spPr>
          <a:xfrm>
            <a:off x="4663440" y="1179576"/>
            <a:ext cx="457200" cy="457200"/>
          </a:xfrm>
          <a:prstGeom prst="ellipse">
            <a:avLst/>
          </a:prstGeom>
          <a:solidFill>
            <a:schemeClr val="tx1"/>
          </a:solidFill>
          <a:ln w="12700">
            <a:solidFill>
              <a:schemeClr val="tx1"/>
            </a:solidFill>
            <a:prstDash val="solid"/>
          </a:ln>
        </p:spPr>
      </p:sp>
      <p:sp>
        <p:nvSpPr>
          <p:cNvPr id="21" name="Text 19"/>
          <p:cNvSpPr txBox="1"/>
          <p:nvPr/>
        </p:nvSpPr>
        <p:spPr>
          <a:xfrm>
            <a:off x="4663440" y="1179576"/>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5303520" y="1143000"/>
            <a:ext cx="3383280" cy="274320"/>
          </a:xfrm>
          <a:prstGeom prst="rect">
            <a:avLst/>
          </a:prstGeom>
          <a:noFill/>
          <a:ln/>
        </p:spPr>
        <p:txBody>
          <a:bodyPr wrap="square" lIns="0" tIns="0" rIns="0" bIns="0" rtlCol="0" anchor="t"/>
          <a:lstStyle/>
          <a:p>
            <a:pPr indent="0" marL="0">
              <a:buNone/>
            </a:pPr>
            <a:r>
              <a:rPr lang="en-US" sz="1350" b="1" dirty="0">
                <a:solidFill>
                  <a:schemeClr val="tx1"/>
                </a:solidFill>
              </a:rPr>
              <a:t>Scaling &amp; normalization</a:t>
            </a:r>
            <a:endParaRPr lang="en-US" sz="1350" dirty="0"/>
          </a:p>
        </p:txBody>
      </p:sp>
      <p:sp>
        <p:nvSpPr>
          <p:cNvPr id="23" name="Text 21"/>
          <p:cNvSpPr txBox="1"/>
          <p:nvPr/>
        </p:nvSpPr>
        <p:spPr>
          <a:xfrm>
            <a:off x="5303520" y="1417320"/>
            <a:ext cx="3383280" cy="502920"/>
          </a:xfrm>
          <a:prstGeom prst="rect">
            <a:avLst/>
          </a:prstGeom>
          <a:noFill/>
          <a:ln/>
        </p:spPr>
        <p:txBody>
          <a:bodyPr wrap="square" lIns="0" tIns="0" rIns="0" bIns="0" rtlCol="0" anchor="t"/>
          <a:lstStyle/>
          <a:p>
            <a:pPr indent="0" marL="0">
              <a:buNone/>
            </a:pPr>
            <a:r>
              <a:rPr lang="en-US" sz="1100" dirty="0">
                <a:solidFill>
                  <a:schemeClr val="tx2"/>
                </a:solidFill>
              </a:rPr>
              <a:t>StandardScaler → MinMaxScaler [0, 1]; fit on training data only</a:t>
            </a:r>
            <a:endParaRPr lang="en-US" sz="1100" dirty="0"/>
          </a:p>
        </p:txBody>
      </p:sp>
      <p:sp>
        <p:nvSpPr>
          <p:cNvPr id="24" name="Shape 22"/>
          <p:cNvSpPr/>
          <p:nvPr/>
        </p:nvSpPr>
        <p:spPr>
          <a:xfrm>
            <a:off x="4663440" y="2075688"/>
            <a:ext cx="457200" cy="457200"/>
          </a:xfrm>
          <a:prstGeom prst="ellipse">
            <a:avLst/>
          </a:prstGeom>
          <a:solidFill>
            <a:schemeClr val="tx1"/>
          </a:solidFill>
          <a:ln w="12700">
            <a:solidFill>
              <a:schemeClr val="tx1"/>
            </a:solidFill>
            <a:prstDash val="solid"/>
          </a:ln>
        </p:spPr>
      </p:sp>
      <p:sp>
        <p:nvSpPr>
          <p:cNvPr id="25" name="Text 23"/>
          <p:cNvSpPr txBox="1"/>
          <p:nvPr/>
        </p:nvSpPr>
        <p:spPr>
          <a:xfrm>
            <a:off x="4663440" y="2075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4"/>
          <p:cNvSpPr txBox="1"/>
          <p:nvPr/>
        </p:nvSpPr>
        <p:spPr>
          <a:xfrm>
            <a:off x="5303520" y="2039112"/>
            <a:ext cx="3383280" cy="274320"/>
          </a:xfrm>
          <a:prstGeom prst="rect">
            <a:avLst/>
          </a:prstGeom>
          <a:noFill/>
          <a:ln/>
        </p:spPr>
        <p:txBody>
          <a:bodyPr wrap="square" lIns="0" tIns="0" rIns="0" bIns="0" rtlCol="0" anchor="t"/>
          <a:lstStyle/>
          <a:p>
            <a:pPr indent="0" marL="0">
              <a:buNone/>
            </a:pPr>
            <a:r>
              <a:rPr lang="en-US" sz="1350" b="1" dirty="0">
                <a:solidFill>
                  <a:schemeClr val="tx1"/>
                </a:solidFill>
              </a:rPr>
              <a:t>Random oversampling</a:t>
            </a:r>
            <a:endParaRPr lang="en-US" sz="1350" dirty="0"/>
          </a:p>
        </p:txBody>
      </p:sp>
      <p:sp>
        <p:nvSpPr>
          <p:cNvPr id="27" name="Text 25"/>
          <p:cNvSpPr txBox="1"/>
          <p:nvPr/>
        </p:nvSpPr>
        <p:spPr>
          <a:xfrm>
            <a:off x="5303520" y="2313432"/>
            <a:ext cx="3383280" cy="502920"/>
          </a:xfrm>
          <a:prstGeom prst="rect">
            <a:avLst/>
          </a:prstGeom>
          <a:noFill/>
          <a:ln/>
        </p:spPr>
        <p:txBody>
          <a:bodyPr wrap="square" lIns="0" tIns="0" rIns="0" bIns="0" rtlCol="0" anchor="t"/>
          <a:lstStyle/>
          <a:p>
            <a:pPr indent="0" marL="0">
              <a:buNone/>
            </a:pPr>
            <a:r>
              <a:rPr lang="en-US" sz="1100" dirty="0">
                <a:solidFill>
                  <a:schemeClr val="tx2"/>
                </a:solidFill>
              </a:rPr>
              <a:t>Training set only: frauds 358 → 2,102 (1 : 1 balance)</a:t>
            </a:r>
            <a:endParaRPr lang="en-US" sz="1100" dirty="0"/>
          </a:p>
        </p:txBody>
      </p:sp>
      <p:sp>
        <p:nvSpPr>
          <p:cNvPr id="28" name="Shape 26"/>
          <p:cNvSpPr/>
          <p:nvPr/>
        </p:nvSpPr>
        <p:spPr>
          <a:xfrm>
            <a:off x="4663440" y="2971800"/>
            <a:ext cx="457200" cy="457200"/>
          </a:xfrm>
          <a:prstGeom prst="ellipse">
            <a:avLst/>
          </a:prstGeom>
          <a:solidFill>
            <a:schemeClr val="accent2"/>
          </a:solidFill>
          <a:ln w="12700">
            <a:solidFill>
              <a:schemeClr val="accent2"/>
            </a:solidFill>
            <a:prstDash val="solid"/>
          </a:ln>
        </p:spPr>
      </p:sp>
      <p:sp>
        <p:nvSpPr>
          <p:cNvPr id="29" name="Text 27"/>
          <p:cNvSpPr txBox="1"/>
          <p:nvPr/>
        </p:nvSpPr>
        <p:spPr>
          <a:xfrm>
            <a:off x="4663440" y="2971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Text 28"/>
          <p:cNvSpPr txBox="1"/>
          <p:nvPr/>
        </p:nvSpPr>
        <p:spPr>
          <a:xfrm>
            <a:off x="5303520" y="2935224"/>
            <a:ext cx="3383280" cy="274320"/>
          </a:xfrm>
          <a:prstGeom prst="rect">
            <a:avLst/>
          </a:prstGeom>
          <a:noFill/>
          <a:ln/>
        </p:spPr>
        <p:txBody>
          <a:bodyPr wrap="square" lIns="0" tIns="0" rIns="0" bIns="0" rtlCol="0" anchor="t"/>
          <a:lstStyle/>
          <a:p>
            <a:pPr indent="0" marL="0">
              <a:buNone/>
            </a:pPr>
            <a:r>
              <a:rPr lang="en-US" sz="1350" b="1" dirty="0">
                <a:solidFill>
                  <a:schemeClr val="tx1"/>
                </a:solidFill>
              </a:rPr>
              <a:t>Discretization</a:t>
            </a:r>
            <a:endParaRPr lang="en-US" sz="1350" dirty="0"/>
          </a:p>
        </p:txBody>
      </p:sp>
      <p:sp>
        <p:nvSpPr>
          <p:cNvPr id="31" name="Text 29"/>
          <p:cNvSpPr txBox="1"/>
          <p:nvPr/>
        </p:nvSpPr>
        <p:spPr>
          <a:xfrm>
            <a:off x="5303520" y="3209544"/>
            <a:ext cx="3383280" cy="502920"/>
          </a:xfrm>
          <a:prstGeom prst="rect">
            <a:avLst/>
          </a:prstGeom>
          <a:noFill/>
          <a:ln/>
        </p:spPr>
        <p:txBody>
          <a:bodyPr wrap="square" lIns="0" tIns="0" rIns="0" bIns="0" rtlCol="0" anchor="t"/>
          <a:lstStyle/>
          <a:p>
            <a:pPr indent="0" marL="0">
              <a:buNone/>
            </a:pPr>
            <a:r>
              <a:rPr lang="en-US" sz="1100" dirty="0">
                <a:solidFill>
                  <a:schemeClr val="tx2"/>
                </a:solidFill>
              </a:rPr>
              <a:t>Quintile bins; 3 chargeback features become constant → 6 usable features</a:t>
            </a:r>
            <a:endParaRPr lang="en-US" sz="1100" dirty="0"/>
          </a:p>
        </p:txBody>
      </p:sp>
      <p:sp>
        <p:nvSpPr>
          <p:cNvPr id="32" name="Shape 30"/>
          <p:cNvSpPr/>
          <p:nvPr/>
        </p:nvSpPr>
        <p:spPr>
          <a:xfrm>
            <a:off x="4663440" y="3867912"/>
            <a:ext cx="457200" cy="457200"/>
          </a:xfrm>
          <a:prstGeom prst="ellipse">
            <a:avLst/>
          </a:prstGeom>
          <a:solidFill>
            <a:schemeClr val="accent2"/>
          </a:solidFill>
          <a:ln w="12700">
            <a:solidFill>
              <a:schemeClr val="accent2"/>
            </a:solidFill>
            <a:prstDash val="solid"/>
          </a:ln>
        </p:spPr>
      </p:sp>
      <p:sp>
        <p:nvSpPr>
          <p:cNvPr id="33" name="Text 31"/>
          <p:cNvSpPr txBox="1"/>
          <p:nvPr/>
        </p:nvSpPr>
        <p:spPr>
          <a:xfrm>
            <a:off x="4663440" y="386791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4" name="Text 32"/>
          <p:cNvSpPr txBox="1"/>
          <p:nvPr/>
        </p:nvSpPr>
        <p:spPr>
          <a:xfrm>
            <a:off x="5303520" y="3831336"/>
            <a:ext cx="3383280" cy="274320"/>
          </a:xfrm>
          <a:prstGeom prst="rect">
            <a:avLst/>
          </a:prstGeom>
          <a:noFill/>
          <a:ln/>
        </p:spPr>
        <p:txBody>
          <a:bodyPr wrap="square" lIns="0" tIns="0" rIns="0" bIns="0" rtlCol="0" anchor="t"/>
          <a:lstStyle/>
          <a:p>
            <a:pPr indent="0" marL="0">
              <a:buNone/>
            </a:pPr>
            <a:r>
              <a:rPr lang="en-US" sz="1350" b="1" dirty="0">
                <a:solidFill>
                  <a:schemeClr val="tx1"/>
                </a:solidFill>
              </a:rPr>
              <a:t>Model training &amp; evaluation</a:t>
            </a:r>
            <a:endParaRPr lang="en-US" sz="1350" dirty="0"/>
          </a:p>
        </p:txBody>
      </p:sp>
      <p:sp>
        <p:nvSpPr>
          <p:cNvPr id="35" name="Text 33"/>
          <p:cNvSpPr txBox="1"/>
          <p:nvPr/>
        </p:nvSpPr>
        <p:spPr>
          <a:xfrm>
            <a:off x="5303520" y="4105656"/>
            <a:ext cx="3383280" cy="502920"/>
          </a:xfrm>
          <a:prstGeom prst="rect">
            <a:avLst/>
          </a:prstGeom>
          <a:noFill/>
          <a:ln/>
        </p:spPr>
        <p:txBody>
          <a:bodyPr wrap="square" lIns="0" tIns="0" rIns="0" bIns="0" rtlCol="0" anchor="t"/>
          <a:lstStyle/>
          <a:p>
            <a:pPr indent="0" marL="0">
              <a:buNone/>
            </a:pPr>
            <a:r>
              <a:rPr lang="en-US" sz="1100" dirty="0">
                <a:solidFill>
                  <a:schemeClr val="tx2"/>
                </a:solidFill>
              </a:rPr>
              <a:t>HNB and BBN; confusion matrix, accuracy, precision, recall, F1</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METHODOLOGY</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Handling class imbalance with Random Oversampling</a:t>
            </a:r>
            <a:endParaRPr lang="en-US" sz="2600" dirty="0"/>
          </a:p>
        </p:txBody>
      </p:sp>
      <p:graphicFrame>
        <p:nvGraphicFramePr>
          <p:cNvPr id="4" name="Chart 0" descr=""/>
          <p:cNvGraphicFramePr/>
          <p:nvPr/>
        </p:nvGraphicFramePr>
        <p:xfrm>
          <a:off x="36576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188720"/>
            <a:ext cx="457200" cy="4572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2"/>
          <a:stretch>
            <a:fillRect/>
          </a:stretch>
        </p:blipFill>
        <p:spPr>
          <a:xfrm>
            <a:off x="5870448" y="1298448"/>
            <a:ext cx="237744" cy="237744"/>
          </a:xfrm>
          <a:prstGeom prst="rect">
            <a:avLst/>
          </a:prstGeom>
        </p:spPr>
      </p:pic>
      <p:sp>
        <p:nvSpPr>
          <p:cNvPr id="7" name="Text 3"/>
          <p:cNvSpPr txBox="1"/>
          <p:nvPr/>
        </p:nvSpPr>
        <p:spPr>
          <a:xfrm>
            <a:off x="6355080" y="1170432"/>
            <a:ext cx="2377440" cy="274320"/>
          </a:xfrm>
          <a:prstGeom prst="rect">
            <a:avLst/>
          </a:prstGeom>
          <a:noFill/>
          <a:ln/>
        </p:spPr>
        <p:txBody>
          <a:bodyPr wrap="square" lIns="0" tIns="0" rIns="0" bIns="0" rtlCol="0" anchor="t"/>
          <a:lstStyle/>
          <a:p>
            <a:pPr indent="0" marL="0">
              <a:buNone/>
            </a:pPr>
            <a:r>
              <a:rPr lang="en-US" sz="1300" b="1" dirty="0">
                <a:solidFill>
                  <a:schemeClr val="tx1"/>
                </a:solidFill>
              </a:rPr>
              <a:t>Split first, then balance</a:t>
            </a:r>
            <a:endParaRPr lang="en-US" sz="1300" dirty="0"/>
          </a:p>
        </p:txBody>
      </p:sp>
      <p:sp>
        <p:nvSpPr>
          <p:cNvPr id="8" name="Text 4"/>
          <p:cNvSpPr txBox="1"/>
          <p:nvPr/>
        </p:nvSpPr>
        <p:spPr>
          <a:xfrm>
            <a:off x="6355080" y="1453896"/>
            <a:ext cx="2377440" cy="731520"/>
          </a:xfrm>
          <a:prstGeom prst="rect">
            <a:avLst/>
          </a:prstGeom>
          <a:noFill/>
          <a:ln/>
        </p:spPr>
        <p:txBody>
          <a:bodyPr wrap="square" lIns="0" tIns="0" rIns="0" bIns="0" rtlCol="0" anchor="t"/>
          <a:lstStyle/>
          <a:p>
            <a:pPr indent="0" marL="0">
              <a:buNone/>
            </a:pPr>
            <a:r>
              <a:rPr lang="en-US" sz="1050" dirty="0">
                <a:solidFill>
                  <a:schemeClr val="tx2"/>
                </a:solidFill>
              </a:rPr>
              <a:t>ROS duplicates fraud rows in the training set only; the test set keeps the real 14.6% fraud ratio.</a:t>
            </a:r>
            <a:endParaRPr lang="en-US" sz="1050" dirty="0"/>
          </a:p>
        </p:txBody>
      </p:sp>
      <p:sp>
        <p:nvSpPr>
          <p:cNvPr id="9" name="Shape 5"/>
          <p:cNvSpPr/>
          <p:nvPr/>
        </p:nvSpPr>
        <p:spPr>
          <a:xfrm>
            <a:off x="5760720" y="233172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3"/>
          <a:stretch>
            <a:fillRect/>
          </a:stretch>
        </p:blipFill>
        <p:spPr>
          <a:xfrm>
            <a:off x="5870448" y="2441448"/>
            <a:ext cx="237744" cy="237744"/>
          </a:xfrm>
          <a:prstGeom prst="rect">
            <a:avLst/>
          </a:prstGeom>
        </p:spPr>
      </p:pic>
      <p:sp>
        <p:nvSpPr>
          <p:cNvPr id="11" name="Text 6"/>
          <p:cNvSpPr txBox="1"/>
          <p:nvPr/>
        </p:nvSpPr>
        <p:spPr>
          <a:xfrm>
            <a:off x="6355080" y="2313432"/>
            <a:ext cx="2377440" cy="274320"/>
          </a:xfrm>
          <a:prstGeom prst="rect">
            <a:avLst/>
          </a:prstGeom>
          <a:noFill/>
          <a:ln/>
        </p:spPr>
        <p:txBody>
          <a:bodyPr wrap="square" lIns="0" tIns="0" rIns="0" bIns="0" rtlCol="0" anchor="t"/>
          <a:lstStyle/>
          <a:p>
            <a:pPr indent="0" marL="0">
              <a:buNone/>
            </a:pPr>
            <a:r>
              <a:rPr lang="en-US" sz="1300" b="1" dirty="0">
                <a:solidFill>
                  <a:schemeClr val="tx1"/>
                </a:solidFill>
              </a:rPr>
              <a:t>2,460 → 4,204 training rows</a:t>
            </a:r>
            <a:endParaRPr lang="en-US" sz="1300" dirty="0"/>
          </a:p>
        </p:txBody>
      </p:sp>
      <p:sp>
        <p:nvSpPr>
          <p:cNvPr id="12" name="Text 7"/>
          <p:cNvSpPr txBox="1"/>
          <p:nvPr/>
        </p:nvSpPr>
        <p:spPr>
          <a:xfrm>
            <a:off x="6355080" y="2596896"/>
            <a:ext cx="2377440" cy="731520"/>
          </a:xfrm>
          <a:prstGeom prst="rect">
            <a:avLst/>
          </a:prstGeom>
          <a:noFill/>
          <a:ln/>
        </p:spPr>
        <p:txBody>
          <a:bodyPr wrap="square" lIns="0" tIns="0" rIns="0" bIns="0" rtlCol="0" anchor="t"/>
          <a:lstStyle/>
          <a:p>
            <a:pPr indent="0" marL="0">
              <a:buNone/>
            </a:pPr>
            <a:r>
              <a:rPr lang="en-US" sz="1050" dirty="0">
                <a:solidFill>
                  <a:schemeClr val="tx2"/>
                </a:solidFill>
              </a:rPr>
              <a:t>Class priors become 0.50 / 0.50, so neither model is biased toward "legitimate".</a:t>
            </a:r>
            <a:endParaRPr lang="en-US" sz="1050" dirty="0"/>
          </a:p>
        </p:txBody>
      </p:sp>
      <p:sp>
        <p:nvSpPr>
          <p:cNvPr id="13" name="Shape 8"/>
          <p:cNvSpPr/>
          <p:nvPr/>
        </p:nvSpPr>
        <p:spPr>
          <a:xfrm>
            <a:off x="5760720" y="3474720"/>
            <a:ext cx="457200" cy="45720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4"/>
          <a:stretch>
            <a:fillRect/>
          </a:stretch>
        </p:blipFill>
        <p:spPr>
          <a:xfrm>
            <a:off x="5870448" y="3584448"/>
            <a:ext cx="237744" cy="237744"/>
          </a:xfrm>
          <a:prstGeom prst="rect">
            <a:avLst/>
          </a:prstGeom>
        </p:spPr>
      </p:pic>
      <p:sp>
        <p:nvSpPr>
          <p:cNvPr id="15" name="Text 9"/>
          <p:cNvSpPr txBox="1"/>
          <p:nvPr/>
        </p:nvSpPr>
        <p:spPr>
          <a:xfrm>
            <a:off x="6355080" y="3456432"/>
            <a:ext cx="2377440" cy="274320"/>
          </a:xfrm>
          <a:prstGeom prst="rect">
            <a:avLst/>
          </a:prstGeom>
          <a:noFill/>
          <a:ln/>
        </p:spPr>
        <p:txBody>
          <a:bodyPr wrap="square" lIns="0" tIns="0" rIns="0" bIns="0" rtlCol="0" anchor="t"/>
          <a:lstStyle/>
          <a:p>
            <a:pPr indent="0" marL="0">
              <a:buNone/>
            </a:pPr>
            <a:r>
              <a:rPr lang="en-US" sz="1300" b="1" dirty="0">
                <a:solidFill>
                  <a:schemeClr val="tx1"/>
                </a:solidFill>
              </a:rPr>
              <a:t>No test leakage</a:t>
            </a:r>
            <a:endParaRPr lang="en-US" sz="1300" dirty="0"/>
          </a:p>
        </p:txBody>
      </p:sp>
      <p:sp>
        <p:nvSpPr>
          <p:cNvPr id="16" name="Text 10"/>
          <p:cNvSpPr txBox="1"/>
          <p:nvPr/>
        </p:nvSpPr>
        <p:spPr>
          <a:xfrm>
            <a:off x="6355080" y="3739896"/>
            <a:ext cx="2377440" cy="731520"/>
          </a:xfrm>
          <a:prstGeom prst="rect">
            <a:avLst/>
          </a:prstGeom>
          <a:noFill/>
          <a:ln/>
        </p:spPr>
        <p:txBody>
          <a:bodyPr wrap="square" lIns="0" tIns="0" rIns="0" bIns="0" rtlCol="0" anchor="t"/>
          <a:lstStyle/>
          <a:p>
            <a:pPr indent="0" marL="0">
              <a:buNone/>
            </a:pPr>
            <a:r>
              <a:rPr lang="en-US" sz="1050" dirty="0">
                <a:solidFill>
                  <a:schemeClr val="tx2"/>
                </a:solidFill>
              </a:rPr>
              <a:t>Scaler, normalizer and bin edges are all learned from training data and only applied to the test data.</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ARCHITECTURE</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System architecture</a:t>
            </a:r>
            <a:endParaRPr lang="en-US" sz="2600" dirty="0"/>
          </a:p>
        </p:txBody>
      </p:sp>
      <p:sp>
        <p:nvSpPr>
          <p:cNvPr id="4" name="Shape 2"/>
          <p:cNvSpPr/>
          <p:nvPr/>
        </p:nvSpPr>
        <p:spPr>
          <a:xfrm>
            <a:off x="457200" y="1097280"/>
            <a:ext cx="1783080" cy="1600200"/>
          </a:xfrm>
          <a:prstGeom prst="roundRect">
            <a:avLst>
              <a:gd name="adj" fmla="val 4571"/>
            </a:avLst>
          </a:prstGeom>
          <a:solidFill>
            <a:schemeClr val="bg2"/>
          </a:solidFill>
          <a:ln w="12700">
            <a:solidFill>
              <a:schemeClr val="bg2"/>
            </a:solidFill>
            <a:prstDash val="solid"/>
          </a:ln>
        </p:spPr>
      </p:sp>
      <p:sp>
        <p:nvSpPr>
          <p:cNvPr id="5" name="Shape 3"/>
          <p:cNvSpPr/>
          <p:nvPr/>
        </p:nvSpPr>
        <p:spPr>
          <a:xfrm>
            <a:off x="594360" y="1234440"/>
            <a:ext cx="384048" cy="384048"/>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686532" y="1326612"/>
            <a:ext cx="199705" cy="199705"/>
          </a:xfrm>
          <a:prstGeom prst="rect">
            <a:avLst/>
          </a:prstGeom>
        </p:spPr>
      </p:pic>
      <p:sp>
        <p:nvSpPr>
          <p:cNvPr id="7" name="Text 4"/>
          <p:cNvSpPr txBox="1"/>
          <p:nvPr/>
        </p:nvSpPr>
        <p:spPr>
          <a:xfrm>
            <a:off x="1051560" y="1234440"/>
            <a:ext cx="1097280" cy="384048"/>
          </a:xfrm>
          <a:prstGeom prst="rect">
            <a:avLst/>
          </a:prstGeom>
          <a:noFill/>
          <a:ln/>
        </p:spPr>
        <p:txBody>
          <a:bodyPr wrap="square" lIns="0" tIns="0" rIns="0" bIns="0" rtlCol="0" anchor="ctr"/>
          <a:lstStyle/>
          <a:p>
            <a:pPr indent="0" marL="0">
              <a:buNone/>
            </a:pPr>
            <a:r>
              <a:rPr lang="en-US" sz="1250" b="1" dirty="0">
                <a:solidFill>
                  <a:schemeClr val="tx1"/>
                </a:solidFill>
              </a:rPr>
              <a:t>Data layer</a:t>
            </a:r>
            <a:endParaRPr lang="en-US" sz="1250" dirty="0"/>
          </a:p>
        </p:txBody>
      </p:sp>
      <p:sp>
        <p:nvSpPr>
          <p:cNvPr id="8" name="Text 5"/>
          <p:cNvSpPr txBox="1"/>
          <p:nvPr/>
        </p:nvSpPr>
        <p:spPr>
          <a:xfrm>
            <a:off x="566928" y="1691640"/>
            <a:ext cx="1600200" cy="9601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creditcardcsvpresent.csv</a:t>
            </a:r>
            <a:endParaRPr lang="en-US" sz="1050" dirty="0"/>
          </a:p>
          <a:p>
            <a:pPr marL="152400" indent="-152400">
              <a:spcAft>
                <a:spcPts val="500"/>
              </a:spcAft>
              <a:buSzPct val="100000"/>
              <a:buChar char="•"/>
            </a:pPr>
            <a:r>
              <a:rPr lang="en-US" sz="1050" dirty="0">
                <a:solidFill>
                  <a:schemeClr val="tx2"/>
                </a:solidFill>
              </a:rPr>
              <a:t>3,075 rows · 12 cols</a:t>
            </a:r>
            <a:endParaRPr lang="en-US" sz="1050" dirty="0"/>
          </a:p>
          <a:p>
            <a:pPr marL="152400" indent="-152400">
              <a:spcAft>
                <a:spcPts val="500"/>
              </a:spcAft>
              <a:buSzPct val="100000"/>
              <a:buChar char="•"/>
            </a:pPr>
            <a:r>
              <a:rPr lang="en-US" sz="1050" dirty="0">
                <a:solidFill>
                  <a:schemeClr val="tx2"/>
                </a:solidFill>
              </a:rPr>
              <a:t>Google Drive / Colab</a:t>
            </a:r>
            <a:endParaRPr lang="en-US" sz="1050" dirty="0"/>
          </a:p>
        </p:txBody>
      </p:sp>
      <p:sp>
        <p:nvSpPr>
          <p:cNvPr id="9" name="Shape 6"/>
          <p:cNvSpPr/>
          <p:nvPr/>
        </p:nvSpPr>
        <p:spPr>
          <a:xfrm>
            <a:off x="457200" y="2834640"/>
            <a:ext cx="1783080" cy="1645920"/>
          </a:xfrm>
          <a:prstGeom prst="roundRect">
            <a:avLst>
              <a:gd name="adj" fmla="val 4444"/>
            </a:avLst>
          </a:prstGeom>
          <a:solidFill>
            <a:schemeClr val="bg2"/>
          </a:solidFill>
          <a:ln w="12700">
            <a:solidFill>
              <a:schemeClr val="bg2"/>
            </a:solidFill>
            <a:prstDash val="solid"/>
          </a:ln>
        </p:spPr>
      </p:sp>
      <p:sp>
        <p:nvSpPr>
          <p:cNvPr id="10" name="Shape 7"/>
          <p:cNvSpPr/>
          <p:nvPr/>
        </p:nvSpPr>
        <p:spPr>
          <a:xfrm>
            <a:off x="594360" y="2971800"/>
            <a:ext cx="384048" cy="384048"/>
          </a:xfrm>
          <a:prstGeom prst="ellipse">
            <a:avLst/>
          </a:prstGeom>
          <a:solidFill>
            <a:schemeClr val="accent5"/>
          </a:solidFill>
          <a:ln w="12700">
            <a:solidFill>
              <a:schemeClr val="accent5"/>
            </a:solidFill>
            <a:prstDash val="solid"/>
          </a:ln>
        </p:spPr>
      </p:sp>
      <p:pic>
        <p:nvPicPr>
          <p:cNvPr id="11" name="Image 1" descr="preencoded.png">    </p:cNvPr>
          <p:cNvPicPr>
            <a:picLocks noChangeAspect="1"/>
          </p:cNvPicPr>
          <p:nvPr/>
        </p:nvPicPr>
        <p:blipFill>
          <a:blip r:embed="rId2"/>
          <a:stretch>
            <a:fillRect/>
          </a:stretch>
        </p:blipFill>
        <p:spPr>
          <a:xfrm>
            <a:off x="686532" y="3063972"/>
            <a:ext cx="199705" cy="199705"/>
          </a:xfrm>
          <a:prstGeom prst="rect">
            <a:avLst/>
          </a:prstGeom>
        </p:spPr>
      </p:pic>
      <p:sp>
        <p:nvSpPr>
          <p:cNvPr id="12" name="Text 8"/>
          <p:cNvSpPr txBox="1"/>
          <p:nvPr/>
        </p:nvSpPr>
        <p:spPr>
          <a:xfrm>
            <a:off x="1051560" y="2971800"/>
            <a:ext cx="1097280" cy="384048"/>
          </a:xfrm>
          <a:prstGeom prst="rect">
            <a:avLst/>
          </a:prstGeom>
          <a:noFill/>
          <a:ln/>
        </p:spPr>
        <p:txBody>
          <a:bodyPr wrap="square" lIns="0" tIns="0" rIns="0" bIns="0" rtlCol="0" anchor="ctr"/>
          <a:lstStyle/>
          <a:p>
            <a:pPr indent="0" marL="0">
              <a:buNone/>
            </a:pPr>
            <a:r>
              <a:rPr lang="en-US" sz="1250" b="1" dirty="0">
                <a:solidFill>
                  <a:schemeClr val="tx1"/>
                </a:solidFill>
              </a:rPr>
              <a:t>Tech stack</a:t>
            </a:r>
            <a:endParaRPr lang="en-US" sz="1250" dirty="0"/>
          </a:p>
        </p:txBody>
      </p:sp>
      <p:sp>
        <p:nvSpPr>
          <p:cNvPr id="13" name="Text 9"/>
          <p:cNvSpPr txBox="1"/>
          <p:nvPr/>
        </p:nvSpPr>
        <p:spPr>
          <a:xfrm>
            <a:off x="566928" y="3429000"/>
            <a:ext cx="1600200" cy="1005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pandas · NumPy</a:t>
            </a:r>
            <a:endParaRPr lang="en-US" sz="1050" dirty="0"/>
          </a:p>
          <a:p>
            <a:pPr marL="152400" indent="-152400">
              <a:spcAft>
                <a:spcPts val="500"/>
              </a:spcAft>
              <a:buSzPct val="100000"/>
              <a:buChar char="•"/>
            </a:pPr>
            <a:r>
              <a:rPr lang="en-US" sz="1050" dirty="0">
                <a:solidFill>
                  <a:schemeClr val="tx2"/>
                </a:solidFill>
              </a:rPr>
              <a:t>scikit-learn · imblearn</a:t>
            </a:r>
            <a:endParaRPr lang="en-US" sz="1050" dirty="0"/>
          </a:p>
          <a:p>
            <a:pPr marL="152400" indent="-152400">
              <a:spcAft>
                <a:spcPts val="500"/>
              </a:spcAft>
              <a:buSzPct val="100000"/>
              <a:buChar char="•"/>
            </a:pPr>
            <a:r>
              <a:rPr lang="en-US" sz="1050" dirty="0">
                <a:solidFill>
                  <a:schemeClr val="tx2"/>
                </a:solidFill>
              </a:rPr>
              <a:t>pgmpy · networkx</a:t>
            </a:r>
            <a:endParaRPr lang="en-US" sz="1050" dirty="0"/>
          </a:p>
        </p:txBody>
      </p:sp>
      <p:sp>
        <p:nvSpPr>
          <p:cNvPr id="14" name="Shape 10"/>
          <p:cNvSpPr/>
          <p:nvPr/>
        </p:nvSpPr>
        <p:spPr>
          <a:xfrm>
            <a:off x="2514600" y="1097280"/>
            <a:ext cx="1828800" cy="3383280"/>
          </a:xfrm>
          <a:prstGeom prst="roundRect">
            <a:avLst>
              <a:gd name="adj" fmla="val 4000"/>
            </a:avLst>
          </a:prstGeom>
          <a:solidFill>
            <a:schemeClr val="bg2"/>
          </a:solidFill>
          <a:ln w="12700">
            <a:solidFill>
              <a:schemeClr val="bg2"/>
            </a:solidFill>
            <a:prstDash val="solid"/>
          </a:ln>
        </p:spPr>
      </p:sp>
      <p:sp>
        <p:nvSpPr>
          <p:cNvPr id="15" name="Shape 11"/>
          <p:cNvSpPr/>
          <p:nvPr/>
        </p:nvSpPr>
        <p:spPr>
          <a:xfrm>
            <a:off x="2651760" y="1234440"/>
            <a:ext cx="384048" cy="384048"/>
          </a:xfrm>
          <a:prstGeom prst="ellipse">
            <a:avLst/>
          </a:prstGeom>
          <a:solidFill>
            <a:schemeClr val="tx1"/>
          </a:solidFill>
          <a:ln w="12700">
            <a:solidFill>
              <a:schemeClr val="tx1"/>
            </a:solidFill>
            <a:prstDash val="solid"/>
          </a:ln>
        </p:spPr>
      </p:sp>
      <p:pic>
        <p:nvPicPr>
          <p:cNvPr id="16" name="Image 2" descr="preencoded.png">    </p:cNvPr>
          <p:cNvPicPr>
            <a:picLocks noChangeAspect="1"/>
          </p:cNvPicPr>
          <p:nvPr/>
        </p:nvPicPr>
        <p:blipFill>
          <a:blip r:embed="rId3"/>
          <a:stretch>
            <a:fillRect/>
          </a:stretch>
        </p:blipFill>
        <p:spPr>
          <a:xfrm>
            <a:off x="2743932" y="1326612"/>
            <a:ext cx="199705" cy="199705"/>
          </a:xfrm>
          <a:prstGeom prst="rect">
            <a:avLst/>
          </a:prstGeom>
        </p:spPr>
      </p:pic>
      <p:sp>
        <p:nvSpPr>
          <p:cNvPr id="17" name="Text 12"/>
          <p:cNvSpPr txBox="1"/>
          <p:nvPr/>
        </p:nvSpPr>
        <p:spPr>
          <a:xfrm>
            <a:off x="3108960" y="1234440"/>
            <a:ext cx="1143000" cy="384048"/>
          </a:xfrm>
          <a:prstGeom prst="rect">
            <a:avLst/>
          </a:prstGeom>
          <a:noFill/>
          <a:ln/>
        </p:spPr>
        <p:txBody>
          <a:bodyPr wrap="square" lIns="0" tIns="0" rIns="0" bIns="0" rtlCol="0" anchor="ctr"/>
          <a:lstStyle/>
          <a:p>
            <a:pPr indent="0" marL="0">
              <a:buNone/>
            </a:pPr>
            <a:r>
              <a:rPr lang="en-US" sz="1250" b="1" dirty="0">
                <a:solidFill>
                  <a:schemeClr val="tx1"/>
                </a:solidFill>
              </a:rPr>
              <a:t>Pre-processing</a:t>
            </a:r>
            <a:endParaRPr lang="en-US" sz="1250" dirty="0"/>
          </a:p>
        </p:txBody>
      </p:sp>
      <p:sp>
        <p:nvSpPr>
          <p:cNvPr id="18" name="Text 13"/>
          <p:cNvSpPr txBox="1"/>
          <p:nvPr/>
        </p:nvSpPr>
        <p:spPr>
          <a:xfrm>
            <a:off x="2624328" y="1737360"/>
            <a:ext cx="1645920" cy="26517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Cleaning &amp; Y/N encoding</a:t>
            </a:r>
            <a:endParaRPr lang="en-US" sz="1050" dirty="0"/>
          </a:p>
          <a:p>
            <a:pPr marL="152400" indent="-152400">
              <a:spcAft>
                <a:spcPts val="500"/>
              </a:spcAft>
              <a:buSzPct val="100000"/>
              <a:buChar char="•"/>
            </a:pPr>
            <a:r>
              <a:rPr lang="en-US" sz="1050" dirty="0">
                <a:solidFill>
                  <a:schemeClr val="tx2"/>
                </a:solidFill>
              </a:rPr>
              <a:t>Stratified 80/20 split</a:t>
            </a:r>
            <a:endParaRPr lang="en-US" sz="1050" dirty="0"/>
          </a:p>
          <a:p>
            <a:pPr marL="152400" indent="-152400">
              <a:spcAft>
                <a:spcPts val="500"/>
              </a:spcAft>
              <a:buSzPct val="100000"/>
              <a:buChar char="•"/>
            </a:pPr>
            <a:r>
              <a:rPr lang="en-US" sz="1050" dirty="0">
                <a:solidFill>
                  <a:schemeClr val="tx2"/>
                </a:solidFill>
              </a:rPr>
              <a:t>StandardScaler → MinMax</a:t>
            </a:r>
            <a:endParaRPr lang="en-US" sz="1050" dirty="0"/>
          </a:p>
          <a:p>
            <a:pPr marL="152400" indent="-152400">
              <a:spcAft>
                <a:spcPts val="500"/>
              </a:spcAft>
              <a:buSzPct val="100000"/>
              <a:buChar char="•"/>
            </a:pPr>
            <a:r>
              <a:rPr lang="en-US" sz="1050" dirty="0">
                <a:solidFill>
                  <a:schemeClr val="tx2"/>
                </a:solidFill>
              </a:rPr>
              <a:t>Random Oversampling (train)</a:t>
            </a:r>
            <a:endParaRPr lang="en-US" sz="1050" dirty="0"/>
          </a:p>
          <a:p>
            <a:pPr marL="152400" indent="-152400">
              <a:spcAft>
                <a:spcPts val="500"/>
              </a:spcAft>
              <a:buSzPct val="100000"/>
              <a:buChar char="•"/>
            </a:pPr>
            <a:r>
              <a:rPr lang="en-US" sz="1050" dirty="0">
                <a:solidFill>
                  <a:schemeClr val="tx2"/>
                </a:solidFill>
              </a:rPr>
              <a:t>Quintile discretization</a:t>
            </a:r>
            <a:endParaRPr lang="en-US" sz="1050" dirty="0"/>
          </a:p>
          <a:p>
            <a:pPr marL="152400" indent="-152400">
              <a:spcAft>
                <a:spcPts val="500"/>
              </a:spcAft>
              <a:buSzPct val="100000"/>
              <a:buChar char="•"/>
            </a:pPr>
            <a:r>
              <a:rPr lang="en-US" sz="1050" dirty="0">
                <a:solidFill>
                  <a:schemeClr val="tx2"/>
                </a:solidFill>
              </a:rPr>
              <a:t>Drop constant features</a:t>
            </a:r>
            <a:endParaRPr lang="en-US" sz="1050" dirty="0"/>
          </a:p>
        </p:txBody>
      </p:sp>
      <p:sp>
        <p:nvSpPr>
          <p:cNvPr id="19" name="Shape 14"/>
          <p:cNvSpPr/>
          <p:nvPr/>
        </p:nvSpPr>
        <p:spPr>
          <a:xfrm>
            <a:off x="4617720" y="1097280"/>
            <a:ext cx="2331720" cy="1600200"/>
          </a:xfrm>
          <a:prstGeom prst="roundRect">
            <a:avLst>
              <a:gd name="adj" fmla="val 4571"/>
            </a:avLst>
          </a:prstGeom>
          <a:solidFill>
            <a:schemeClr val="accent2">
              <a:alpha val="12000"/>
            </a:schemeClr>
          </a:solidFill>
          <a:ln w="12700">
            <a:solidFill>
              <a:schemeClr val="accent2"/>
            </a:solidFill>
            <a:prstDash val="solid"/>
          </a:ln>
        </p:spPr>
      </p:sp>
      <p:sp>
        <p:nvSpPr>
          <p:cNvPr id="20" name="Shape 15"/>
          <p:cNvSpPr/>
          <p:nvPr/>
        </p:nvSpPr>
        <p:spPr>
          <a:xfrm>
            <a:off x="4754880" y="1234440"/>
            <a:ext cx="384048" cy="384048"/>
          </a:xfrm>
          <a:prstGeom prst="ellipse">
            <a:avLst/>
          </a:prstGeom>
          <a:solidFill>
            <a:schemeClr val="accent2"/>
          </a:solidFill>
          <a:ln w="12700">
            <a:solidFill>
              <a:schemeClr val="accent2"/>
            </a:solidFill>
            <a:prstDash val="solid"/>
          </a:ln>
        </p:spPr>
      </p:sp>
      <p:pic>
        <p:nvPicPr>
          <p:cNvPr id="21" name="Image 3" descr="preencoded.png">    </p:cNvPr>
          <p:cNvPicPr>
            <a:picLocks noChangeAspect="1"/>
          </p:cNvPicPr>
          <p:nvPr/>
        </p:nvPicPr>
        <p:blipFill>
          <a:blip r:embed="rId4"/>
          <a:stretch>
            <a:fillRect/>
          </a:stretch>
        </p:blipFill>
        <p:spPr>
          <a:xfrm>
            <a:off x="4847052" y="1326612"/>
            <a:ext cx="199705" cy="199705"/>
          </a:xfrm>
          <a:prstGeom prst="rect">
            <a:avLst/>
          </a:prstGeom>
        </p:spPr>
      </p:pic>
      <p:sp>
        <p:nvSpPr>
          <p:cNvPr id="22" name="Text 16"/>
          <p:cNvSpPr txBox="1"/>
          <p:nvPr/>
        </p:nvSpPr>
        <p:spPr>
          <a:xfrm>
            <a:off x="5212080" y="1234440"/>
            <a:ext cx="1645920" cy="384048"/>
          </a:xfrm>
          <a:prstGeom prst="rect">
            <a:avLst/>
          </a:prstGeom>
          <a:noFill/>
          <a:ln/>
        </p:spPr>
        <p:txBody>
          <a:bodyPr wrap="square" lIns="0" tIns="0" rIns="0" bIns="0" rtlCol="0" anchor="ctr"/>
          <a:lstStyle/>
          <a:p>
            <a:pPr indent="0" marL="0">
              <a:buNone/>
            </a:pPr>
            <a:r>
              <a:rPr lang="en-US" sz="1250" b="1" dirty="0">
                <a:solidFill>
                  <a:schemeClr val="tx1"/>
                </a:solidFill>
              </a:rPr>
              <a:t>HNB engine</a:t>
            </a:r>
            <a:endParaRPr lang="en-US" sz="1250" dirty="0"/>
          </a:p>
        </p:txBody>
      </p:sp>
      <p:sp>
        <p:nvSpPr>
          <p:cNvPr id="23" name="Text 17"/>
          <p:cNvSpPr txBox="1"/>
          <p:nvPr/>
        </p:nvSpPr>
        <p:spPr>
          <a:xfrm>
            <a:off x="4727448" y="1691640"/>
            <a:ext cx="2148840" cy="9601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Priors P(c) + 15 pairwise CPTs</a:t>
            </a:r>
            <a:endParaRPr lang="en-US" sz="1050" dirty="0"/>
          </a:p>
          <a:p>
            <a:pPr marL="152400" indent="-152400">
              <a:spcAft>
                <a:spcPts val="500"/>
              </a:spcAft>
              <a:buSzPct val="100000"/>
              <a:buChar char="•"/>
            </a:pPr>
            <a:r>
              <a:rPr lang="en-US" sz="1050" dirty="0">
                <a:solidFill>
                  <a:schemeClr val="tx2"/>
                </a:solidFill>
              </a:rPr>
              <a:t>Interaction parameters</a:t>
            </a:r>
            <a:endParaRPr lang="en-US" sz="1050" dirty="0"/>
          </a:p>
          <a:p>
            <a:pPr marL="152400" indent="-152400">
              <a:spcAft>
                <a:spcPts val="500"/>
              </a:spcAft>
              <a:buSzPct val="100000"/>
              <a:buChar char="•"/>
            </a:pPr>
            <a:r>
              <a:rPr lang="en-US" sz="1050" dirty="0">
                <a:solidFill>
                  <a:schemeClr val="tx2"/>
                </a:solidFill>
              </a:rPr>
              <a:t>Averaged log-score → argmax</a:t>
            </a:r>
            <a:endParaRPr lang="en-US" sz="1050" dirty="0"/>
          </a:p>
        </p:txBody>
      </p:sp>
      <p:sp>
        <p:nvSpPr>
          <p:cNvPr id="24" name="Shape 18"/>
          <p:cNvSpPr/>
          <p:nvPr/>
        </p:nvSpPr>
        <p:spPr>
          <a:xfrm>
            <a:off x="4617720" y="2834640"/>
            <a:ext cx="2331720" cy="1645920"/>
          </a:xfrm>
          <a:prstGeom prst="roundRect">
            <a:avLst>
              <a:gd name="adj" fmla="val 4444"/>
            </a:avLst>
          </a:prstGeom>
          <a:solidFill>
            <a:schemeClr val="accent3">
              <a:alpha val="12000"/>
            </a:schemeClr>
          </a:solidFill>
          <a:ln w="12700">
            <a:solidFill>
              <a:schemeClr val="accent3"/>
            </a:solidFill>
            <a:prstDash val="solid"/>
          </a:ln>
        </p:spPr>
      </p:sp>
      <p:sp>
        <p:nvSpPr>
          <p:cNvPr id="25" name="Shape 19"/>
          <p:cNvSpPr/>
          <p:nvPr/>
        </p:nvSpPr>
        <p:spPr>
          <a:xfrm>
            <a:off x="4754880" y="2971800"/>
            <a:ext cx="384048" cy="384048"/>
          </a:xfrm>
          <a:prstGeom prst="ellipse">
            <a:avLst/>
          </a:prstGeom>
          <a:solidFill>
            <a:schemeClr val="accent3"/>
          </a:solidFill>
          <a:ln w="12700">
            <a:solidFill>
              <a:schemeClr val="accent3"/>
            </a:solidFill>
            <a:prstDash val="solid"/>
          </a:ln>
        </p:spPr>
      </p:sp>
      <p:pic>
        <p:nvPicPr>
          <p:cNvPr id="26" name="Image 4" descr="preencoded.png">    </p:cNvPr>
          <p:cNvPicPr>
            <a:picLocks noChangeAspect="1"/>
          </p:cNvPicPr>
          <p:nvPr/>
        </p:nvPicPr>
        <p:blipFill>
          <a:blip r:embed="rId5"/>
          <a:stretch>
            <a:fillRect/>
          </a:stretch>
        </p:blipFill>
        <p:spPr>
          <a:xfrm>
            <a:off x="4847052" y="3063972"/>
            <a:ext cx="199705" cy="199705"/>
          </a:xfrm>
          <a:prstGeom prst="rect">
            <a:avLst/>
          </a:prstGeom>
        </p:spPr>
      </p:pic>
      <p:sp>
        <p:nvSpPr>
          <p:cNvPr id="27" name="Text 20"/>
          <p:cNvSpPr txBox="1"/>
          <p:nvPr/>
        </p:nvSpPr>
        <p:spPr>
          <a:xfrm>
            <a:off x="5212080" y="2971800"/>
            <a:ext cx="1645920" cy="384048"/>
          </a:xfrm>
          <a:prstGeom prst="rect">
            <a:avLst/>
          </a:prstGeom>
          <a:noFill/>
          <a:ln/>
        </p:spPr>
        <p:txBody>
          <a:bodyPr wrap="square" lIns="0" tIns="0" rIns="0" bIns="0" rtlCol="0" anchor="ctr"/>
          <a:lstStyle/>
          <a:p>
            <a:pPr indent="0" marL="0">
              <a:buNone/>
            </a:pPr>
            <a:r>
              <a:rPr lang="en-US" sz="1250" b="1" dirty="0">
                <a:solidFill>
                  <a:schemeClr val="tx1"/>
                </a:solidFill>
              </a:rPr>
              <a:t>BBN engine</a:t>
            </a:r>
            <a:endParaRPr lang="en-US" sz="1250" dirty="0"/>
          </a:p>
        </p:txBody>
      </p:sp>
      <p:sp>
        <p:nvSpPr>
          <p:cNvPr id="28" name="Text 21"/>
          <p:cNvSpPr txBox="1"/>
          <p:nvPr/>
        </p:nvSpPr>
        <p:spPr>
          <a:xfrm>
            <a:off x="4727448" y="3429000"/>
            <a:ext cx="2148840" cy="1005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Expert DAG: 7 nodes, 7 edges</a:t>
            </a:r>
            <a:endParaRPr lang="en-US" sz="1050" dirty="0"/>
          </a:p>
          <a:p>
            <a:pPr marL="152400" indent="-152400">
              <a:spcAft>
                <a:spcPts val="500"/>
              </a:spcAft>
              <a:buSzPct val="100000"/>
              <a:buChar char="•"/>
            </a:pPr>
            <a:r>
              <a:rPr lang="en-US" sz="1050" dirty="0">
                <a:solidFill>
                  <a:schemeClr val="tx2"/>
                </a:solidFill>
              </a:rPr>
              <a:t>MLE CPDs · Variable Elimination</a:t>
            </a:r>
            <a:endParaRPr lang="en-US" sz="1050" dirty="0"/>
          </a:p>
          <a:p>
            <a:pPr marL="152400" indent="-152400">
              <a:spcAft>
                <a:spcPts val="500"/>
              </a:spcAft>
              <a:buSzPct val="100000"/>
              <a:buChar char="•"/>
            </a:pPr>
            <a:r>
              <a:rPr lang="en-US" sz="1050" dirty="0">
                <a:solidFill>
                  <a:schemeClr val="tx2"/>
                </a:solidFill>
              </a:rPr>
              <a:t>P(fraud | evidence) ≥ 0.5</a:t>
            </a:r>
            <a:endParaRPr lang="en-US" sz="1050" dirty="0"/>
          </a:p>
        </p:txBody>
      </p:sp>
      <p:sp>
        <p:nvSpPr>
          <p:cNvPr id="29" name="Shape 22"/>
          <p:cNvSpPr/>
          <p:nvPr/>
        </p:nvSpPr>
        <p:spPr>
          <a:xfrm>
            <a:off x="7223760" y="1097280"/>
            <a:ext cx="1463040" cy="3383280"/>
          </a:xfrm>
          <a:prstGeom prst="roundRect">
            <a:avLst>
              <a:gd name="adj" fmla="val 5000"/>
            </a:avLst>
          </a:prstGeom>
          <a:solidFill>
            <a:schemeClr val="bg2"/>
          </a:solidFill>
          <a:ln w="12700">
            <a:solidFill>
              <a:schemeClr val="bg2"/>
            </a:solidFill>
            <a:prstDash val="solid"/>
          </a:ln>
        </p:spPr>
      </p:sp>
      <p:sp>
        <p:nvSpPr>
          <p:cNvPr id="30" name="Shape 23"/>
          <p:cNvSpPr/>
          <p:nvPr/>
        </p:nvSpPr>
        <p:spPr>
          <a:xfrm>
            <a:off x="7360920" y="1234440"/>
            <a:ext cx="384048" cy="384048"/>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7453092" y="1326612"/>
            <a:ext cx="199705" cy="199705"/>
          </a:xfrm>
          <a:prstGeom prst="rect">
            <a:avLst/>
          </a:prstGeom>
        </p:spPr>
      </p:pic>
      <p:sp>
        <p:nvSpPr>
          <p:cNvPr id="32" name="Text 24"/>
          <p:cNvSpPr txBox="1"/>
          <p:nvPr/>
        </p:nvSpPr>
        <p:spPr>
          <a:xfrm>
            <a:off x="7818120" y="1234440"/>
            <a:ext cx="777240" cy="384048"/>
          </a:xfrm>
          <a:prstGeom prst="rect">
            <a:avLst/>
          </a:prstGeom>
          <a:noFill/>
          <a:ln/>
        </p:spPr>
        <p:txBody>
          <a:bodyPr wrap="square" lIns="0" tIns="0" rIns="0" bIns="0" rtlCol="0" anchor="ctr"/>
          <a:lstStyle/>
          <a:p>
            <a:pPr indent="0" marL="0">
              <a:buNone/>
            </a:pPr>
            <a:r>
              <a:rPr lang="en-US" sz="1250" b="1" dirty="0">
                <a:solidFill>
                  <a:schemeClr val="tx1"/>
                </a:solidFill>
              </a:rPr>
              <a:t>Evaluation</a:t>
            </a:r>
            <a:endParaRPr lang="en-US" sz="1250" dirty="0"/>
          </a:p>
        </p:txBody>
      </p:sp>
      <p:sp>
        <p:nvSpPr>
          <p:cNvPr id="33" name="Text 25"/>
          <p:cNvSpPr txBox="1"/>
          <p:nvPr/>
        </p:nvSpPr>
        <p:spPr>
          <a:xfrm>
            <a:off x="7315200" y="1737360"/>
            <a:ext cx="1325880" cy="26517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2"/>
                </a:solidFill>
              </a:rPr>
              <a:t>Confusion matrix</a:t>
            </a:r>
            <a:endParaRPr lang="en-US" sz="1050" dirty="0"/>
          </a:p>
          <a:p>
            <a:pPr marL="152400" indent="-152400">
              <a:spcAft>
                <a:spcPts val="500"/>
              </a:spcAft>
              <a:buSzPct val="100000"/>
              <a:buChar char="•"/>
            </a:pPr>
            <a:r>
              <a:rPr lang="en-US" sz="1050" dirty="0">
                <a:solidFill>
                  <a:schemeClr val="tx2"/>
                </a:solidFill>
              </a:rPr>
              <a:t>Accuracy</a:t>
            </a:r>
            <a:endParaRPr lang="en-US" sz="1050" dirty="0"/>
          </a:p>
          <a:p>
            <a:pPr marL="152400" indent="-152400">
              <a:spcAft>
                <a:spcPts val="500"/>
              </a:spcAft>
              <a:buSzPct val="100000"/>
              <a:buChar char="•"/>
            </a:pPr>
            <a:r>
              <a:rPr lang="en-US" sz="1050" dirty="0">
                <a:solidFill>
                  <a:schemeClr val="tx2"/>
                </a:solidFill>
              </a:rPr>
              <a:t>Precision · Recall</a:t>
            </a:r>
            <a:endParaRPr lang="en-US" sz="1050" dirty="0"/>
          </a:p>
          <a:p>
            <a:pPr marL="152400" indent="-152400">
              <a:spcAft>
                <a:spcPts val="500"/>
              </a:spcAft>
              <a:buSzPct val="100000"/>
              <a:buChar char="•"/>
            </a:pPr>
            <a:r>
              <a:rPr lang="en-US" sz="1050" dirty="0">
                <a:solidFill>
                  <a:schemeClr val="tx2"/>
                </a:solidFill>
              </a:rPr>
              <a:t>F1-score</a:t>
            </a:r>
            <a:endParaRPr lang="en-US" sz="1050" dirty="0"/>
          </a:p>
          <a:p>
            <a:pPr marL="152400" indent="-152400">
              <a:spcAft>
                <a:spcPts val="500"/>
              </a:spcAft>
              <a:buSzPct val="100000"/>
              <a:buChar char="•"/>
            </a:pPr>
            <a:r>
              <a:rPr lang="en-US" sz="1050" dirty="0">
                <a:solidFill>
                  <a:schemeClr val="tx2"/>
                </a:solidFill>
              </a:rPr>
              <a:t>Comparison with paper</a:t>
            </a:r>
            <a:endParaRPr lang="en-US" sz="1050" dirty="0"/>
          </a:p>
        </p:txBody>
      </p:sp>
      <p:sp>
        <p:nvSpPr>
          <p:cNvPr id="34" name="Shape 26"/>
          <p:cNvSpPr/>
          <p:nvPr/>
        </p:nvSpPr>
        <p:spPr>
          <a:xfrm>
            <a:off x="2258568" y="1892808"/>
            <a:ext cx="237744" cy="0"/>
          </a:xfrm>
          <a:prstGeom prst="line">
            <a:avLst/>
          </a:prstGeom>
          <a:noFill/>
          <a:ln w="19050">
            <a:solidFill>
              <a:schemeClr val="tx2"/>
            </a:solidFill>
            <a:prstDash val="solid"/>
            <a:tailEnd type="triangle"/>
          </a:ln>
        </p:spPr>
      </p:sp>
      <p:sp>
        <p:nvSpPr>
          <p:cNvPr id="35" name="Shape 27"/>
          <p:cNvSpPr/>
          <p:nvPr/>
        </p:nvSpPr>
        <p:spPr>
          <a:xfrm>
            <a:off x="4361688" y="1892808"/>
            <a:ext cx="237744" cy="0"/>
          </a:xfrm>
          <a:prstGeom prst="line">
            <a:avLst/>
          </a:prstGeom>
          <a:noFill/>
          <a:ln w="19050">
            <a:solidFill>
              <a:schemeClr val="tx2"/>
            </a:solidFill>
            <a:prstDash val="solid"/>
            <a:tailEnd type="triangle"/>
          </a:ln>
        </p:spPr>
      </p:sp>
      <p:sp>
        <p:nvSpPr>
          <p:cNvPr id="36" name="Shape 28"/>
          <p:cNvSpPr/>
          <p:nvPr/>
        </p:nvSpPr>
        <p:spPr>
          <a:xfrm>
            <a:off x="4361688" y="3657600"/>
            <a:ext cx="237744" cy="0"/>
          </a:xfrm>
          <a:prstGeom prst="line">
            <a:avLst/>
          </a:prstGeom>
          <a:noFill/>
          <a:ln w="19050">
            <a:solidFill>
              <a:schemeClr val="tx2"/>
            </a:solidFill>
            <a:prstDash val="solid"/>
            <a:tailEnd type="triangle"/>
          </a:ln>
        </p:spPr>
      </p:sp>
      <p:sp>
        <p:nvSpPr>
          <p:cNvPr id="37" name="Shape 29"/>
          <p:cNvSpPr/>
          <p:nvPr/>
        </p:nvSpPr>
        <p:spPr>
          <a:xfrm>
            <a:off x="6967728" y="1892808"/>
            <a:ext cx="237744" cy="0"/>
          </a:xfrm>
          <a:prstGeom prst="line">
            <a:avLst/>
          </a:prstGeom>
          <a:noFill/>
          <a:ln w="19050">
            <a:solidFill>
              <a:schemeClr val="tx2"/>
            </a:solidFill>
            <a:prstDash val="solid"/>
            <a:tailEnd type="triangle"/>
          </a:ln>
        </p:spPr>
      </p:sp>
      <p:sp>
        <p:nvSpPr>
          <p:cNvPr id="38" name="Shape 30"/>
          <p:cNvSpPr/>
          <p:nvPr/>
        </p:nvSpPr>
        <p:spPr>
          <a:xfrm>
            <a:off x="6967728" y="3657600"/>
            <a:ext cx="237744" cy="0"/>
          </a:xfrm>
          <a:prstGeom prst="line">
            <a:avLst/>
          </a:prstGeom>
          <a:noFill/>
          <a:ln w="19050">
            <a:solidFill>
              <a:schemeClr val="tx2"/>
            </a:solidFill>
            <a:prstDash val="solid"/>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MODEL 1</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Hidden Naive Bayes (HNB)</a:t>
            </a:r>
            <a:endParaRPr lang="en-US" sz="2600" dirty="0"/>
          </a:p>
        </p:txBody>
      </p:sp>
      <p:sp>
        <p:nvSpPr>
          <p:cNvPr id="4" name="Text 2"/>
          <p:cNvSpPr txBox="1"/>
          <p:nvPr/>
        </p:nvSpPr>
        <p:spPr>
          <a:xfrm>
            <a:off x="457200" y="1097280"/>
            <a:ext cx="4114800" cy="685800"/>
          </a:xfrm>
          <a:prstGeom prst="rect">
            <a:avLst/>
          </a:prstGeom>
          <a:noFill/>
          <a:ln/>
        </p:spPr>
        <p:txBody>
          <a:bodyPr wrap="square" lIns="0" tIns="0" rIns="0" bIns="0" rtlCol="0" anchor="t"/>
          <a:lstStyle/>
          <a:p>
            <a:pPr indent="0" marL="0">
              <a:buNone/>
            </a:pPr>
            <a:r>
              <a:rPr lang="en-US" sz="1200" dirty="0">
                <a:solidFill>
                  <a:schemeClr val="tx2"/>
                </a:solidFill>
              </a:rPr>
              <a:t>Relaxes Naive Bayes' independence assumption: each feature's dependence on the other features is captured through pairwise class-conditional probabilities.</a:t>
            </a:r>
            <a:endParaRPr lang="en-US" sz="1200" dirty="0"/>
          </a:p>
        </p:txBody>
      </p:sp>
      <p:sp>
        <p:nvSpPr>
          <p:cNvPr id="5" name="Shape 3"/>
          <p:cNvSpPr/>
          <p:nvPr/>
        </p:nvSpPr>
        <p:spPr>
          <a:xfrm>
            <a:off x="457200" y="1901952"/>
            <a:ext cx="384048" cy="384048"/>
          </a:xfrm>
          <a:prstGeom prst="ellipse">
            <a:avLst/>
          </a:prstGeom>
          <a:solidFill>
            <a:schemeClr val="accent2"/>
          </a:solidFill>
          <a:ln w="12700">
            <a:solidFill>
              <a:schemeClr val="accent2"/>
            </a:solidFill>
            <a:prstDash val="solid"/>
          </a:ln>
        </p:spPr>
      </p:sp>
      <p:sp>
        <p:nvSpPr>
          <p:cNvPr id="6" name="Text 4"/>
          <p:cNvSpPr txBox="1"/>
          <p:nvPr/>
        </p:nvSpPr>
        <p:spPr>
          <a:xfrm>
            <a:off x="457200" y="19019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005840" y="1874520"/>
            <a:ext cx="3566160" cy="256032"/>
          </a:xfrm>
          <a:prstGeom prst="rect">
            <a:avLst/>
          </a:prstGeom>
          <a:noFill/>
          <a:ln/>
        </p:spPr>
        <p:txBody>
          <a:bodyPr wrap="square" lIns="0" tIns="0" rIns="0" bIns="0" rtlCol="0" anchor="t"/>
          <a:lstStyle/>
          <a:p>
            <a:pPr indent="0" marL="0">
              <a:buNone/>
            </a:pPr>
            <a:r>
              <a:rPr lang="en-US" sz="1250" b="1" dirty="0">
                <a:solidFill>
                  <a:schemeClr val="tx1"/>
                </a:solidFill>
              </a:rPr>
              <a:t>Class priors</a:t>
            </a:r>
            <a:endParaRPr lang="en-US" sz="1250" dirty="0"/>
          </a:p>
        </p:txBody>
      </p:sp>
      <p:sp>
        <p:nvSpPr>
          <p:cNvPr id="8" name="Text 6"/>
          <p:cNvSpPr txBox="1"/>
          <p:nvPr/>
        </p:nvSpPr>
        <p:spPr>
          <a:xfrm>
            <a:off x="1005840" y="2130552"/>
            <a:ext cx="3566160" cy="365760"/>
          </a:xfrm>
          <a:prstGeom prst="rect">
            <a:avLst/>
          </a:prstGeom>
          <a:noFill/>
          <a:ln/>
        </p:spPr>
        <p:txBody>
          <a:bodyPr wrap="square" lIns="0" tIns="0" rIns="0" bIns="0" rtlCol="0" anchor="t"/>
          <a:lstStyle/>
          <a:p>
            <a:pPr indent="0" marL="0">
              <a:buNone/>
            </a:pPr>
            <a:r>
              <a:rPr lang="en-US" sz="1050" dirty="0">
                <a:solidFill>
                  <a:schemeClr val="tx2"/>
                </a:solidFill>
              </a:rPr>
              <a:t>P(Legit) = P(Fraud) = 0.50 after oversampling</a:t>
            </a:r>
            <a:endParaRPr lang="en-US" sz="1050" dirty="0"/>
          </a:p>
        </p:txBody>
      </p:sp>
      <p:sp>
        <p:nvSpPr>
          <p:cNvPr id="9" name="Shape 7"/>
          <p:cNvSpPr/>
          <p:nvPr/>
        </p:nvSpPr>
        <p:spPr>
          <a:xfrm>
            <a:off x="457200" y="2587752"/>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457200" y="2587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1005840" y="2560320"/>
            <a:ext cx="3566160" cy="256032"/>
          </a:xfrm>
          <a:prstGeom prst="rect">
            <a:avLst/>
          </a:prstGeom>
          <a:noFill/>
          <a:ln/>
        </p:spPr>
        <p:txBody>
          <a:bodyPr wrap="square" lIns="0" tIns="0" rIns="0" bIns="0" rtlCol="0" anchor="t"/>
          <a:lstStyle/>
          <a:p>
            <a:pPr indent="0" marL="0">
              <a:buNone/>
            </a:pPr>
            <a:r>
              <a:rPr lang="en-US" sz="1250" b="1" dirty="0">
                <a:solidFill>
                  <a:schemeClr val="tx1"/>
                </a:solidFill>
              </a:rPr>
              <a:t>Pairwise CPTs</a:t>
            </a:r>
            <a:endParaRPr lang="en-US" sz="1250" dirty="0"/>
          </a:p>
        </p:txBody>
      </p:sp>
      <p:sp>
        <p:nvSpPr>
          <p:cNvPr id="12" name="Text 10"/>
          <p:cNvSpPr txBox="1"/>
          <p:nvPr/>
        </p:nvSpPr>
        <p:spPr>
          <a:xfrm>
            <a:off x="1005840" y="2816352"/>
            <a:ext cx="3566160" cy="365760"/>
          </a:xfrm>
          <a:prstGeom prst="rect">
            <a:avLst/>
          </a:prstGeom>
          <a:noFill/>
          <a:ln/>
        </p:spPr>
        <p:txBody>
          <a:bodyPr wrap="square" lIns="0" tIns="0" rIns="0" bIns="0" rtlCol="0" anchor="t"/>
          <a:lstStyle/>
          <a:p>
            <a:pPr indent="0" marL="0">
              <a:buNone/>
            </a:pPr>
            <a:r>
              <a:rPr lang="en-US" sz="1050" dirty="0">
                <a:solidFill>
                  <a:schemeClr val="tx2"/>
                </a:solidFill>
              </a:rPr>
              <a:t>P(aᵢ, aⱼ | c) for 6 features → 15 feature pairs</a:t>
            </a:r>
            <a:endParaRPr lang="en-US" sz="1050" dirty="0"/>
          </a:p>
        </p:txBody>
      </p:sp>
      <p:sp>
        <p:nvSpPr>
          <p:cNvPr id="13" name="Shape 11"/>
          <p:cNvSpPr/>
          <p:nvPr/>
        </p:nvSpPr>
        <p:spPr>
          <a:xfrm>
            <a:off x="457200" y="3273552"/>
            <a:ext cx="384048" cy="384048"/>
          </a:xfrm>
          <a:prstGeom prst="ellipse">
            <a:avLst/>
          </a:prstGeom>
          <a:solidFill>
            <a:schemeClr val="accent2"/>
          </a:solidFill>
          <a:ln w="12700">
            <a:solidFill>
              <a:schemeClr val="accent2"/>
            </a:solidFill>
            <a:prstDash val="solid"/>
          </a:ln>
        </p:spPr>
      </p:sp>
      <p:sp>
        <p:nvSpPr>
          <p:cNvPr id="14" name="Text 12"/>
          <p:cNvSpPr txBox="1"/>
          <p:nvPr/>
        </p:nvSpPr>
        <p:spPr>
          <a:xfrm>
            <a:off x="457200" y="32735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005840" y="3246120"/>
            <a:ext cx="3566160" cy="256032"/>
          </a:xfrm>
          <a:prstGeom prst="rect">
            <a:avLst/>
          </a:prstGeom>
          <a:noFill/>
          <a:ln/>
        </p:spPr>
        <p:txBody>
          <a:bodyPr wrap="square" lIns="0" tIns="0" rIns="0" bIns="0" rtlCol="0" anchor="t"/>
          <a:lstStyle/>
          <a:p>
            <a:pPr indent="0" marL="0">
              <a:buNone/>
            </a:pPr>
            <a:r>
              <a:rPr lang="en-US" sz="1250" b="1" dirty="0">
                <a:solidFill>
                  <a:schemeClr val="tx1"/>
                </a:solidFill>
              </a:rPr>
              <a:t>Interaction parameter</a:t>
            </a:r>
            <a:endParaRPr lang="en-US" sz="1250" dirty="0"/>
          </a:p>
        </p:txBody>
      </p:sp>
      <p:sp>
        <p:nvSpPr>
          <p:cNvPr id="16" name="Text 14"/>
          <p:cNvSpPr txBox="1"/>
          <p:nvPr/>
        </p:nvSpPr>
        <p:spPr>
          <a:xfrm>
            <a:off x="1005840" y="3502152"/>
            <a:ext cx="3566160" cy="365760"/>
          </a:xfrm>
          <a:prstGeom prst="rect">
            <a:avLst/>
          </a:prstGeom>
          <a:noFill/>
          <a:ln/>
        </p:spPr>
        <p:txBody>
          <a:bodyPr wrap="square" lIns="0" tIns="0" rIns="0" bIns="0" rtlCol="0" anchor="t"/>
          <a:lstStyle/>
          <a:p>
            <a:pPr indent="0" marL="0">
              <a:buNone/>
            </a:pPr>
            <a:r>
              <a:rPr lang="en-US" sz="1050" dirty="0">
                <a:solidFill>
                  <a:schemeClr val="tx2"/>
                </a:solidFill>
              </a:rPr>
              <a:t>IP = P(aᵢ, aⱼ | c) / [P(aᵢ | c) · P(aⱼ | c)]</a:t>
            </a:r>
            <a:endParaRPr lang="en-US" sz="1050" dirty="0"/>
          </a:p>
        </p:txBody>
      </p:sp>
      <p:sp>
        <p:nvSpPr>
          <p:cNvPr id="17" name="Shape 15"/>
          <p:cNvSpPr/>
          <p:nvPr/>
        </p:nvSpPr>
        <p:spPr>
          <a:xfrm>
            <a:off x="457200" y="3959352"/>
            <a:ext cx="384048" cy="384048"/>
          </a:xfrm>
          <a:prstGeom prst="ellipse">
            <a:avLst/>
          </a:prstGeom>
          <a:solidFill>
            <a:schemeClr val="accent2"/>
          </a:solidFill>
          <a:ln w="12700">
            <a:solidFill>
              <a:schemeClr val="accent2"/>
            </a:solidFill>
            <a:prstDash val="solid"/>
          </a:ln>
        </p:spPr>
      </p:sp>
      <p:sp>
        <p:nvSpPr>
          <p:cNvPr id="18" name="Text 16"/>
          <p:cNvSpPr txBox="1"/>
          <p:nvPr/>
        </p:nvSpPr>
        <p:spPr>
          <a:xfrm>
            <a:off x="457200" y="39593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 17"/>
          <p:cNvSpPr txBox="1"/>
          <p:nvPr/>
        </p:nvSpPr>
        <p:spPr>
          <a:xfrm>
            <a:off x="1005840" y="3931920"/>
            <a:ext cx="3566160" cy="256032"/>
          </a:xfrm>
          <a:prstGeom prst="rect">
            <a:avLst/>
          </a:prstGeom>
          <a:noFill/>
          <a:ln/>
        </p:spPr>
        <p:txBody>
          <a:bodyPr wrap="square" lIns="0" tIns="0" rIns="0" bIns="0" rtlCol="0" anchor="t"/>
          <a:lstStyle/>
          <a:p>
            <a:pPr indent="0" marL="0">
              <a:buNone/>
            </a:pPr>
            <a:r>
              <a:rPr lang="en-US" sz="1250" b="1" dirty="0">
                <a:solidFill>
                  <a:schemeClr val="tx1"/>
                </a:solidFill>
              </a:rPr>
              <a:t>Decision</a:t>
            </a:r>
            <a:endParaRPr lang="en-US" sz="1250" dirty="0"/>
          </a:p>
        </p:txBody>
      </p:sp>
      <p:sp>
        <p:nvSpPr>
          <p:cNvPr id="20" name="Text 18"/>
          <p:cNvSpPr txBox="1"/>
          <p:nvPr/>
        </p:nvSpPr>
        <p:spPr>
          <a:xfrm>
            <a:off x="1005840" y="4187952"/>
            <a:ext cx="3566160" cy="365760"/>
          </a:xfrm>
          <a:prstGeom prst="rect">
            <a:avLst/>
          </a:prstGeom>
          <a:noFill/>
          <a:ln/>
        </p:spPr>
        <p:txBody>
          <a:bodyPr wrap="square" lIns="0" tIns="0" rIns="0" bIns="0" rtlCol="0" anchor="t"/>
          <a:lstStyle/>
          <a:p>
            <a:pPr indent="0" marL="0">
              <a:buNone/>
            </a:pPr>
            <a:r>
              <a:rPr lang="en-US" sz="1050" dirty="0">
                <a:solidFill>
                  <a:schemeClr val="tx2"/>
                </a:solidFill>
              </a:rPr>
              <a:t>score(c) = [log P(c) + Σ log P(aᵢ, aⱼ | c)] / 16 → argmax</a:t>
            </a:r>
            <a:endParaRPr lang="en-US" sz="1050" dirty="0"/>
          </a:p>
        </p:txBody>
      </p:sp>
      <p:graphicFrame>
        <p:nvGraphicFramePr>
          <p:cNvPr id="21" name="Chart 0" descr=""/>
          <p:cNvGraphicFramePr/>
          <p:nvPr/>
        </p:nvGraphicFramePr>
        <p:xfrm>
          <a:off x="4754880" y="1051560"/>
          <a:ext cx="4023360" cy="306324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4846320" y="4160520"/>
            <a:ext cx="3840480" cy="548640"/>
          </a:xfrm>
          <a:prstGeom prst="rect">
            <a:avLst/>
          </a:prstGeom>
          <a:noFill/>
          <a:ln/>
        </p:spPr>
        <p:txBody>
          <a:bodyPr wrap="square" lIns="0" tIns="0" rIns="0" bIns="0" rtlCol="0" anchor="t"/>
          <a:lstStyle/>
          <a:p>
            <a:pPr indent="0" marL="0">
              <a:buNone/>
            </a:pPr>
            <a:r>
              <a:rPr lang="en-US" sz="1000" i="1" dirty="0">
                <a:solidFill>
                  <a:schemeClr val="tx2"/>
                </a:solidFill>
              </a:rPr>
              <a:t>IP = 1 means independent. "Declined" and "High-risk country" occur together 38× more often than independence predicts, which a plain Naive Bayes would miss.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MODEL 2</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Bayesian Belief Network (BBN)</a:t>
            </a:r>
            <a:endParaRPr lang="en-US" sz="2600" dirty="0"/>
          </a:p>
        </p:txBody>
      </p:sp>
      <p:sp>
        <p:nvSpPr>
          <p:cNvPr id="4" name="Shape 2"/>
          <p:cNvSpPr/>
          <p:nvPr/>
        </p:nvSpPr>
        <p:spPr>
          <a:xfrm>
            <a:off x="457200" y="1124712"/>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457200" y="11247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05840" y="1097280"/>
            <a:ext cx="3108960" cy="256032"/>
          </a:xfrm>
          <a:prstGeom prst="rect">
            <a:avLst/>
          </a:prstGeom>
          <a:noFill/>
          <a:ln/>
        </p:spPr>
        <p:txBody>
          <a:bodyPr wrap="square" lIns="0" tIns="0" rIns="0" bIns="0" rtlCol="0" anchor="t"/>
          <a:lstStyle/>
          <a:p>
            <a:pPr indent="0" marL="0">
              <a:buNone/>
            </a:pPr>
            <a:r>
              <a:rPr lang="en-US" sz="1250" b="1" dirty="0">
                <a:solidFill>
                  <a:schemeClr val="tx1"/>
                </a:solidFill>
              </a:rPr>
              <a:t>Structure</a:t>
            </a:r>
            <a:endParaRPr lang="en-US" sz="1250" dirty="0"/>
          </a:p>
        </p:txBody>
      </p:sp>
      <p:sp>
        <p:nvSpPr>
          <p:cNvPr id="7" name="Text 5"/>
          <p:cNvSpPr txBox="1"/>
          <p:nvPr/>
        </p:nvSpPr>
        <p:spPr>
          <a:xfrm>
            <a:off x="1005840" y="1353312"/>
            <a:ext cx="3108960" cy="438912"/>
          </a:xfrm>
          <a:prstGeom prst="rect">
            <a:avLst/>
          </a:prstGeom>
          <a:noFill/>
          <a:ln/>
        </p:spPr>
        <p:txBody>
          <a:bodyPr wrap="square" lIns="0" tIns="0" rIns="0" bIns="0" rtlCol="0" anchor="t"/>
          <a:lstStyle/>
          <a:p>
            <a:pPr indent="0" marL="0">
              <a:buNone/>
            </a:pPr>
            <a:r>
              <a:rPr lang="en-US" sz="1050" dirty="0">
                <a:solidFill>
                  <a:schemeClr val="tx2"/>
                </a:solidFill>
              </a:rPr>
              <a:t>Expert-defined DAG: 7 nodes, 7 directed edges (pgmpy DiscreteBayesianNetwork)</a:t>
            </a:r>
            <a:endParaRPr lang="en-US" sz="1050" dirty="0"/>
          </a:p>
        </p:txBody>
      </p:sp>
      <p:sp>
        <p:nvSpPr>
          <p:cNvPr id="8" name="Shape 6"/>
          <p:cNvSpPr/>
          <p:nvPr/>
        </p:nvSpPr>
        <p:spPr>
          <a:xfrm>
            <a:off x="457200" y="1856232"/>
            <a:ext cx="384048" cy="384048"/>
          </a:xfrm>
          <a:prstGeom prst="ellipse">
            <a:avLst/>
          </a:prstGeom>
          <a:solidFill>
            <a:schemeClr val="accent3"/>
          </a:solidFill>
          <a:ln w="12700">
            <a:solidFill>
              <a:schemeClr val="accent3"/>
            </a:solidFill>
            <a:prstDash val="solid"/>
          </a:ln>
        </p:spPr>
      </p:sp>
      <p:sp>
        <p:nvSpPr>
          <p:cNvPr id="9" name="Text 7"/>
          <p:cNvSpPr txBox="1"/>
          <p:nvPr/>
        </p:nvSpPr>
        <p:spPr>
          <a:xfrm>
            <a:off x="45720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005840" y="1828800"/>
            <a:ext cx="3108960" cy="256032"/>
          </a:xfrm>
          <a:prstGeom prst="rect">
            <a:avLst/>
          </a:prstGeom>
          <a:noFill/>
          <a:ln/>
        </p:spPr>
        <p:txBody>
          <a:bodyPr wrap="square" lIns="0" tIns="0" rIns="0" bIns="0" rtlCol="0" anchor="t"/>
          <a:lstStyle/>
          <a:p>
            <a:pPr indent="0" marL="0">
              <a:buNone/>
            </a:pPr>
            <a:r>
              <a:rPr lang="en-US" sz="1250" b="1" dirty="0">
                <a:solidFill>
                  <a:schemeClr val="tx1"/>
                </a:solidFill>
              </a:rPr>
              <a:t>Parameter learning</a:t>
            </a:r>
            <a:endParaRPr lang="en-US" sz="1250" dirty="0"/>
          </a:p>
        </p:txBody>
      </p:sp>
      <p:sp>
        <p:nvSpPr>
          <p:cNvPr id="11" name="Text 9"/>
          <p:cNvSpPr txBox="1"/>
          <p:nvPr/>
        </p:nvSpPr>
        <p:spPr>
          <a:xfrm>
            <a:off x="1005840" y="2084832"/>
            <a:ext cx="3108960" cy="438912"/>
          </a:xfrm>
          <a:prstGeom prst="rect">
            <a:avLst/>
          </a:prstGeom>
          <a:noFill/>
          <a:ln/>
        </p:spPr>
        <p:txBody>
          <a:bodyPr wrap="square" lIns="0" tIns="0" rIns="0" bIns="0" rtlCol="0" anchor="t"/>
          <a:lstStyle/>
          <a:p>
            <a:pPr indent="0" marL="0">
              <a:buNone/>
            </a:pPr>
            <a:r>
              <a:rPr lang="en-US" sz="1050" dirty="0">
                <a:solidFill>
                  <a:schemeClr val="tx2"/>
                </a:solidFill>
              </a:rPr>
              <a:t>Maximum Likelihood Estimation of 7 CPDs from 4,204 balanced rows; model check: valid</a:t>
            </a:r>
            <a:endParaRPr lang="en-US" sz="1050" dirty="0"/>
          </a:p>
        </p:txBody>
      </p:sp>
      <p:sp>
        <p:nvSpPr>
          <p:cNvPr id="12" name="Shape 10"/>
          <p:cNvSpPr/>
          <p:nvPr/>
        </p:nvSpPr>
        <p:spPr>
          <a:xfrm>
            <a:off x="457200" y="2587752"/>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457200" y="2587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005840" y="2560320"/>
            <a:ext cx="3108960" cy="256032"/>
          </a:xfrm>
          <a:prstGeom prst="rect">
            <a:avLst/>
          </a:prstGeom>
          <a:noFill/>
          <a:ln/>
        </p:spPr>
        <p:txBody>
          <a:bodyPr wrap="square" lIns="0" tIns="0" rIns="0" bIns="0" rtlCol="0" anchor="t"/>
          <a:lstStyle/>
          <a:p>
            <a:pPr indent="0" marL="0">
              <a:buNone/>
            </a:pPr>
            <a:r>
              <a:rPr lang="en-US" sz="1250" b="1" dirty="0">
                <a:solidFill>
                  <a:schemeClr val="tx1"/>
                </a:solidFill>
              </a:rPr>
              <a:t>Inference</a:t>
            </a:r>
            <a:endParaRPr lang="en-US" sz="1250" dirty="0"/>
          </a:p>
        </p:txBody>
      </p:sp>
      <p:sp>
        <p:nvSpPr>
          <p:cNvPr id="15" name="Text 13"/>
          <p:cNvSpPr txBox="1"/>
          <p:nvPr/>
        </p:nvSpPr>
        <p:spPr>
          <a:xfrm>
            <a:off x="1005840" y="2816352"/>
            <a:ext cx="3108960" cy="438912"/>
          </a:xfrm>
          <a:prstGeom prst="rect">
            <a:avLst/>
          </a:prstGeom>
          <a:noFill/>
          <a:ln/>
        </p:spPr>
        <p:txBody>
          <a:bodyPr wrap="square" lIns="0" tIns="0" rIns="0" bIns="0" rtlCol="0" anchor="t"/>
          <a:lstStyle/>
          <a:p>
            <a:pPr indent="0" marL="0">
              <a:buNone/>
            </a:pPr>
            <a:r>
              <a:rPr lang="en-US" sz="1050" dirty="0">
                <a:solidFill>
                  <a:schemeClr val="tx2"/>
                </a:solidFill>
              </a:rPr>
              <a:t>Variable Elimination computes P(Fraud | 6 observed features)</a:t>
            </a:r>
            <a:endParaRPr lang="en-US" sz="1050" dirty="0"/>
          </a:p>
        </p:txBody>
      </p:sp>
      <p:sp>
        <p:nvSpPr>
          <p:cNvPr id="16" name="Shape 14"/>
          <p:cNvSpPr/>
          <p:nvPr/>
        </p:nvSpPr>
        <p:spPr>
          <a:xfrm>
            <a:off x="457200" y="3319272"/>
            <a:ext cx="384048" cy="384048"/>
          </a:xfrm>
          <a:prstGeom prst="ellipse">
            <a:avLst/>
          </a:prstGeom>
          <a:solidFill>
            <a:schemeClr val="accent3"/>
          </a:solidFill>
          <a:ln w="12700">
            <a:solidFill>
              <a:schemeClr val="accent3"/>
            </a:solidFill>
            <a:prstDash val="solid"/>
          </a:ln>
        </p:spPr>
      </p:sp>
      <p:sp>
        <p:nvSpPr>
          <p:cNvPr id="17" name="Text 15"/>
          <p:cNvSpPr txBox="1"/>
          <p:nvPr/>
        </p:nvSpPr>
        <p:spPr>
          <a:xfrm>
            <a:off x="457200" y="33192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005840" y="3291840"/>
            <a:ext cx="3108960" cy="256032"/>
          </a:xfrm>
          <a:prstGeom prst="rect">
            <a:avLst/>
          </a:prstGeom>
          <a:noFill/>
          <a:ln/>
        </p:spPr>
        <p:txBody>
          <a:bodyPr wrap="square" lIns="0" tIns="0" rIns="0" bIns="0" rtlCol="0" anchor="t"/>
          <a:lstStyle/>
          <a:p>
            <a:pPr indent="0" marL="0">
              <a:buNone/>
            </a:pPr>
            <a:r>
              <a:rPr lang="en-US" sz="1250" b="1" dirty="0">
                <a:solidFill>
                  <a:schemeClr val="tx1"/>
                </a:solidFill>
              </a:rPr>
              <a:t>Decision</a:t>
            </a:r>
            <a:endParaRPr lang="en-US" sz="1250" dirty="0"/>
          </a:p>
        </p:txBody>
      </p:sp>
      <p:sp>
        <p:nvSpPr>
          <p:cNvPr id="19" name="Text 17"/>
          <p:cNvSpPr txBox="1"/>
          <p:nvPr/>
        </p:nvSpPr>
        <p:spPr>
          <a:xfrm>
            <a:off x="1005840" y="3547872"/>
            <a:ext cx="3108960" cy="438912"/>
          </a:xfrm>
          <a:prstGeom prst="rect">
            <a:avLst/>
          </a:prstGeom>
          <a:noFill/>
          <a:ln/>
        </p:spPr>
        <p:txBody>
          <a:bodyPr wrap="square" lIns="0" tIns="0" rIns="0" bIns="0" rtlCol="0" anchor="t"/>
          <a:lstStyle/>
          <a:p>
            <a:pPr indent="0" marL="0">
              <a:buNone/>
            </a:pPr>
            <a:r>
              <a:rPr lang="en-US" sz="1050" dirty="0">
                <a:solidFill>
                  <a:schemeClr val="tx2"/>
                </a:solidFill>
              </a:rPr>
              <a:t>Flag as fraud when the posterior is ≥ 0.5</a:t>
            </a:r>
            <a:endParaRPr lang="en-US" sz="1050" dirty="0"/>
          </a:p>
        </p:txBody>
      </p:sp>
      <p:sp>
        <p:nvSpPr>
          <p:cNvPr id="20" name="Shape 18"/>
          <p:cNvSpPr/>
          <p:nvPr/>
        </p:nvSpPr>
        <p:spPr>
          <a:xfrm>
            <a:off x="457200" y="4069080"/>
            <a:ext cx="3657600" cy="566928"/>
          </a:xfrm>
          <a:prstGeom prst="roundRect">
            <a:avLst>
              <a:gd name="adj" fmla="val 12903"/>
            </a:avLst>
          </a:prstGeom>
          <a:solidFill>
            <a:schemeClr val="bg2"/>
          </a:solidFill>
          <a:ln w="12700">
            <a:solidFill>
              <a:schemeClr val="bg2"/>
            </a:solidFill>
            <a:prstDash val="solid"/>
          </a:ln>
        </p:spPr>
      </p:sp>
      <p:sp>
        <p:nvSpPr>
          <p:cNvPr id="21" name="Text 19"/>
          <p:cNvSpPr txBox="1"/>
          <p:nvPr/>
        </p:nvSpPr>
        <p:spPr>
          <a:xfrm>
            <a:off x="594360" y="4069080"/>
            <a:ext cx="3429000" cy="566928"/>
          </a:xfrm>
          <a:prstGeom prst="rect">
            <a:avLst/>
          </a:prstGeom>
          <a:noFill/>
          <a:ln/>
        </p:spPr>
        <p:txBody>
          <a:bodyPr wrap="square" lIns="0" tIns="0" rIns="0" bIns="0" rtlCol="0" anchor="ctr"/>
          <a:lstStyle/>
          <a:p>
            <a:pPr indent="0" marL="0">
              <a:buNone/>
            </a:pPr>
            <a:r>
              <a:rPr lang="en-US" sz="1050" b="1" dirty="0">
                <a:solidFill>
                  <a:schemeClr val="tx1"/>
                </a:solidFill>
              </a:rPr>
              <a:t>Learned CPD: </a:t>
            </a:r>
            <a:pPr indent="0" marL="0">
              <a:buNone/>
            </a:pPr>
            <a:r>
              <a:rPr lang="en-US" sz="1050" dirty="0">
                <a:solidFill>
                  <a:schemeClr val="tx2"/>
                </a:solidFill>
              </a:rPr>
              <a:t>declined + high-risk + foreign + high amount → P(Fraud) = 0.975</a:t>
            </a:r>
            <a:endParaRPr lang="en-US" sz="1050" dirty="0"/>
          </a:p>
        </p:txBody>
      </p:sp>
      <p:sp>
        <p:nvSpPr>
          <p:cNvPr id="22" name="Shape 20"/>
          <p:cNvSpPr/>
          <p:nvPr/>
        </p:nvSpPr>
        <p:spPr>
          <a:xfrm>
            <a:off x="6492240" y="1659636"/>
            <a:ext cx="0" cy="658368"/>
          </a:xfrm>
          <a:prstGeom prst="line">
            <a:avLst/>
          </a:prstGeom>
          <a:noFill/>
          <a:ln w="22225">
            <a:solidFill>
              <a:schemeClr val="accent5"/>
            </a:solidFill>
            <a:prstDash val="solid"/>
            <a:tailEnd type="triangle"/>
          </a:ln>
        </p:spPr>
      </p:sp>
      <p:sp>
        <p:nvSpPr>
          <p:cNvPr id="23" name="Shape 21"/>
          <p:cNvSpPr/>
          <p:nvPr/>
        </p:nvSpPr>
        <p:spPr>
          <a:xfrm>
            <a:off x="6492240" y="2894076"/>
            <a:ext cx="0" cy="672084"/>
          </a:xfrm>
          <a:prstGeom prst="line">
            <a:avLst/>
          </a:prstGeom>
          <a:noFill/>
          <a:ln w="22225">
            <a:solidFill>
              <a:schemeClr val="accent5"/>
            </a:solidFill>
            <a:prstDash val="solid"/>
            <a:tailEnd type="triangle"/>
          </a:ln>
        </p:spPr>
      </p:sp>
      <p:sp>
        <p:nvSpPr>
          <p:cNvPr id="24" name="Shape 22"/>
          <p:cNvSpPr/>
          <p:nvPr/>
        </p:nvSpPr>
        <p:spPr>
          <a:xfrm>
            <a:off x="4937760" y="2894076"/>
            <a:ext cx="0" cy="704088"/>
          </a:xfrm>
          <a:prstGeom prst="line">
            <a:avLst/>
          </a:prstGeom>
          <a:noFill/>
          <a:ln w="22225">
            <a:solidFill>
              <a:schemeClr val="accent5"/>
            </a:solidFill>
            <a:prstDash val="solid"/>
            <a:tailEnd type="triangle"/>
          </a:ln>
        </p:spPr>
      </p:sp>
      <p:sp>
        <p:nvSpPr>
          <p:cNvPr id="25" name="Shape 23"/>
          <p:cNvSpPr/>
          <p:nvPr/>
        </p:nvSpPr>
        <p:spPr>
          <a:xfrm>
            <a:off x="5614416" y="3886200"/>
            <a:ext cx="246888" cy="0"/>
          </a:xfrm>
          <a:prstGeom prst="line">
            <a:avLst/>
          </a:prstGeom>
          <a:noFill/>
          <a:ln w="22225">
            <a:solidFill>
              <a:schemeClr val="accent5"/>
            </a:solidFill>
            <a:prstDash val="solid"/>
            <a:tailEnd type="triangle"/>
          </a:ln>
        </p:spPr>
      </p:sp>
      <p:sp>
        <p:nvSpPr>
          <p:cNvPr id="26" name="Shape 24"/>
          <p:cNvSpPr/>
          <p:nvPr/>
        </p:nvSpPr>
        <p:spPr>
          <a:xfrm>
            <a:off x="8046720" y="2894076"/>
            <a:ext cx="0" cy="704088"/>
          </a:xfrm>
          <a:prstGeom prst="line">
            <a:avLst/>
          </a:prstGeom>
          <a:noFill/>
          <a:ln w="22225">
            <a:solidFill>
              <a:schemeClr val="accent5"/>
            </a:solidFill>
            <a:prstDash val="solid"/>
            <a:tailEnd type="triangle"/>
          </a:ln>
        </p:spPr>
      </p:sp>
      <p:sp>
        <p:nvSpPr>
          <p:cNvPr id="27" name="Shape 25"/>
          <p:cNvSpPr/>
          <p:nvPr/>
        </p:nvSpPr>
        <p:spPr>
          <a:xfrm flipH="1">
            <a:off x="7123176" y="3886200"/>
            <a:ext cx="246888" cy="0"/>
          </a:xfrm>
          <a:prstGeom prst="line">
            <a:avLst/>
          </a:prstGeom>
          <a:noFill/>
          <a:ln w="22225">
            <a:solidFill>
              <a:schemeClr val="accent5"/>
            </a:solidFill>
            <a:prstDash val="solid"/>
            <a:tailEnd type="triangle"/>
          </a:ln>
        </p:spPr>
      </p:sp>
      <p:sp>
        <p:nvSpPr>
          <p:cNvPr id="28" name="Shape 26"/>
          <p:cNvSpPr/>
          <p:nvPr/>
        </p:nvSpPr>
        <p:spPr>
          <a:xfrm flipH="1">
            <a:off x="6864680" y="2880752"/>
            <a:ext cx="848461" cy="698733"/>
          </a:xfrm>
          <a:prstGeom prst="line">
            <a:avLst/>
          </a:prstGeom>
          <a:noFill/>
          <a:ln w="22225">
            <a:solidFill>
              <a:schemeClr val="accent5"/>
            </a:solidFill>
            <a:prstDash val="solid"/>
            <a:tailEnd type="triangle"/>
          </a:ln>
        </p:spPr>
      </p:sp>
      <p:sp>
        <p:nvSpPr>
          <p:cNvPr id="29" name="Shape 27"/>
          <p:cNvSpPr/>
          <p:nvPr/>
        </p:nvSpPr>
        <p:spPr>
          <a:xfrm>
            <a:off x="5852160" y="1120140"/>
            <a:ext cx="1280160" cy="502920"/>
          </a:xfrm>
          <a:prstGeom prst="roundRect">
            <a:avLst>
              <a:gd name="adj" fmla="val 21818"/>
            </a:avLst>
          </a:prstGeom>
          <a:solidFill>
            <a:schemeClr val="bg1"/>
          </a:solidFill>
          <a:ln w="19050">
            <a:solidFill>
              <a:schemeClr val="accent3"/>
            </a:solidFill>
            <a:prstDash val="solid"/>
          </a:ln>
        </p:spPr>
      </p:sp>
      <p:sp>
        <p:nvSpPr>
          <p:cNvPr id="30" name="Text 28"/>
          <p:cNvSpPr txBox="1"/>
          <p:nvPr/>
        </p:nvSpPr>
        <p:spPr>
          <a:xfrm>
            <a:off x="5852160" y="112014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Avg Amount / Day</a:t>
            </a:r>
            <a:endParaRPr lang="en-US" sz="1000" dirty="0"/>
          </a:p>
        </p:txBody>
      </p:sp>
      <p:sp>
        <p:nvSpPr>
          <p:cNvPr id="31" name="Shape 29"/>
          <p:cNvSpPr/>
          <p:nvPr/>
        </p:nvSpPr>
        <p:spPr>
          <a:xfrm>
            <a:off x="5852160" y="2354580"/>
            <a:ext cx="1280160" cy="502920"/>
          </a:xfrm>
          <a:prstGeom prst="roundRect">
            <a:avLst>
              <a:gd name="adj" fmla="val 21818"/>
            </a:avLst>
          </a:prstGeom>
          <a:solidFill>
            <a:schemeClr val="bg1"/>
          </a:solidFill>
          <a:ln w="19050">
            <a:solidFill>
              <a:schemeClr val="accent3"/>
            </a:solidFill>
            <a:prstDash val="solid"/>
          </a:ln>
        </p:spPr>
      </p:sp>
      <p:sp>
        <p:nvSpPr>
          <p:cNvPr id="32" name="Text 30"/>
          <p:cNvSpPr txBox="1"/>
          <p:nvPr/>
        </p:nvSpPr>
        <p:spPr>
          <a:xfrm>
            <a:off x="5852160" y="235458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Transaction Amount</a:t>
            </a:r>
            <a:endParaRPr lang="en-US" sz="1000" dirty="0"/>
          </a:p>
        </p:txBody>
      </p:sp>
      <p:sp>
        <p:nvSpPr>
          <p:cNvPr id="33" name="Shape 31"/>
          <p:cNvSpPr/>
          <p:nvPr/>
        </p:nvSpPr>
        <p:spPr>
          <a:xfrm>
            <a:off x="4297680" y="2354580"/>
            <a:ext cx="1280160" cy="502920"/>
          </a:xfrm>
          <a:prstGeom prst="roundRect">
            <a:avLst>
              <a:gd name="adj" fmla="val 21818"/>
            </a:avLst>
          </a:prstGeom>
          <a:solidFill>
            <a:schemeClr val="bg1"/>
          </a:solidFill>
          <a:ln w="19050">
            <a:solidFill>
              <a:schemeClr val="accent3"/>
            </a:solidFill>
            <a:prstDash val="solid"/>
          </a:ln>
        </p:spPr>
      </p:sp>
      <p:sp>
        <p:nvSpPr>
          <p:cNvPr id="34" name="Text 32"/>
          <p:cNvSpPr txBox="1"/>
          <p:nvPr/>
        </p:nvSpPr>
        <p:spPr>
          <a:xfrm>
            <a:off x="4297680" y="235458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Daily Declines</a:t>
            </a:r>
            <a:endParaRPr lang="en-US" sz="1000" dirty="0"/>
          </a:p>
        </p:txBody>
      </p:sp>
      <p:sp>
        <p:nvSpPr>
          <p:cNvPr id="35" name="Shape 33"/>
          <p:cNvSpPr/>
          <p:nvPr/>
        </p:nvSpPr>
        <p:spPr>
          <a:xfrm>
            <a:off x="4297680" y="3634740"/>
            <a:ext cx="1280160" cy="502920"/>
          </a:xfrm>
          <a:prstGeom prst="roundRect">
            <a:avLst>
              <a:gd name="adj" fmla="val 21818"/>
            </a:avLst>
          </a:prstGeom>
          <a:solidFill>
            <a:schemeClr val="bg1"/>
          </a:solidFill>
          <a:ln w="19050">
            <a:solidFill>
              <a:schemeClr val="accent3"/>
            </a:solidFill>
            <a:prstDash val="solid"/>
          </a:ln>
        </p:spPr>
      </p:sp>
      <p:sp>
        <p:nvSpPr>
          <p:cNvPr id="36" name="Text 34"/>
          <p:cNvSpPr txBox="1"/>
          <p:nvPr/>
        </p:nvSpPr>
        <p:spPr>
          <a:xfrm>
            <a:off x="4297680" y="363474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Is Declined</a:t>
            </a:r>
            <a:endParaRPr lang="en-US" sz="1000" dirty="0"/>
          </a:p>
        </p:txBody>
      </p:sp>
      <p:sp>
        <p:nvSpPr>
          <p:cNvPr id="37" name="Shape 35"/>
          <p:cNvSpPr/>
          <p:nvPr/>
        </p:nvSpPr>
        <p:spPr>
          <a:xfrm>
            <a:off x="7406640" y="2354580"/>
            <a:ext cx="1280160" cy="502920"/>
          </a:xfrm>
          <a:prstGeom prst="roundRect">
            <a:avLst>
              <a:gd name="adj" fmla="val 21818"/>
            </a:avLst>
          </a:prstGeom>
          <a:solidFill>
            <a:schemeClr val="bg1"/>
          </a:solidFill>
          <a:ln w="19050">
            <a:solidFill>
              <a:schemeClr val="accent3"/>
            </a:solidFill>
            <a:prstDash val="solid"/>
          </a:ln>
        </p:spPr>
      </p:sp>
      <p:sp>
        <p:nvSpPr>
          <p:cNvPr id="38" name="Text 36"/>
          <p:cNvSpPr txBox="1"/>
          <p:nvPr/>
        </p:nvSpPr>
        <p:spPr>
          <a:xfrm>
            <a:off x="7406640" y="235458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High-Risk Country</a:t>
            </a:r>
            <a:endParaRPr lang="en-US" sz="1000" dirty="0"/>
          </a:p>
        </p:txBody>
      </p:sp>
      <p:sp>
        <p:nvSpPr>
          <p:cNvPr id="39" name="Shape 37"/>
          <p:cNvSpPr/>
          <p:nvPr/>
        </p:nvSpPr>
        <p:spPr>
          <a:xfrm>
            <a:off x="7406640" y="3634740"/>
            <a:ext cx="1280160" cy="502920"/>
          </a:xfrm>
          <a:prstGeom prst="roundRect">
            <a:avLst>
              <a:gd name="adj" fmla="val 21818"/>
            </a:avLst>
          </a:prstGeom>
          <a:solidFill>
            <a:schemeClr val="bg1"/>
          </a:solidFill>
          <a:ln w="19050">
            <a:solidFill>
              <a:schemeClr val="accent3"/>
            </a:solidFill>
            <a:prstDash val="solid"/>
          </a:ln>
        </p:spPr>
      </p:sp>
      <p:sp>
        <p:nvSpPr>
          <p:cNvPr id="40" name="Text 38"/>
          <p:cNvSpPr txBox="1"/>
          <p:nvPr/>
        </p:nvSpPr>
        <p:spPr>
          <a:xfrm>
            <a:off x="7406640" y="3634740"/>
            <a:ext cx="1280160" cy="502920"/>
          </a:xfrm>
          <a:prstGeom prst="rect">
            <a:avLst/>
          </a:prstGeom>
          <a:noFill/>
          <a:ln/>
        </p:spPr>
        <p:txBody>
          <a:bodyPr wrap="square" lIns="0" tIns="0" rIns="0" bIns="0" rtlCol="0" anchor="ctr"/>
          <a:lstStyle/>
          <a:p>
            <a:pPr algn="ctr" indent="0" marL="0">
              <a:buNone/>
            </a:pPr>
            <a:r>
              <a:rPr lang="en-US" sz="1000" b="1" dirty="0">
                <a:solidFill>
                  <a:schemeClr val="accent3"/>
                </a:solidFill>
              </a:rPr>
              <a:t>Foreign Transaction</a:t>
            </a:r>
            <a:endParaRPr lang="en-US" sz="1000" dirty="0"/>
          </a:p>
        </p:txBody>
      </p:sp>
      <p:sp>
        <p:nvSpPr>
          <p:cNvPr id="41" name="Shape 39"/>
          <p:cNvSpPr/>
          <p:nvPr/>
        </p:nvSpPr>
        <p:spPr>
          <a:xfrm>
            <a:off x="5897880" y="3602736"/>
            <a:ext cx="1188720" cy="566928"/>
          </a:xfrm>
          <a:prstGeom prst="roundRect">
            <a:avLst>
              <a:gd name="adj" fmla="val 19355"/>
            </a:avLst>
          </a:prstGeom>
          <a:solidFill>
            <a:schemeClr val="accent1"/>
          </a:solidFill>
          <a:ln w="19050">
            <a:solidFill>
              <a:schemeClr val="accent1"/>
            </a:solidFill>
            <a:prstDash val="solid"/>
          </a:ln>
        </p:spPr>
      </p:sp>
      <p:sp>
        <p:nvSpPr>
          <p:cNvPr id="42" name="Text 40"/>
          <p:cNvSpPr txBox="1"/>
          <p:nvPr/>
        </p:nvSpPr>
        <p:spPr>
          <a:xfrm>
            <a:off x="5897880" y="3602736"/>
            <a:ext cx="1188720" cy="566928"/>
          </a:xfrm>
          <a:prstGeom prst="rect">
            <a:avLst/>
          </a:prstGeom>
          <a:noFill/>
          <a:ln/>
        </p:spPr>
        <p:txBody>
          <a:bodyPr wrap="square" lIns="0" tIns="0" rIns="0" bIns="0" rtlCol="0" anchor="ctr"/>
          <a:lstStyle/>
          <a:p>
            <a:pPr algn="ctr" indent="0" marL="0">
              <a:buNone/>
            </a:pPr>
            <a:r>
              <a:rPr lang="en-US" sz="1000" b="1" dirty="0">
                <a:solidFill>
                  <a:schemeClr val="bg1"/>
                </a:solidFill>
              </a:rPr>
              <a:t>Fraudulent</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RESULTS</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Results obtained — our implementation</a:t>
            </a:r>
            <a:endParaRPr lang="en-US" sz="2600" dirty="0"/>
          </a:p>
        </p:txBody>
      </p:sp>
      <p:sp>
        <p:nvSpPr>
          <p:cNvPr id="4" name="Shape 2"/>
          <p:cNvSpPr/>
          <p:nvPr/>
        </p:nvSpPr>
        <p:spPr>
          <a:xfrm>
            <a:off x="457200" y="1097280"/>
            <a:ext cx="3977640" cy="3520440"/>
          </a:xfrm>
          <a:prstGeom prst="roundRect">
            <a:avLst>
              <a:gd name="adj" fmla="val 2078"/>
            </a:avLst>
          </a:prstGeom>
          <a:solidFill>
            <a:schemeClr val="bg2"/>
          </a:solidFill>
          <a:ln w="12700">
            <a:solidFill>
              <a:schemeClr val="bg2"/>
            </a:solidFill>
            <a:prstDash val="solid"/>
          </a:ln>
        </p:spPr>
      </p:sp>
      <p:sp>
        <p:nvSpPr>
          <p:cNvPr id="5" name="Text 3"/>
          <p:cNvSpPr txBox="1"/>
          <p:nvPr/>
        </p:nvSpPr>
        <p:spPr>
          <a:xfrm>
            <a:off x="640080" y="1207008"/>
            <a:ext cx="3657600" cy="32004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Hidden Naive Bayes</a:t>
            </a:r>
            <a:endParaRPr lang="en-US" sz="1500" dirty="0"/>
          </a:p>
        </p:txBody>
      </p:sp>
      <p:sp>
        <p:nvSpPr>
          <p:cNvPr id="6" name="Text 4"/>
          <p:cNvSpPr txBox="1"/>
          <p:nvPr/>
        </p:nvSpPr>
        <p:spPr>
          <a:xfrm>
            <a:off x="1417320" y="1645920"/>
            <a:ext cx="868680" cy="256032"/>
          </a:xfrm>
          <a:prstGeom prst="rect">
            <a:avLst/>
          </a:prstGeom>
          <a:noFill/>
          <a:ln/>
        </p:spPr>
        <p:txBody>
          <a:bodyPr wrap="square" lIns="0" tIns="0" rIns="0" bIns="0" rtlCol="0" anchor="ctr"/>
          <a:lstStyle/>
          <a:p>
            <a:pPr algn="ctr" indent="0" marL="0">
              <a:buNone/>
            </a:pPr>
            <a:r>
              <a:rPr lang="en-US" sz="950" dirty="0">
                <a:solidFill>
                  <a:schemeClr val="tx2"/>
                </a:solidFill>
              </a:rPr>
              <a:t>Pred. legit</a:t>
            </a:r>
            <a:endParaRPr lang="en-US" sz="950" dirty="0"/>
          </a:p>
        </p:txBody>
      </p:sp>
      <p:sp>
        <p:nvSpPr>
          <p:cNvPr id="7" name="Text 5"/>
          <p:cNvSpPr txBox="1"/>
          <p:nvPr/>
        </p:nvSpPr>
        <p:spPr>
          <a:xfrm>
            <a:off x="2331720" y="1645920"/>
            <a:ext cx="868680" cy="256032"/>
          </a:xfrm>
          <a:prstGeom prst="rect">
            <a:avLst/>
          </a:prstGeom>
          <a:noFill/>
          <a:ln/>
        </p:spPr>
        <p:txBody>
          <a:bodyPr wrap="square" lIns="0" tIns="0" rIns="0" bIns="0" rtlCol="0" anchor="ctr"/>
          <a:lstStyle/>
          <a:p>
            <a:pPr algn="ctr" indent="0" marL="0">
              <a:buNone/>
            </a:pPr>
            <a:r>
              <a:rPr lang="en-US" sz="950" dirty="0">
                <a:solidFill>
                  <a:schemeClr val="tx2"/>
                </a:solidFill>
              </a:rPr>
              <a:t>Pred. fraud</a:t>
            </a:r>
            <a:endParaRPr lang="en-US" sz="950" dirty="0"/>
          </a:p>
        </p:txBody>
      </p:sp>
      <p:sp>
        <p:nvSpPr>
          <p:cNvPr id="8" name="Text 6"/>
          <p:cNvSpPr txBox="1"/>
          <p:nvPr/>
        </p:nvSpPr>
        <p:spPr>
          <a:xfrm>
            <a:off x="594360" y="1938528"/>
            <a:ext cx="777240" cy="685800"/>
          </a:xfrm>
          <a:prstGeom prst="rect">
            <a:avLst/>
          </a:prstGeom>
          <a:noFill/>
          <a:ln/>
        </p:spPr>
        <p:txBody>
          <a:bodyPr wrap="square" lIns="0" tIns="0" rIns="0" bIns="0" rtlCol="0" anchor="ctr"/>
          <a:lstStyle/>
          <a:p>
            <a:pPr indent="0" marL="0">
              <a:buNone/>
            </a:pPr>
            <a:r>
              <a:rPr lang="en-US" sz="950" dirty="0">
                <a:solidFill>
                  <a:schemeClr val="tx2"/>
                </a:solidFill>
              </a:rPr>
              <a:t>Actual legit</a:t>
            </a:r>
            <a:endParaRPr lang="en-US" sz="950" dirty="0"/>
          </a:p>
        </p:txBody>
      </p:sp>
      <p:sp>
        <p:nvSpPr>
          <p:cNvPr id="9" name="Text 7"/>
          <p:cNvSpPr txBox="1"/>
          <p:nvPr/>
        </p:nvSpPr>
        <p:spPr>
          <a:xfrm>
            <a:off x="594360" y="2670048"/>
            <a:ext cx="777240" cy="685800"/>
          </a:xfrm>
          <a:prstGeom prst="rect">
            <a:avLst/>
          </a:prstGeom>
          <a:noFill/>
          <a:ln/>
        </p:spPr>
        <p:txBody>
          <a:bodyPr wrap="square" lIns="0" tIns="0" rIns="0" bIns="0" rtlCol="0" anchor="ctr"/>
          <a:lstStyle/>
          <a:p>
            <a:pPr indent="0" marL="0">
              <a:buNone/>
            </a:pPr>
            <a:r>
              <a:rPr lang="en-US" sz="950" dirty="0">
                <a:solidFill>
                  <a:schemeClr val="tx2"/>
                </a:solidFill>
              </a:rPr>
              <a:t>Actual fraud</a:t>
            </a:r>
            <a:endParaRPr lang="en-US" sz="950" dirty="0"/>
          </a:p>
        </p:txBody>
      </p:sp>
      <p:sp>
        <p:nvSpPr>
          <p:cNvPr id="10" name="Shape 8"/>
          <p:cNvSpPr/>
          <p:nvPr/>
        </p:nvSpPr>
        <p:spPr>
          <a:xfrm>
            <a:off x="1417320" y="1938528"/>
            <a:ext cx="868680" cy="685800"/>
          </a:xfrm>
          <a:prstGeom prst="rect">
            <a:avLst/>
          </a:prstGeom>
          <a:solidFill>
            <a:schemeClr val="accent2">
              <a:alpha val="22000"/>
            </a:schemeClr>
          </a:solidFill>
          <a:ln w="12700">
            <a:solidFill>
              <a:schemeClr val="bg1"/>
            </a:solidFill>
            <a:prstDash val="solid"/>
          </a:ln>
        </p:spPr>
      </p:sp>
      <p:sp>
        <p:nvSpPr>
          <p:cNvPr id="11" name="Text 9"/>
          <p:cNvSpPr txBox="1"/>
          <p:nvPr/>
        </p:nvSpPr>
        <p:spPr>
          <a:xfrm>
            <a:off x="1417320" y="193852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495</a:t>
            </a:r>
            <a:endParaRPr lang="en-US" sz="2000" dirty="0"/>
          </a:p>
          <a:p>
            <a:pPr algn="ctr" indent="0" marL="0">
              <a:buNone/>
            </a:pPr>
            <a:r>
              <a:rPr lang="en-US" sz="900" dirty="0">
                <a:solidFill>
                  <a:schemeClr val="tx2"/>
                </a:solidFill>
              </a:rPr>
              <a:t>TN</a:t>
            </a:r>
            <a:endParaRPr lang="en-US" sz="2000" dirty="0"/>
          </a:p>
        </p:txBody>
      </p:sp>
      <p:sp>
        <p:nvSpPr>
          <p:cNvPr id="12" name="Shape 10"/>
          <p:cNvSpPr/>
          <p:nvPr/>
        </p:nvSpPr>
        <p:spPr>
          <a:xfrm>
            <a:off x="2331720" y="1938528"/>
            <a:ext cx="868680" cy="685800"/>
          </a:xfrm>
          <a:prstGeom prst="rect">
            <a:avLst/>
          </a:prstGeom>
          <a:solidFill>
            <a:schemeClr val="accent1">
              <a:alpha val="18000"/>
            </a:schemeClr>
          </a:solidFill>
          <a:ln w="12700">
            <a:solidFill>
              <a:schemeClr val="bg1"/>
            </a:solidFill>
            <a:prstDash val="solid"/>
          </a:ln>
        </p:spPr>
      </p:sp>
      <p:sp>
        <p:nvSpPr>
          <p:cNvPr id="13" name="Text 11"/>
          <p:cNvSpPr txBox="1"/>
          <p:nvPr/>
        </p:nvSpPr>
        <p:spPr>
          <a:xfrm>
            <a:off x="2331720" y="193852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30</a:t>
            </a:r>
            <a:endParaRPr lang="en-US" sz="2000" dirty="0"/>
          </a:p>
          <a:p>
            <a:pPr algn="ctr" indent="0" marL="0">
              <a:buNone/>
            </a:pPr>
            <a:r>
              <a:rPr lang="en-US" sz="900" dirty="0">
                <a:solidFill>
                  <a:schemeClr val="tx2"/>
                </a:solidFill>
              </a:rPr>
              <a:t>FP</a:t>
            </a:r>
            <a:endParaRPr lang="en-US" sz="2000" dirty="0"/>
          </a:p>
        </p:txBody>
      </p:sp>
      <p:sp>
        <p:nvSpPr>
          <p:cNvPr id="14" name="Shape 12"/>
          <p:cNvSpPr/>
          <p:nvPr/>
        </p:nvSpPr>
        <p:spPr>
          <a:xfrm>
            <a:off x="1417320" y="2670048"/>
            <a:ext cx="868680" cy="685800"/>
          </a:xfrm>
          <a:prstGeom prst="rect">
            <a:avLst/>
          </a:prstGeom>
          <a:solidFill>
            <a:schemeClr val="accent1">
              <a:alpha val="18000"/>
            </a:schemeClr>
          </a:solidFill>
          <a:ln w="12700">
            <a:solidFill>
              <a:schemeClr val="bg1"/>
            </a:solidFill>
            <a:prstDash val="solid"/>
          </a:ln>
        </p:spPr>
      </p:sp>
      <p:sp>
        <p:nvSpPr>
          <p:cNvPr id="15" name="Text 13"/>
          <p:cNvSpPr txBox="1"/>
          <p:nvPr/>
        </p:nvSpPr>
        <p:spPr>
          <a:xfrm>
            <a:off x="1417320" y="267004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9</a:t>
            </a:r>
            <a:endParaRPr lang="en-US" sz="2000" dirty="0"/>
          </a:p>
          <a:p>
            <a:pPr algn="ctr" indent="0" marL="0">
              <a:buNone/>
            </a:pPr>
            <a:r>
              <a:rPr lang="en-US" sz="900" dirty="0">
                <a:solidFill>
                  <a:schemeClr val="tx2"/>
                </a:solidFill>
              </a:rPr>
              <a:t>FN</a:t>
            </a:r>
            <a:endParaRPr lang="en-US" sz="2000" dirty="0"/>
          </a:p>
        </p:txBody>
      </p:sp>
      <p:sp>
        <p:nvSpPr>
          <p:cNvPr id="16" name="Shape 14"/>
          <p:cNvSpPr/>
          <p:nvPr/>
        </p:nvSpPr>
        <p:spPr>
          <a:xfrm>
            <a:off x="2331720" y="2670048"/>
            <a:ext cx="868680" cy="685800"/>
          </a:xfrm>
          <a:prstGeom prst="rect">
            <a:avLst/>
          </a:prstGeom>
          <a:solidFill>
            <a:schemeClr val="accent2">
              <a:alpha val="22000"/>
            </a:schemeClr>
          </a:solidFill>
          <a:ln w="12700">
            <a:solidFill>
              <a:schemeClr val="bg1"/>
            </a:solidFill>
            <a:prstDash val="solid"/>
          </a:ln>
        </p:spPr>
      </p:sp>
      <p:sp>
        <p:nvSpPr>
          <p:cNvPr id="17" name="Text 15"/>
          <p:cNvSpPr txBox="1"/>
          <p:nvPr/>
        </p:nvSpPr>
        <p:spPr>
          <a:xfrm>
            <a:off x="2331720" y="267004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81</a:t>
            </a:r>
            <a:endParaRPr lang="en-US" sz="2000" dirty="0"/>
          </a:p>
          <a:p>
            <a:pPr algn="ctr" indent="0" marL="0">
              <a:buNone/>
            </a:pPr>
            <a:r>
              <a:rPr lang="en-US" sz="900" dirty="0">
                <a:solidFill>
                  <a:schemeClr val="tx2"/>
                </a:solidFill>
              </a:rPr>
              <a:t>TP</a:t>
            </a:r>
            <a:endParaRPr lang="en-US" sz="2000" dirty="0"/>
          </a:p>
        </p:txBody>
      </p:sp>
      <p:sp>
        <p:nvSpPr>
          <p:cNvPr id="18" name="Text 16"/>
          <p:cNvSpPr txBox="1"/>
          <p:nvPr/>
        </p:nvSpPr>
        <p:spPr>
          <a:xfrm>
            <a:off x="640080" y="3520440"/>
            <a:ext cx="2606040" cy="960120"/>
          </a:xfrm>
          <a:prstGeom prst="rect">
            <a:avLst/>
          </a:prstGeom>
          <a:noFill/>
          <a:ln/>
        </p:spPr>
        <p:txBody>
          <a:bodyPr wrap="square" lIns="0" tIns="0" rIns="0" bIns="0" rtlCol="0" anchor="t"/>
          <a:lstStyle/>
          <a:p>
            <a:pPr indent="0" marL="0">
              <a:buNone/>
            </a:pPr>
            <a:r>
              <a:rPr lang="en-US" sz="1050" dirty="0">
                <a:solidFill>
                  <a:schemeClr val="tx2"/>
                </a:solidFill>
              </a:rPr>
              <a:t>Caught 81 of 90 frauds; 30 legitimate transactions raised false alarms.</a:t>
            </a:r>
            <a:endParaRPr lang="en-US" sz="1050" dirty="0"/>
          </a:p>
        </p:txBody>
      </p:sp>
      <p:sp>
        <p:nvSpPr>
          <p:cNvPr id="19" name="Text 17"/>
          <p:cNvSpPr txBox="1"/>
          <p:nvPr/>
        </p:nvSpPr>
        <p:spPr>
          <a:xfrm>
            <a:off x="3337560" y="1645920"/>
            <a:ext cx="1005840" cy="219456"/>
          </a:xfrm>
          <a:prstGeom prst="rect">
            <a:avLst/>
          </a:prstGeom>
          <a:noFill/>
          <a:ln/>
        </p:spPr>
        <p:txBody>
          <a:bodyPr wrap="square" lIns="0" tIns="0" rIns="0" bIns="0" rtlCol="0" anchor="t"/>
          <a:lstStyle/>
          <a:p>
            <a:pPr indent="0" marL="0">
              <a:buNone/>
            </a:pPr>
            <a:r>
              <a:rPr lang="en-US" sz="950" dirty="0">
                <a:solidFill>
                  <a:schemeClr val="tx2"/>
                </a:solidFill>
              </a:rPr>
              <a:t>Accuracy</a:t>
            </a:r>
            <a:endParaRPr lang="en-US" sz="950" dirty="0"/>
          </a:p>
        </p:txBody>
      </p:sp>
      <p:sp>
        <p:nvSpPr>
          <p:cNvPr id="20" name="Text 18"/>
          <p:cNvSpPr txBox="1"/>
          <p:nvPr/>
        </p:nvSpPr>
        <p:spPr>
          <a:xfrm>
            <a:off x="3337560" y="1847088"/>
            <a:ext cx="1005840" cy="384048"/>
          </a:xfrm>
          <a:prstGeom prst="rect">
            <a:avLst/>
          </a:prstGeom>
          <a:noFill/>
          <a:ln/>
        </p:spPr>
        <p:txBody>
          <a:bodyPr wrap="square" lIns="0" tIns="0" rIns="0" bIns="0" rtlCol="0" anchor="t"/>
          <a:lstStyle/>
          <a:p>
            <a:pPr indent="0" marL="0">
              <a:buNone/>
            </a:pPr>
            <a:r>
              <a:rPr lang="en-US" sz="1800" b="1" dirty="0">
                <a:solidFill>
                  <a:schemeClr val="accent2"/>
                </a:solidFill>
              </a:rPr>
              <a:t>93.66%</a:t>
            </a:r>
            <a:endParaRPr lang="en-US" sz="1800" dirty="0"/>
          </a:p>
        </p:txBody>
      </p:sp>
      <p:sp>
        <p:nvSpPr>
          <p:cNvPr id="21" name="Text 19"/>
          <p:cNvSpPr txBox="1"/>
          <p:nvPr/>
        </p:nvSpPr>
        <p:spPr>
          <a:xfrm>
            <a:off x="3337560" y="2377440"/>
            <a:ext cx="1005840" cy="219456"/>
          </a:xfrm>
          <a:prstGeom prst="rect">
            <a:avLst/>
          </a:prstGeom>
          <a:noFill/>
          <a:ln/>
        </p:spPr>
        <p:txBody>
          <a:bodyPr wrap="square" lIns="0" tIns="0" rIns="0" bIns="0" rtlCol="0" anchor="t"/>
          <a:lstStyle/>
          <a:p>
            <a:pPr indent="0" marL="0">
              <a:buNone/>
            </a:pPr>
            <a:r>
              <a:rPr lang="en-US" sz="950" dirty="0">
                <a:solidFill>
                  <a:schemeClr val="tx2"/>
                </a:solidFill>
              </a:rPr>
              <a:t>Precision</a:t>
            </a:r>
            <a:endParaRPr lang="en-US" sz="950" dirty="0"/>
          </a:p>
        </p:txBody>
      </p:sp>
      <p:sp>
        <p:nvSpPr>
          <p:cNvPr id="22" name="Text 20"/>
          <p:cNvSpPr txBox="1"/>
          <p:nvPr/>
        </p:nvSpPr>
        <p:spPr>
          <a:xfrm>
            <a:off x="3337560" y="2578608"/>
            <a:ext cx="1005840" cy="384048"/>
          </a:xfrm>
          <a:prstGeom prst="rect">
            <a:avLst/>
          </a:prstGeom>
          <a:noFill/>
          <a:ln/>
        </p:spPr>
        <p:txBody>
          <a:bodyPr wrap="square" lIns="0" tIns="0" rIns="0" bIns="0" rtlCol="0" anchor="t"/>
          <a:lstStyle/>
          <a:p>
            <a:pPr indent="0" marL="0">
              <a:buNone/>
            </a:pPr>
            <a:r>
              <a:rPr lang="en-US" sz="1800" b="1" dirty="0">
                <a:solidFill>
                  <a:schemeClr val="accent2"/>
                </a:solidFill>
              </a:rPr>
              <a:t>72.97%</a:t>
            </a:r>
            <a:endParaRPr lang="en-US" sz="1800" dirty="0"/>
          </a:p>
        </p:txBody>
      </p:sp>
      <p:sp>
        <p:nvSpPr>
          <p:cNvPr id="23" name="Text 21"/>
          <p:cNvSpPr txBox="1"/>
          <p:nvPr/>
        </p:nvSpPr>
        <p:spPr>
          <a:xfrm>
            <a:off x="3337560" y="3108960"/>
            <a:ext cx="1005840" cy="219456"/>
          </a:xfrm>
          <a:prstGeom prst="rect">
            <a:avLst/>
          </a:prstGeom>
          <a:noFill/>
          <a:ln/>
        </p:spPr>
        <p:txBody>
          <a:bodyPr wrap="square" lIns="0" tIns="0" rIns="0" bIns="0" rtlCol="0" anchor="t"/>
          <a:lstStyle/>
          <a:p>
            <a:pPr indent="0" marL="0">
              <a:buNone/>
            </a:pPr>
            <a:r>
              <a:rPr lang="en-US" sz="950" dirty="0">
                <a:solidFill>
                  <a:schemeClr val="tx2"/>
                </a:solidFill>
              </a:rPr>
              <a:t>Recall</a:t>
            </a:r>
            <a:endParaRPr lang="en-US" sz="950" dirty="0"/>
          </a:p>
        </p:txBody>
      </p:sp>
      <p:sp>
        <p:nvSpPr>
          <p:cNvPr id="24" name="Text 22"/>
          <p:cNvSpPr txBox="1"/>
          <p:nvPr/>
        </p:nvSpPr>
        <p:spPr>
          <a:xfrm>
            <a:off x="3337560" y="3310128"/>
            <a:ext cx="1005840" cy="384048"/>
          </a:xfrm>
          <a:prstGeom prst="rect">
            <a:avLst/>
          </a:prstGeom>
          <a:noFill/>
          <a:ln/>
        </p:spPr>
        <p:txBody>
          <a:bodyPr wrap="square" lIns="0" tIns="0" rIns="0" bIns="0" rtlCol="0" anchor="t"/>
          <a:lstStyle/>
          <a:p>
            <a:pPr indent="0" marL="0">
              <a:buNone/>
            </a:pPr>
            <a:r>
              <a:rPr lang="en-US" sz="1800" b="1" dirty="0">
                <a:solidFill>
                  <a:schemeClr val="accent2"/>
                </a:solidFill>
              </a:rPr>
              <a:t>90.00%</a:t>
            </a:r>
            <a:endParaRPr lang="en-US" sz="1800" dirty="0"/>
          </a:p>
        </p:txBody>
      </p:sp>
      <p:sp>
        <p:nvSpPr>
          <p:cNvPr id="25" name="Text 23"/>
          <p:cNvSpPr txBox="1"/>
          <p:nvPr/>
        </p:nvSpPr>
        <p:spPr>
          <a:xfrm>
            <a:off x="3337560" y="3840480"/>
            <a:ext cx="1005840" cy="219456"/>
          </a:xfrm>
          <a:prstGeom prst="rect">
            <a:avLst/>
          </a:prstGeom>
          <a:noFill/>
          <a:ln/>
        </p:spPr>
        <p:txBody>
          <a:bodyPr wrap="square" lIns="0" tIns="0" rIns="0" bIns="0" rtlCol="0" anchor="t"/>
          <a:lstStyle/>
          <a:p>
            <a:pPr indent="0" marL="0">
              <a:buNone/>
            </a:pPr>
            <a:r>
              <a:rPr lang="en-US" sz="950" dirty="0">
                <a:solidFill>
                  <a:schemeClr val="tx2"/>
                </a:solidFill>
              </a:rPr>
              <a:t>F1-score</a:t>
            </a:r>
            <a:endParaRPr lang="en-US" sz="950" dirty="0"/>
          </a:p>
        </p:txBody>
      </p:sp>
      <p:sp>
        <p:nvSpPr>
          <p:cNvPr id="26" name="Text 24"/>
          <p:cNvSpPr txBox="1"/>
          <p:nvPr/>
        </p:nvSpPr>
        <p:spPr>
          <a:xfrm>
            <a:off x="3337560" y="4041648"/>
            <a:ext cx="1005840" cy="384048"/>
          </a:xfrm>
          <a:prstGeom prst="rect">
            <a:avLst/>
          </a:prstGeom>
          <a:noFill/>
          <a:ln/>
        </p:spPr>
        <p:txBody>
          <a:bodyPr wrap="square" lIns="0" tIns="0" rIns="0" bIns="0" rtlCol="0" anchor="t"/>
          <a:lstStyle/>
          <a:p>
            <a:pPr indent="0" marL="0">
              <a:buNone/>
            </a:pPr>
            <a:r>
              <a:rPr lang="en-US" sz="1800" b="1" dirty="0">
                <a:solidFill>
                  <a:schemeClr val="accent2"/>
                </a:solidFill>
              </a:rPr>
              <a:t>80.60%</a:t>
            </a:r>
            <a:endParaRPr lang="en-US" sz="1800" dirty="0"/>
          </a:p>
        </p:txBody>
      </p:sp>
      <p:sp>
        <p:nvSpPr>
          <p:cNvPr id="27" name="Shape 25"/>
          <p:cNvSpPr/>
          <p:nvPr/>
        </p:nvSpPr>
        <p:spPr>
          <a:xfrm>
            <a:off x="4709160" y="1097280"/>
            <a:ext cx="3977640" cy="3520440"/>
          </a:xfrm>
          <a:prstGeom prst="roundRect">
            <a:avLst>
              <a:gd name="adj" fmla="val 2078"/>
            </a:avLst>
          </a:prstGeom>
          <a:solidFill>
            <a:schemeClr val="bg2"/>
          </a:solidFill>
          <a:ln w="12700">
            <a:solidFill>
              <a:schemeClr val="bg2"/>
            </a:solidFill>
            <a:prstDash val="solid"/>
          </a:ln>
        </p:spPr>
      </p:sp>
      <p:sp>
        <p:nvSpPr>
          <p:cNvPr id="28" name="Text 26"/>
          <p:cNvSpPr txBox="1"/>
          <p:nvPr/>
        </p:nvSpPr>
        <p:spPr>
          <a:xfrm>
            <a:off x="4892040" y="1207008"/>
            <a:ext cx="3657600" cy="32004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Bayesian Belief Network</a:t>
            </a:r>
            <a:endParaRPr lang="en-US" sz="1500" dirty="0"/>
          </a:p>
        </p:txBody>
      </p:sp>
      <p:sp>
        <p:nvSpPr>
          <p:cNvPr id="29" name="Text 27"/>
          <p:cNvSpPr txBox="1"/>
          <p:nvPr/>
        </p:nvSpPr>
        <p:spPr>
          <a:xfrm>
            <a:off x="5669280" y="1645920"/>
            <a:ext cx="868680" cy="256032"/>
          </a:xfrm>
          <a:prstGeom prst="rect">
            <a:avLst/>
          </a:prstGeom>
          <a:noFill/>
          <a:ln/>
        </p:spPr>
        <p:txBody>
          <a:bodyPr wrap="square" lIns="0" tIns="0" rIns="0" bIns="0" rtlCol="0" anchor="ctr"/>
          <a:lstStyle/>
          <a:p>
            <a:pPr algn="ctr" indent="0" marL="0">
              <a:buNone/>
            </a:pPr>
            <a:r>
              <a:rPr lang="en-US" sz="950" dirty="0">
                <a:solidFill>
                  <a:schemeClr val="tx2"/>
                </a:solidFill>
              </a:rPr>
              <a:t>Pred. legit</a:t>
            </a:r>
            <a:endParaRPr lang="en-US" sz="950" dirty="0"/>
          </a:p>
        </p:txBody>
      </p:sp>
      <p:sp>
        <p:nvSpPr>
          <p:cNvPr id="30" name="Text 28"/>
          <p:cNvSpPr txBox="1"/>
          <p:nvPr/>
        </p:nvSpPr>
        <p:spPr>
          <a:xfrm>
            <a:off x="6583680" y="1645920"/>
            <a:ext cx="868680" cy="256032"/>
          </a:xfrm>
          <a:prstGeom prst="rect">
            <a:avLst/>
          </a:prstGeom>
          <a:noFill/>
          <a:ln/>
        </p:spPr>
        <p:txBody>
          <a:bodyPr wrap="square" lIns="0" tIns="0" rIns="0" bIns="0" rtlCol="0" anchor="ctr"/>
          <a:lstStyle/>
          <a:p>
            <a:pPr algn="ctr" indent="0" marL="0">
              <a:buNone/>
            </a:pPr>
            <a:r>
              <a:rPr lang="en-US" sz="950" dirty="0">
                <a:solidFill>
                  <a:schemeClr val="tx2"/>
                </a:solidFill>
              </a:rPr>
              <a:t>Pred. fraud</a:t>
            </a:r>
            <a:endParaRPr lang="en-US" sz="950" dirty="0"/>
          </a:p>
        </p:txBody>
      </p:sp>
      <p:sp>
        <p:nvSpPr>
          <p:cNvPr id="31" name="Text 29"/>
          <p:cNvSpPr txBox="1"/>
          <p:nvPr/>
        </p:nvSpPr>
        <p:spPr>
          <a:xfrm>
            <a:off x="4846320" y="1938528"/>
            <a:ext cx="777240" cy="685800"/>
          </a:xfrm>
          <a:prstGeom prst="rect">
            <a:avLst/>
          </a:prstGeom>
          <a:noFill/>
          <a:ln/>
        </p:spPr>
        <p:txBody>
          <a:bodyPr wrap="square" lIns="0" tIns="0" rIns="0" bIns="0" rtlCol="0" anchor="ctr"/>
          <a:lstStyle/>
          <a:p>
            <a:pPr indent="0" marL="0">
              <a:buNone/>
            </a:pPr>
            <a:r>
              <a:rPr lang="en-US" sz="950" dirty="0">
                <a:solidFill>
                  <a:schemeClr val="tx2"/>
                </a:solidFill>
              </a:rPr>
              <a:t>Actual legit</a:t>
            </a:r>
            <a:endParaRPr lang="en-US" sz="950" dirty="0"/>
          </a:p>
        </p:txBody>
      </p:sp>
      <p:sp>
        <p:nvSpPr>
          <p:cNvPr id="32" name="Text 30"/>
          <p:cNvSpPr txBox="1"/>
          <p:nvPr/>
        </p:nvSpPr>
        <p:spPr>
          <a:xfrm>
            <a:off x="4846320" y="2670048"/>
            <a:ext cx="777240" cy="685800"/>
          </a:xfrm>
          <a:prstGeom prst="rect">
            <a:avLst/>
          </a:prstGeom>
          <a:noFill/>
          <a:ln/>
        </p:spPr>
        <p:txBody>
          <a:bodyPr wrap="square" lIns="0" tIns="0" rIns="0" bIns="0" rtlCol="0" anchor="ctr"/>
          <a:lstStyle/>
          <a:p>
            <a:pPr indent="0" marL="0">
              <a:buNone/>
            </a:pPr>
            <a:r>
              <a:rPr lang="en-US" sz="950" dirty="0">
                <a:solidFill>
                  <a:schemeClr val="tx2"/>
                </a:solidFill>
              </a:rPr>
              <a:t>Actual fraud</a:t>
            </a:r>
            <a:endParaRPr lang="en-US" sz="950" dirty="0"/>
          </a:p>
        </p:txBody>
      </p:sp>
      <p:sp>
        <p:nvSpPr>
          <p:cNvPr id="33" name="Shape 31"/>
          <p:cNvSpPr/>
          <p:nvPr/>
        </p:nvSpPr>
        <p:spPr>
          <a:xfrm>
            <a:off x="5669280" y="1938528"/>
            <a:ext cx="868680" cy="685800"/>
          </a:xfrm>
          <a:prstGeom prst="rect">
            <a:avLst/>
          </a:prstGeom>
          <a:solidFill>
            <a:schemeClr val="accent2">
              <a:alpha val="22000"/>
            </a:schemeClr>
          </a:solidFill>
          <a:ln w="12700">
            <a:solidFill>
              <a:schemeClr val="bg1"/>
            </a:solidFill>
            <a:prstDash val="solid"/>
          </a:ln>
        </p:spPr>
      </p:sp>
      <p:sp>
        <p:nvSpPr>
          <p:cNvPr id="34" name="Text 32"/>
          <p:cNvSpPr txBox="1"/>
          <p:nvPr/>
        </p:nvSpPr>
        <p:spPr>
          <a:xfrm>
            <a:off x="5669280" y="193852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505</a:t>
            </a:r>
            <a:endParaRPr lang="en-US" sz="2000" dirty="0"/>
          </a:p>
          <a:p>
            <a:pPr algn="ctr" indent="0" marL="0">
              <a:buNone/>
            </a:pPr>
            <a:r>
              <a:rPr lang="en-US" sz="900" dirty="0">
                <a:solidFill>
                  <a:schemeClr val="tx2"/>
                </a:solidFill>
              </a:rPr>
              <a:t>TN</a:t>
            </a:r>
            <a:endParaRPr lang="en-US" sz="2000" dirty="0"/>
          </a:p>
        </p:txBody>
      </p:sp>
      <p:sp>
        <p:nvSpPr>
          <p:cNvPr id="35" name="Shape 33"/>
          <p:cNvSpPr/>
          <p:nvPr/>
        </p:nvSpPr>
        <p:spPr>
          <a:xfrm>
            <a:off x="6583680" y="1938528"/>
            <a:ext cx="868680" cy="685800"/>
          </a:xfrm>
          <a:prstGeom prst="rect">
            <a:avLst/>
          </a:prstGeom>
          <a:solidFill>
            <a:schemeClr val="accent1">
              <a:alpha val="18000"/>
            </a:schemeClr>
          </a:solidFill>
          <a:ln w="12700">
            <a:solidFill>
              <a:schemeClr val="bg1"/>
            </a:solidFill>
            <a:prstDash val="solid"/>
          </a:ln>
        </p:spPr>
      </p:sp>
      <p:sp>
        <p:nvSpPr>
          <p:cNvPr id="36" name="Text 34"/>
          <p:cNvSpPr txBox="1"/>
          <p:nvPr/>
        </p:nvSpPr>
        <p:spPr>
          <a:xfrm>
            <a:off x="6583680" y="193852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20</a:t>
            </a:r>
            <a:endParaRPr lang="en-US" sz="2000" dirty="0"/>
          </a:p>
          <a:p>
            <a:pPr algn="ctr" indent="0" marL="0">
              <a:buNone/>
            </a:pPr>
            <a:r>
              <a:rPr lang="en-US" sz="900" dirty="0">
                <a:solidFill>
                  <a:schemeClr val="tx2"/>
                </a:solidFill>
              </a:rPr>
              <a:t>FP</a:t>
            </a:r>
            <a:endParaRPr lang="en-US" sz="2000" dirty="0"/>
          </a:p>
        </p:txBody>
      </p:sp>
      <p:sp>
        <p:nvSpPr>
          <p:cNvPr id="37" name="Shape 35"/>
          <p:cNvSpPr/>
          <p:nvPr/>
        </p:nvSpPr>
        <p:spPr>
          <a:xfrm>
            <a:off x="5669280" y="2670048"/>
            <a:ext cx="868680" cy="685800"/>
          </a:xfrm>
          <a:prstGeom prst="rect">
            <a:avLst/>
          </a:prstGeom>
          <a:solidFill>
            <a:schemeClr val="accent1">
              <a:alpha val="18000"/>
            </a:schemeClr>
          </a:solidFill>
          <a:ln w="12700">
            <a:solidFill>
              <a:schemeClr val="bg1"/>
            </a:solidFill>
            <a:prstDash val="solid"/>
          </a:ln>
        </p:spPr>
      </p:sp>
      <p:sp>
        <p:nvSpPr>
          <p:cNvPr id="38" name="Text 36"/>
          <p:cNvSpPr txBox="1"/>
          <p:nvPr/>
        </p:nvSpPr>
        <p:spPr>
          <a:xfrm>
            <a:off x="5669280" y="267004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23</a:t>
            </a:r>
            <a:endParaRPr lang="en-US" sz="2000" dirty="0"/>
          </a:p>
          <a:p>
            <a:pPr algn="ctr" indent="0" marL="0">
              <a:buNone/>
            </a:pPr>
            <a:r>
              <a:rPr lang="en-US" sz="900" dirty="0">
                <a:solidFill>
                  <a:schemeClr val="tx2"/>
                </a:solidFill>
              </a:rPr>
              <a:t>FN</a:t>
            </a:r>
            <a:endParaRPr lang="en-US" sz="2000" dirty="0"/>
          </a:p>
        </p:txBody>
      </p:sp>
      <p:sp>
        <p:nvSpPr>
          <p:cNvPr id="39" name="Shape 37"/>
          <p:cNvSpPr/>
          <p:nvPr/>
        </p:nvSpPr>
        <p:spPr>
          <a:xfrm>
            <a:off x="6583680" y="2670048"/>
            <a:ext cx="868680" cy="685800"/>
          </a:xfrm>
          <a:prstGeom prst="rect">
            <a:avLst/>
          </a:prstGeom>
          <a:solidFill>
            <a:schemeClr val="accent2">
              <a:alpha val="22000"/>
            </a:schemeClr>
          </a:solidFill>
          <a:ln w="12700">
            <a:solidFill>
              <a:schemeClr val="bg1"/>
            </a:solidFill>
            <a:prstDash val="solid"/>
          </a:ln>
        </p:spPr>
      </p:sp>
      <p:sp>
        <p:nvSpPr>
          <p:cNvPr id="40" name="Text 38"/>
          <p:cNvSpPr txBox="1"/>
          <p:nvPr/>
        </p:nvSpPr>
        <p:spPr>
          <a:xfrm>
            <a:off x="6583680" y="2670048"/>
            <a:ext cx="868680" cy="685800"/>
          </a:xfrm>
          <a:prstGeom prst="rect">
            <a:avLst/>
          </a:prstGeom>
          <a:noFill/>
          <a:ln/>
        </p:spPr>
        <p:txBody>
          <a:bodyPr wrap="square" lIns="0" tIns="0" rIns="0" bIns="0" rtlCol="0" anchor="ctr"/>
          <a:lstStyle/>
          <a:p>
            <a:pPr algn="ctr" indent="0" marL="0">
              <a:buNone/>
            </a:pPr>
            <a:r>
              <a:rPr lang="en-US" sz="2000" b="1" dirty="0">
                <a:solidFill>
                  <a:schemeClr val="tx1"/>
                </a:solidFill>
              </a:rPr>
              <a:t>67</a:t>
            </a:r>
            <a:endParaRPr lang="en-US" sz="2000" dirty="0"/>
          </a:p>
          <a:p>
            <a:pPr algn="ctr" indent="0" marL="0">
              <a:buNone/>
            </a:pPr>
            <a:r>
              <a:rPr lang="en-US" sz="900" dirty="0">
                <a:solidFill>
                  <a:schemeClr val="tx2"/>
                </a:solidFill>
              </a:rPr>
              <a:t>TP</a:t>
            </a:r>
            <a:endParaRPr lang="en-US" sz="2000" dirty="0"/>
          </a:p>
        </p:txBody>
      </p:sp>
      <p:sp>
        <p:nvSpPr>
          <p:cNvPr id="41" name="Text 39"/>
          <p:cNvSpPr txBox="1"/>
          <p:nvPr/>
        </p:nvSpPr>
        <p:spPr>
          <a:xfrm>
            <a:off x="4892040" y="3520440"/>
            <a:ext cx="2606040" cy="960120"/>
          </a:xfrm>
          <a:prstGeom prst="rect">
            <a:avLst/>
          </a:prstGeom>
          <a:noFill/>
          <a:ln/>
        </p:spPr>
        <p:txBody>
          <a:bodyPr wrap="square" lIns="0" tIns="0" rIns="0" bIns="0" rtlCol="0" anchor="t"/>
          <a:lstStyle/>
          <a:p>
            <a:pPr indent="0" marL="0">
              <a:buNone/>
            </a:pPr>
            <a:r>
              <a:rPr lang="en-US" sz="1050" dirty="0">
                <a:solidFill>
                  <a:schemeClr val="tx2"/>
                </a:solidFill>
              </a:rPr>
              <a:t>Caught 67 of 90 frauds with only 20 false alarms, the more cautious model.</a:t>
            </a:r>
            <a:endParaRPr lang="en-US" sz="1050" dirty="0"/>
          </a:p>
        </p:txBody>
      </p:sp>
      <p:sp>
        <p:nvSpPr>
          <p:cNvPr id="42" name="Text 40"/>
          <p:cNvSpPr txBox="1"/>
          <p:nvPr/>
        </p:nvSpPr>
        <p:spPr>
          <a:xfrm>
            <a:off x="7589520" y="1645920"/>
            <a:ext cx="1005840" cy="219456"/>
          </a:xfrm>
          <a:prstGeom prst="rect">
            <a:avLst/>
          </a:prstGeom>
          <a:noFill/>
          <a:ln/>
        </p:spPr>
        <p:txBody>
          <a:bodyPr wrap="square" lIns="0" tIns="0" rIns="0" bIns="0" rtlCol="0" anchor="t"/>
          <a:lstStyle/>
          <a:p>
            <a:pPr indent="0" marL="0">
              <a:buNone/>
            </a:pPr>
            <a:r>
              <a:rPr lang="en-US" sz="950" dirty="0">
                <a:solidFill>
                  <a:schemeClr val="tx2"/>
                </a:solidFill>
              </a:rPr>
              <a:t>Accuracy</a:t>
            </a:r>
            <a:endParaRPr lang="en-US" sz="950" dirty="0"/>
          </a:p>
        </p:txBody>
      </p:sp>
      <p:sp>
        <p:nvSpPr>
          <p:cNvPr id="43" name="Text 41"/>
          <p:cNvSpPr txBox="1"/>
          <p:nvPr/>
        </p:nvSpPr>
        <p:spPr>
          <a:xfrm>
            <a:off x="7589520" y="1847088"/>
            <a:ext cx="1005840" cy="384048"/>
          </a:xfrm>
          <a:prstGeom prst="rect">
            <a:avLst/>
          </a:prstGeom>
          <a:noFill/>
          <a:ln/>
        </p:spPr>
        <p:txBody>
          <a:bodyPr wrap="square" lIns="0" tIns="0" rIns="0" bIns="0" rtlCol="0" anchor="t"/>
          <a:lstStyle/>
          <a:p>
            <a:pPr indent="0" marL="0">
              <a:buNone/>
            </a:pPr>
            <a:r>
              <a:rPr lang="en-US" sz="1800" b="1" dirty="0">
                <a:solidFill>
                  <a:schemeClr val="accent3"/>
                </a:solidFill>
              </a:rPr>
              <a:t>93.01%</a:t>
            </a:r>
            <a:endParaRPr lang="en-US" sz="1800" dirty="0"/>
          </a:p>
        </p:txBody>
      </p:sp>
      <p:sp>
        <p:nvSpPr>
          <p:cNvPr id="44" name="Text 42"/>
          <p:cNvSpPr txBox="1"/>
          <p:nvPr/>
        </p:nvSpPr>
        <p:spPr>
          <a:xfrm>
            <a:off x="7589520" y="2377440"/>
            <a:ext cx="1005840" cy="219456"/>
          </a:xfrm>
          <a:prstGeom prst="rect">
            <a:avLst/>
          </a:prstGeom>
          <a:noFill/>
          <a:ln/>
        </p:spPr>
        <p:txBody>
          <a:bodyPr wrap="square" lIns="0" tIns="0" rIns="0" bIns="0" rtlCol="0" anchor="t"/>
          <a:lstStyle/>
          <a:p>
            <a:pPr indent="0" marL="0">
              <a:buNone/>
            </a:pPr>
            <a:r>
              <a:rPr lang="en-US" sz="950" dirty="0">
                <a:solidFill>
                  <a:schemeClr val="tx2"/>
                </a:solidFill>
              </a:rPr>
              <a:t>Precision</a:t>
            </a:r>
            <a:endParaRPr lang="en-US" sz="950" dirty="0"/>
          </a:p>
        </p:txBody>
      </p:sp>
      <p:sp>
        <p:nvSpPr>
          <p:cNvPr id="45" name="Text 43"/>
          <p:cNvSpPr txBox="1"/>
          <p:nvPr/>
        </p:nvSpPr>
        <p:spPr>
          <a:xfrm>
            <a:off x="7589520" y="2578608"/>
            <a:ext cx="1005840" cy="384048"/>
          </a:xfrm>
          <a:prstGeom prst="rect">
            <a:avLst/>
          </a:prstGeom>
          <a:noFill/>
          <a:ln/>
        </p:spPr>
        <p:txBody>
          <a:bodyPr wrap="square" lIns="0" tIns="0" rIns="0" bIns="0" rtlCol="0" anchor="t"/>
          <a:lstStyle/>
          <a:p>
            <a:pPr indent="0" marL="0">
              <a:buNone/>
            </a:pPr>
            <a:r>
              <a:rPr lang="en-US" sz="1800" b="1" dirty="0">
                <a:solidFill>
                  <a:schemeClr val="accent3"/>
                </a:solidFill>
              </a:rPr>
              <a:t>77.01%</a:t>
            </a:r>
            <a:endParaRPr lang="en-US" sz="1800" dirty="0"/>
          </a:p>
        </p:txBody>
      </p:sp>
      <p:sp>
        <p:nvSpPr>
          <p:cNvPr id="46" name="Text 44"/>
          <p:cNvSpPr txBox="1"/>
          <p:nvPr/>
        </p:nvSpPr>
        <p:spPr>
          <a:xfrm>
            <a:off x="7589520" y="3108960"/>
            <a:ext cx="1005840" cy="219456"/>
          </a:xfrm>
          <a:prstGeom prst="rect">
            <a:avLst/>
          </a:prstGeom>
          <a:noFill/>
          <a:ln/>
        </p:spPr>
        <p:txBody>
          <a:bodyPr wrap="square" lIns="0" tIns="0" rIns="0" bIns="0" rtlCol="0" anchor="t"/>
          <a:lstStyle/>
          <a:p>
            <a:pPr indent="0" marL="0">
              <a:buNone/>
            </a:pPr>
            <a:r>
              <a:rPr lang="en-US" sz="950" dirty="0">
                <a:solidFill>
                  <a:schemeClr val="tx2"/>
                </a:solidFill>
              </a:rPr>
              <a:t>Recall</a:t>
            </a:r>
            <a:endParaRPr lang="en-US" sz="950" dirty="0"/>
          </a:p>
        </p:txBody>
      </p:sp>
      <p:sp>
        <p:nvSpPr>
          <p:cNvPr id="47" name="Text 45"/>
          <p:cNvSpPr txBox="1"/>
          <p:nvPr/>
        </p:nvSpPr>
        <p:spPr>
          <a:xfrm>
            <a:off x="7589520" y="3310128"/>
            <a:ext cx="1005840" cy="384048"/>
          </a:xfrm>
          <a:prstGeom prst="rect">
            <a:avLst/>
          </a:prstGeom>
          <a:noFill/>
          <a:ln/>
        </p:spPr>
        <p:txBody>
          <a:bodyPr wrap="square" lIns="0" tIns="0" rIns="0" bIns="0" rtlCol="0" anchor="t"/>
          <a:lstStyle/>
          <a:p>
            <a:pPr indent="0" marL="0">
              <a:buNone/>
            </a:pPr>
            <a:r>
              <a:rPr lang="en-US" sz="1800" b="1" dirty="0">
                <a:solidFill>
                  <a:schemeClr val="accent3"/>
                </a:solidFill>
              </a:rPr>
              <a:t>74.44%</a:t>
            </a:r>
            <a:endParaRPr lang="en-US" sz="1800" dirty="0"/>
          </a:p>
        </p:txBody>
      </p:sp>
      <p:sp>
        <p:nvSpPr>
          <p:cNvPr id="48" name="Text 46"/>
          <p:cNvSpPr txBox="1"/>
          <p:nvPr/>
        </p:nvSpPr>
        <p:spPr>
          <a:xfrm>
            <a:off x="7589520" y="3840480"/>
            <a:ext cx="1005840" cy="219456"/>
          </a:xfrm>
          <a:prstGeom prst="rect">
            <a:avLst/>
          </a:prstGeom>
          <a:noFill/>
          <a:ln/>
        </p:spPr>
        <p:txBody>
          <a:bodyPr wrap="square" lIns="0" tIns="0" rIns="0" bIns="0" rtlCol="0" anchor="t"/>
          <a:lstStyle/>
          <a:p>
            <a:pPr indent="0" marL="0">
              <a:buNone/>
            </a:pPr>
            <a:r>
              <a:rPr lang="en-US" sz="950" dirty="0">
                <a:solidFill>
                  <a:schemeClr val="tx2"/>
                </a:solidFill>
              </a:rPr>
              <a:t>F1-score</a:t>
            </a:r>
            <a:endParaRPr lang="en-US" sz="950" dirty="0"/>
          </a:p>
        </p:txBody>
      </p:sp>
      <p:sp>
        <p:nvSpPr>
          <p:cNvPr id="49" name="Text 47"/>
          <p:cNvSpPr txBox="1"/>
          <p:nvPr/>
        </p:nvSpPr>
        <p:spPr>
          <a:xfrm>
            <a:off x="7589520" y="4041648"/>
            <a:ext cx="1005840" cy="384048"/>
          </a:xfrm>
          <a:prstGeom prst="rect">
            <a:avLst/>
          </a:prstGeom>
          <a:noFill/>
          <a:ln/>
        </p:spPr>
        <p:txBody>
          <a:bodyPr wrap="square" lIns="0" tIns="0" rIns="0" bIns="0" rtlCol="0" anchor="t"/>
          <a:lstStyle/>
          <a:p>
            <a:pPr indent="0" marL="0">
              <a:buNone/>
            </a:pPr>
            <a:r>
              <a:rPr lang="en-US" sz="1800" b="1" dirty="0">
                <a:solidFill>
                  <a:schemeClr val="accent3"/>
                </a:solidFill>
              </a:rPr>
              <a:t>75.71%</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RESULTS</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Results reported in the paper</a:t>
            </a:r>
            <a:endParaRPr lang="en-US" sz="2600" dirty="0"/>
          </a:p>
        </p:txBody>
      </p:sp>
      <p:sp>
        <p:nvSpPr>
          <p:cNvPr id="4" name="Text 2"/>
          <p:cNvSpPr txBox="1"/>
          <p:nvPr/>
        </p:nvSpPr>
        <p:spPr>
          <a:xfrm>
            <a:off x="457200" y="1097280"/>
            <a:ext cx="4572000" cy="274320"/>
          </a:xfrm>
          <a:prstGeom prst="rect">
            <a:avLst/>
          </a:prstGeom>
          <a:noFill/>
          <a:ln/>
        </p:spPr>
        <p:txBody>
          <a:bodyPr wrap="square" lIns="0" tIns="0" rIns="0" bIns="0" rtlCol="0" anchor="t"/>
          <a:lstStyle/>
          <a:p>
            <a:pPr indent="0" marL="0">
              <a:buNone/>
            </a:pPr>
            <a:r>
              <a:rPr lang="en-US" sz="1200" b="1" dirty="0">
                <a:solidFill>
                  <a:schemeClr val="tx1"/>
                </a:solidFill>
              </a:rPr>
              <a:t>Table IV — performance metrics (as printed)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4572000" cy="914400"/>
        </p:xfrm>
        <a:graphic>
          <a:graphicData uri="http://schemas.openxmlformats.org/drawingml/2006/table">
            <a:tbl>
              <a:tblPr/>
              <a:tblGrid>
                <a:gridCol w="914400"/>
                <a:gridCol w="914400"/>
                <a:gridCol w="914400"/>
                <a:gridCol w="914400"/>
                <a:gridCol w="914400"/>
              </a:tblGrid>
              <a:tr h="329184">
                <a:tc>
                  <a:txBody>
                    <a:bodyPr/>
                    <a:lstStyle/>
                    <a:p>
                      <a:pPr algn="ctr" indent="0" marL="0">
                        <a:buNone/>
                      </a:pPr>
                      <a:r>
                        <a:rPr lang="en-US" sz="1100" b="1" dirty="0">
                          <a:solidFill>
                            <a:schemeClr val="bg1"/>
                          </a:solidFill>
                        </a:rPr>
                        <a:t>Model</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Accuracy</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Precision</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F1-score</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Recall</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r>
              <a:tr h="329184">
                <a:tc>
                  <a:txBody>
                    <a:bodyPr/>
                    <a:lstStyle/>
                    <a:p>
                      <a:pPr algn="ctr" indent="0" marL="0">
                        <a:buNone/>
                      </a:pPr>
                      <a:r>
                        <a:rPr lang="en-US" sz="1100" b="1" dirty="0">
                          <a:solidFill>
                            <a:schemeClr val="tx1"/>
                          </a:solidFill>
                        </a:rPr>
                        <a:t>HNB</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86.82</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95.8</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22.33</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0.3622</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chemeClr val="tx1"/>
                          </a:solidFill>
                        </a:rPr>
                        <a:t>BBN</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89.59</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85.18</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27.77</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0.4181</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606040"/>
            <a:ext cx="4572000" cy="274320"/>
          </a:xfrm>
          <a:prstGeom prst="rect">
            <a:avLst/>
          </a:prstGeom>
          <a:noFill/>
          <a:ln/>
        </p:spPr>
        <p:txBody>
          <a:bodyPr wrap="square" lIns="0" tIns="0" rIns="0" bIns="0" rtlCol="0" anchor="t"/>
          <a:lstStyle/>
          <a:p>
            <a:pPr indent="0" marL="0">
              <a:buNone/>
            </a:pPr>
            <a:r>
              <a:rPr lang="en-US" sz="1200" b="1" dirty="0">
                <a:solidFill>
                  <a:schemeClr val="tx1"/>
                </a:solidFill>
              </a:rPr>
              <a:t>Table V — comparison with other models</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57200" y="2926080"/>
          <a:ext cx="4572000" cy="914400"/>
        </p:xfrm>
        <a:graphic>
          <a:graphicData uri="http://schemas.openxmlformats.org/drawingml/2006/table">
            <a:tbl>
              <a:tblPr/>
              <a:tblGrid>
                <a:gridCol w="822960"/>
                <a:gridCol w="2377440"/>
                <a:gridCol w="1371600"/>
              </a:tblGrid>
              <a:tr h="310896">
                <a:tc>
                  <a:txBody>
                    <a:bodyPr/>
                    <a:lstStyle/>
                    <a:p>
                      <a:pPr algn="ctr" indent="0" marL="0">
                        <a:buNone/>
                      </a:pPr>
                      <a:r>
                        <a:rPr lang="en-US" sz="1100" b="1" dirty="0">
                          <a:solidFill>
                            <a:schemeClr val="bg1"/>
                          </a:solidFill>
                        </a:rPr>
                        <a:t>Ref.</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Model</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Accuracy</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chemeClr val="tx1"/>
                    </a:solidFill>
                  </a:tcPr>
                </a:tc>
              </a:tr>
              <a:tr h="310896">
                <a:tc>
                  <a:txBody>
                    <a:bodyPr/>
                    <a:lstStyle/>
                    <a:p>
                      <a:pPr algn="ctr" indent="0" marL="0">
                        <a:buNone/>
                      </a:pPr>
                      <a:r>
                        <a:rPr lang="en-US" sz="1100" dirty="0">
                          <a:solidFill>
                            <a:schemeClr val="tx1"/>
                          </a:solidFill>
                        </a:rPr>
                        <a:t>[17]</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l" indent="0" marL="0">
                        <a:buNone/>
                      </a:pPr>
                      <a:r>
                        <a:rPr lang="en-US" sz="1100" dirty="0">
                          <a:solidFill>
                            <a:schemeClr val="tx1"/>
                          </a:solidFill>
                        </a:rPr>
                        <a:t>Logistic Regression</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54.86%</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chemeClr val="tx1"/>
                          </a:solidFill>
                        </a:rPr>
                        <a:t>[18]</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l" indent="0" marL="0">
                        <a:buNone/>
                      </a:pPr>
                      <a:r>
                        <a:rPr lang="en-US" sz="1100" dirty="0">
                          <a:solidFill>
                            <a:schemeClr val="tx1"/>
                          </a:solidFill>
                        </a:rPr>
                        <a:t>GA-RF</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77.95%</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chemeClr val="tx1"/>
                          </a:solidFill>
                        </a:rPr>
                        <a:t>—</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l" indent="0" marL="0">
                        <a:buNone/>
                      </a:pPr>
                      <a:r>
                        <a:rPr lang="en-US" sz="1100" b="1" dirty="0">
                          <a:solidFill>
                            <a:schemeClr val="tx1"/>
                          </a:solidFill>
                        </a:rPr>
                        <a:t>Proposed HNB</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86.87%</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chemeClr val="tx1"/>
                          </a:solidFill>
                        </a:rPr>
                        <a:t>—</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l" indent="0" marL="0">
                        <a:buNone/>
                      </a:pPr>
                      <a:r>
                        <a:rPr lang="en-US" sz="1100" b="1" dirty="0">
                          <a:solidFill>
                            <a:schemeClr val="tx1"/>
                          </a:solidFill>
                        </a:rPr>
                        <a:t>Proposed BBN</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89.59%</a:t>
                      </a:r>
                      <a:endParaRPr lang="en-US" sz="1100" dirty="0"/>
                    </a:p>
                  </a:txBody>
                  <a:tcPr marL="91440" marR="91440" marT="45720" marB="45720" anchor="ctr">
                    <a:lnL w="9525" cap="flat" cmpd="sng" algn="ctr">
                      <a:solidFill>
                        <a:srgbClr val="F2F3F6"/>
                      </a:solidFill>
                      <a:prstDash val="solid"/>
                      <a:round/>
                      <a:headEnd type="none" w="med" len="med"/>
                      <a:tailEnd type="none" w="med" len="med"/>
                    </a:lnL>
                    <a:lnR w="9525" cap="flat" cmpd="sng" algn="ctr">
                      <a:solidFill>
                        <a:srgbClr val="F2F3F6"/>
                      </a:solidFill>
                      <a:prstDash val="solid"/>
                      <a:round/>
                      <a:headEnd type="none" w="med" len="med"/>
                      <a:tailEnd type="none" w="med" len="med"/>
                    </a:lnR>
                    <a:lnT w="9525" cap="flat" cmpd="sng" algn="ctr">
                      <a:solidFill>
                        <a:srgbClr val="F2F3F6"/>
                      </a:solidFill>
                      <a:prstDash val="solid"/>
                      <a:round/>
                      <a:headEnd type="none" w="med" len="med"/>
                      <a:tailEnd type="none" w="med" len="med"/>
                    </a:lnT>
                    <a:lnB w="9525" cap="flat" cmpd="sng" algn="ctr">
                      <a:solidFill>
                        <a:srgbClr val="F2F3F6"/>
                      </a:solidFill>
                      <a:prstDash val="solid"/>
                      <a:round/>
                      <a:headEnd type="none" w="med" len="med"/>
                      <a:tailEnd type="none" w="med" len="med"/>
                    </a:lnB>
                    <a:solidFill>
                      <a:srgbClr val="FFFFFF"/>
                    </a:solidFill>
                  </a:tcPr>
                </a:tc>
              </a:tr>
            </a:tbl>
          </a:graphicData>
        </a:graphic>
      </p:graphicFrame>
      <p:sp>
        <p:nvSpPr>
          <p:cNvPr id="8" name="Shape 4"/>
          <p:cNvSpPr/>
          <p:nvPr/>
        </p:nvSpPr>
        <p:spPr>
          <a:xfrm>
            <a:off x="5349240" y="1097280"/>
            <a:ext cx="3337560" cy="3520440"/>
          </a:xfrm>
          <a:prstGeom prst="roundRect">
            <a:avLst>
              <a:gd name="adj" fmla="val 2192"/>
            </a:avLst>
          </a:prstGeom>
          <a:solidFill>
            <a:schemeClr val="bg2"/>
          </a:solidFill>
          <a:ln w="12700">
            <a:solidFill>
              <a:schemeClr val="bg2"/>
            </a:solidFill>
            <a:prstDash val="solid"/>
          </a:ln>
        </p:spPr>
      </p:sp>
      <p:sp>
        <p:nvSpPr>
          <p:cNvPr id="9" name="Shape 5"/>
          <p:cNvSpPr/>
          <p:nvPr/>
        </p:nvSpPr>
        <p:spPr>
          <a:xfrm>
            <a:off x="5532120" y="1261872"/>
            <a:ext cx="438912" cy="438912"/>
          </a:xfrm>
          <a:prstGeom prst="ellipse">
            <a:avLst/>
          </a:prstGeom>
          <a:solidFill>
            <a:schemeClr val="accent4"/>
          </a:solidFill>
          <a:ln w="12700">
            <a:solidFill>
              <a:schemeClr val="accent4"/>
            </a:solidFill>
            <a:prstDash val="solid"/>
          </a:ln>
        </p:spPr>
      </p:sp>
      <p:pic>
        <p:nvPicPr>
          <p:cNvPr id="10" name="Image 0" descr="preencoded.png">    </p:cNvPr>
          <p:cNvPicPr>
            <a:picLocks noChangeAspect="1"/>
          </p:cNvPicPr>
          <p:nvPr/>
        </p:nvPicPr>
        <p:blipFill>
          <a:blip r:embed="rId1"/>
          <a:stretch>
            <a:fillRect/>
          </a:stretch>
        </p:blipFill>
        <p:spPr>
          <a:xfrm>
            <a:off x="5637459" y="1367211"/>
            <a:ext cx="228234" cy="228234"/>
          </a:xfrm>
          <a:prstGeom prst="rect">
            <a:avLst/>
          </a:prstGeom>
        </p:spPr>
      </p:pic>
      <p:sp>
        <p:nvSpPr>
          <p:cNvPr id="11" name="Text 6"/>
          <p:cNvSpPr txBox="1"/>
          <p:nvPr/>
        </p:nvSpPr>
        <p:spPr>
          <a:xfrm>
            <a:off x="6080760" y="1261872"/>
            <a:ext cx="2514600" cy="438912"/>
          </a:xfrm>
          <a:prstGeom prst="rect">
            <a:avLst/>
          </a:prstGeom>
          <a:noFill/>
          <a:ln/>
        </p:spPr>
        <p:txBody>
          <a:bodyPr wrap="square" lIns="0" tIns="0" rIns="0" bIns="0" rtlCol="0" anchor="ctr"/>
          <a:lstStyle/>
          <a:p>
            <a:pPr indent="0" marL="0">
              <a:buNone/>
            </a:pPr>
            <a:r>
              <a:rPr lang="en-US" sz="1300" b="1" dirty="0">
                <a:solidFill>
                  <a:schemeClr val="tx1"/>
                </a:solidFill>
              </a:rPr>
              <a:t>A closer look at Table IV</a:t>
            </a:r>
            <a:endParaRPr lang="en-US" sz="1300" dirty="0"/>
          </a:p>
        </p:txBody>
      </p:sp>
      <p:sp>
        <p:nvSpPr>
          <p:cNvPr id="12" name="Text 7"/>
          <p:cNvSpPr txBox="1"/>
          <p:nvPr/>
        </p:nvSpPr>
        <p:spPr>
          <a:xfrm>
            <a:off x="5532120" y="1828800"/>
            <a:ext cx="3017520" cy="457200"/>
          </a:xfrm>
          <a:prstGeom prst="rect">
            <a:avLst/>
          </a:prstGeom>
          <a:noFill/>
          <a:ln/>
        </p:spPr>
        <p:txBody>
          <a:bodyPr wrap="square" lIns="0" tIns="0" rIns="0" bIns="0" rtlCol="0" anchor="t"/>
          <a:lstStyle/>
          <a:p>
            <a:pPr indent="0" marL="0">
              <a:buNone/>
            </a:pPr>
            <a:r>
              <a:rPr lang="en-US" sz="1050" dirty="0">
                <a:solidFill>
                  <a:schemeClr val="tx2"/>
                </a:solidFill>
              </a:rPr>
              <a:t>Recomputing from the paper's own HNB confusion matrix (TP 23 · FP 80 · FN 1 · TN 511):</a:t>
            </a:r>
            <a:endParaRPr lang="en-US" sz="1050" dirty="0"/>
          </a:p>
        </p:txBody>
      </p:sp>
      <p:sp>
        <p:nvSpPr>
          <p:cNvPr id="13" name="Text 8"/>
          <p:cNvSpPr txBox="1"/>
          <p:nvPr/>
        </p:nvSpPr>
        <p:spPr>
          <a:xfrm>
            <a:off x="5532120" y="2331720"/>
            <a:ext cx="3063240" cy="868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Precision = 23/103 = 22.33% → printed as F1</a:t>
            </a:r>
            <a:endParaRPr lang="en-US" sz="1050" dirty="0"/>
          </a:p>
          <a:p>
            <a:pPr marL="152400" indent="-152400">
              <a:spcAft>
                <a:spcPts val="300"/>
              </a:spcAft>
              <a:buSzPct val="100000"/>
              <a:buChar char="•"/>
            </a:pPr>
            <a:r>
              <a:rPr lang="en-US" sz="1050" dirty="0">
                <a:solidFill>
                  <a:schemeClr val="tx1"/>
                </a:solidFill>
              </a:rPr>
              <a:t>Recall = 23/24 = 95.8% → printed as Precision</a:t>
            </a:r>
            <a:endParaRPr lang="en-US" sz="1050" dirty="0"/>
          </a:p>
          <a:p>
            <a:pPr marL="152400" indent="-152400">
              <a:spcAft>
                <a:spcPts val="300"/>
              </a:spcAft>
              <a:buSzPct val="100000"/>
              <a:buChar char="•"/>
            </a:pPr>
            <a:r>
              <a:rPr lang="en-US" sz="1050" dirty="0">
                <a:solidFill>
                  <a:schemeClr val="tx1"/>
                </a:solidFill>
              </a:rPr>
              <a:t>F1 = 0.362 → printed as Recall</a:t>
            </a:r>
            <a:endParaRPr lang="en-US" sz="1050" dirty="0"/>
          </a:p>
        </p:txBody>
      </p:sp>
      <p:sp>
        <p:nvSpPr>
          <p:cNvPr id="14" name="Text 9"/>
          <p:cNvSpPr txBox="1"/>
          <p:nvPr/>
        </p:nvSpPr>
        <p:spPr>
          <a:xfrm>
            <a:off x="5532120" y="3291840"/>
            <a:ext cx="3017520" cy="1234440"/>
          </a:xfrm>
          <a:prstGeom prst="rect">
            <a:avLst/>
          </a:prstGeom>
          <a:noFill/>
          <a:ln/>
        </p:spPr>
        <p:txBody>
          <a:bodyPr wrap="square" lIns="0" tIns="0" rIns="0" bIns="0" rtlCol="0" anchor="t"/>
          <a:lstStyle/>
          <a:p>
            <a:pPr indent="0" marL="0">
              <a:buNone/>
            </a:pPr>
            <a:r>
              <a:rPr lang="en-US" sz="1000" i="1" dirty="0">
                <a:solidFill>
                  <a:schemeClr val="tx2"/>
                </a:solidFill>
              </a:rPr>
              <a:t>The columns are mislabelled, so we compare against this corrected reading. Both paper matrices also contain only 24–28 actual frauds (≈ 4%) vs. 14.6% in the dataset, and the BBN matrix sums to 616.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COMPARISON</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Our values vs. paper values</a:t>
            </a:r>
            <a:endParaRPr lang="en-US" sz="2600" dirty="0"/>
          </a:p>
        </p:txBody>
      </p:sp>
      <p:graphicFrame>
        <p:nvGraphicFramePr>
          <p:cNvPr id="4" name="Chart 0" descr=""/>
          <p:cNvGraphicFramePr/>
          <p:nvPr/>
        </p:nvGraphicFramePr>
        <p:xfrm>
          <a:off x="365760" y="105156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143000"/>
            <a:ext cx="2423160" cy="1005840"/>
          </a:xfrm>
          <a:prstGeom prst="roundRect">
            <a:avLst>
              <a:gd name="adj" fmla="val 7273"/>
            </a:avLst>
          </a:prstGeom>
          <a:solidFill>
            <a:schemeClr val="bg2"/>
          </a:solidFill>
          <a:ln w="12700">
            <a:solidFill>
              <a:schemeClr val="bg2"/>
            </a:solidFill>
            <a:prstDash val="solid"/>
          </a:ln>
        </p:spPr>
      </p:sp>
      <p:sp>
        <p:nvSpPr>
          <p:cNvPr id="6" name="Text 3"/>
          <p:cNvSpPr txBox="1"/>
          <p:nvPr/>
        </p:nvSpPr>
        <p:spPr>
          <a:xfrm>
            <a:off x="6446520" y="1252728"/>
            <a:ext cx="21488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+6.8 / +3.4 pp</a:t>
            </a:r>
            <a:endParaRPr lang="en-US" sz="2000" dirty="0"/>
          </a:p>
        </p:txBody>
      </p:sp>
      <p:sp>
        <p:nvSpPr>
          <p:cNvPr id="7" name="Text 4"/>
          <p:cNvSpPr txBox="1"/>
          <p:nvPr/>
        </p:nvSpPr>
        <p:spPr>
          <a:xfrm>
            <a:off x="6446520" y="1673352"/>
            <a:ext cx="2148840" cy="411480"/>
          </a:xfrm>
          <a:prstGeom prst="rect">
            <a:avLst/>
          </a:prstGeom>
          <a:noFill/>
          <a:ln/>
        </p:spPr>
        <p:txBody>
          <a:bodyPr wrap="square" lIns="0" tIns="0" rIns="0" bIns="0" rtlCol="0" anchor="t"/>
          <a:lstStyle/>
          <a:p>
            <a:pPr indent="0" marL="0">
              <a:buNone/>
            </a:pPr>
            <a:r>
              <a:rPr lang="en-US" sz="1050" dirty="0">
                <a:solidFill>
                  <a:schemeClr val="tx2"/>
                </a:solidFill>
              </a:rPr>
              <a:t>accuracy gain (HNB / BBN)</a:t>
            </a:r>
            <a:endParaRPr lang="en-US" sz="1050" dirty="0"/>
          </a:p>
        </p:txBody>
      </p:sp>
      <p:sp>
        <p:nvSpPr>
          <p:cNvPr id="8" name="Shape 5"/>
          <p:cNvSpPr/>
          <p:nvPr/>
        </p:nvSpPr>
        <p:spPr>
          <a:xfrm>
            <a:off x="6263640" y="2304288"/>
            <a:ext cx="2423160" cy="1005840"/>
          </a:xfrm>
          <a:prstGeom prst="roundRect">
            <a:avLst>
              <a:gd name="adj" fmla="val 7273"/>
            </a:avLst>
          </a:prstGeom>
          <a:solidFill>
            <a:schemeClr val="bg2"/>
          </a:solidFill>
          <a:ln w="12700">
            <a:solidFill>
              <a:schemeClr val="bg2"/>
            </a:solidFill>
            <a:prstDash val="solid"/>
          </a:ln>
        </p:spPr>
      </p:sp>
      <p:sp>
        <p:nvSpPr>
          <p:cNvPr id="9" name="Text 6"/>
          <p:cNvSpPr txBox="1"/>
          <p:nvPr/>
        </p:nvSpPr>
        <p:spPr>
          <a:xfrm>
            <a:off x="6446520" y="2414016"/>
            <a:ext cx="21488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 3×</a:t>
            </a:r>
            <a:endParaRPr lang="en-US" sz="2000" dirty="0"/>
          </a:p>
        </p:txBody>
      </p:sp>
      <p:sp>
        <p:nvSpPr>
          <p:cNvPr id="10" name="Text 7"/>
          <p:cNvSpPr txBox="1"/>
          <p:nvPr/>
        </p:nvSpPr>
        <p:spPr>
          <a:xfrm>
            <a:off x="6446520" y="2834640"/>
            <a:ext cx="2148840" cy="411480"/>
          </a:xfrm>
          <a:prstGeom prst="rect">
            <a:avLst/>
          </a:prstGeom>
          <a:noFill/>
          <a:ln/>
        </p:spPr>
        <p:txBody>
          <a:bodyPr wrap="square" lIns="0" tIns="0" rIns="0" bIns="0" rtlCol="0" anchor="t"/>
          <a:lstStyle/>
          <a:p>
            <a:pPr indent="0" marL="0">
              <a:buNone/>
            </a:pPr>
            <a:r>
              <a:rPr lang="en-US" sz="1050" dirty="0">
                <a:solidFill>
                  <a:schemeClr val="tx2"/>
                </a:solidFill>
              </a:rPr>
              <a:t>higher precision: 73–77% vs 22–28%</a:t>
            </a:r>
            <a:endParaRPr lang="en-US" sz="1050" dirty="0"/>
          </a:p>
        </p:txBody>
      </p:sp>
      <p:sp>
        <p:nvSpPr>
          <p:cNvPr id="11" name="Shape 8"/>
          <p:cNvSpPr/>
          <p:nvPr/>
        </p:nvSpPr>
        <p:spPr>
          <a:xfrm>
            <a:off x="6263640" y="3465576"/>
            <a:ext cx="2423160" cy="1005840"/>
          </a:xfrm>
          <a:prstGeom prst="roundRect">
            <a:avLst>
              <a:gd name="adj" fmla="val 7273"/>
            </a:avLst>
          </a:prstGeom>
          <a:solidFill>
            <a:schemeClr val="bg2"/>
          </a:solidFill>
          <a:ln w="12700">
            <a:solidFill>
              <a:schemeClr val="bg2"/>
            </a:solidFill>
            <a:prstDash val="solid"/>
          </a:ln>
        </p:spPr>
      </p:sp>
      <p:sp>
        <p:nvSpPr>
          <p:cNvPr id="12" name="Text 9"/>
          <p:cNvSpPr txBox="1"/>
          <p:nvPr/>
        </p:nvSpPr>
        <p:spPr>
          <a:xfrm>
            <a:off x="6446520" y="3575304"/>
            <a:ext cx="214884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−5.8 / −10.7 pp</a:t>
            </a:r>
            <a:endParaRPr lang="en-US" sz="2000" dirty="0"/>
          </a:p>
        </p:txBody>
      </p:sp>
      <p:sp>
        <p:nvSpPr>
          <p:cNvPr id="13" name="Text 10"/>
          <p:cNvSpPr txBox="1"/>
          <p:nvPr/>
        </p:nvSpPr>
        <p:spPr>
          <a:xfrm>
            <a:off x="6446520" y="3995928"/>
            <a:ext cx="2148840" cy="411480"/>
          </a:xfrm>
          <a:prstGeom prst="rect">
            <a:avLst/>
          </a:prstGeom>
          <a:noFill/>
          <a:ln/>
        </p:spPr>
        <p:txBody>
          <a:bodyPr wrap="square" lIns="0" tIns="0" rIns="0" bIns="0" rtlCol="0" anchor="t"/>
          <a:lstStyle/>
          <a:p>
            <a:pPr indent="0" marL="0">
              <a:buNone/>
            </a:pPr>
            <a:r>
              <a:rPr lang="en-US" sz="1050" dirty="0">
                <a:solidFill>
                  <a:schemeClr val="tx2"/>
                </a:solidFill>
              </a:rPr>
              <a:t>recall: the paper's models flag more aggressively</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COMPARISON</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Difference between our values and the paper's</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1051560"/>
                <a:gridCol w="1051560"/>
                <a:gridCol w="960120"/>
                <a:gridCol w="1051560"/>
                <a:gridCol w="1051560"/>
                <a:gridCol w="1280160"/>
              </a:tblGrid>
              <a:tr h="347472">
                <a:tc>
                  <a:txBody>
                    <a:bodyPr/>
                    <a:lstStyle/>
                    <a:p>
                      <a:pPr algn="ctr" indent="0" marL="0">
                        <a:buNone/>
                      </a:pPr>
                      <a:r>
                        <a:rPr lang="en-US" sz="1150" b="1" dirty="0">
                          <a:solidFill>
                            <a:srgbClr val="FFFFFF"/>
                          </a:solidFill>
                        </a:rPr>
                        <a:t>Metric</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1A1D29"/>
                    </a:solidFill>
                  </a:tcPr>
                </a:tc>
                <a:tc>
                  <a:txBody>
                    <a:bodyPr/>
                    <a:lstStyle/>
                    <a:p>
                      <a:pPr algn="ctr" indent="0" marL="0">
                        <a:buNone/>
                      </a:pPr>
                      <a:r>
                        <a:rPr lang="en-US" sz="1150" b="1" dirty="0">
                          <a:solidFill>
                            <a:srgbClr val="FFFFFF"/>
                          </a:solidFill>
                        </a:rPr>
                        <a:t>Paper HNB</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0E7C7B"/>
                    </a:solidFill>
                  </a:tcPr>
                </a:tc>
                <a:tc>
                  <a:txBody>
                    <a:bodyPr/>
                    <a:lstStyle/>
                    <a:p>
                      <a:pPr algn="ctr" indent="0" marL="0">
                        <a:buNone/>
                      </a:pPr>
                      <a:r>
                        <a:rPr lang="en-US" sz="1150" b="1" dirty="0">
                          <a:solidFill>
                            <a:srgbClr val="FFFFFF"/>
                          </a:solidFill>
                        </a:rPr>
                        <a:t>Our HNB</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0E7C7B"/>
                    </a:solidFill>
                  </a:tcPr>
                </a:tc>
                <a:tc>
                  <a:txBody>
                    <a:bodyPr/>
                    <a:lstStyle/>
                    <a:p>
                      <a:pPr algn="ctr" indent="0" marL="0">
                        <a:buNone/>
                      </a:pPr>
                      <a:r>
                        <a:rPr lang="en-US" sz="1150" b="1" dirty="0">
                          <a:solidFill>
                            <a:srgbClr val="FFFFFF"/>
                          </a:solidFill>
                        </a:rPr>
                        <a:t>Δ HNB</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0E7C7B"/>
                    </a:solidFill>
                  </a:tcPr>
                </a:tc>
                <a:tc>
                  <a:txBody>
                    <a:bodyPr/>
                    <a:lstStyle/>
                    <a:p>
                      <a:pPr algn="ctr" indent="0" marL="0">
                        <a:buNone/>
                      </a:pPr>
                      <a:r>
                        <a:rPr lang="en-US" sz="1150" b="1" dirty="0">
                          <a:solidFill>
                            <a:srgbClr val="FFFFFF"/>
                          </a:solidFill>
                        </a:rPr>
                        <a:t>Paper BBN</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3D4B8C"/>
                    </a:solidFill>
                  </a:tcPr>
                </a:tc>
                <a:tc>
                  <a:txBody>
                    <a:bodyPr/>
                    <a:lstStyle/>
                    <a:p>
                      <a:pPr algn="ctr" indent="0" marL="0">
                        <a:buNone/>
                      </a:pPr>
                      <a:r>
                        <a:rPr lang="en-US" sz="1150" b="1" dirty="0">
                          <a:solidFill>
                            <a:srgbClr val="FFFFFF"/>
                          </a:solidFill>
                        </a:rPr>
                        <a:t>Our BBN</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3D4B8C"/>
                    </a:solidFill>
                  </a:tcPr>
                </a:tc>
                <a:tc>
                  <a:txBody>
                    <a:bodyPr/>
                    <a:lstStyle/>
                    <a:p>
                      <a:pPr algn="ctr" indent="0" marL="0">
                        <a:buNone/>
                      </a:pPr>
                      <a:r>
                        <a:rPr lang="en-US" sz="1150" b="1" dirty="0">
                          <a:solidFill>
                            <a:srgbClr val="FFFFFF"/>
                          </a:solidFill>
                        </a:rPr>
                        <a:t>Δ BBN</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3D4B8C"/>
                    </a:solidFill>
                  </a:tcPr>
                </a:tc>
              </a:tr>
              <a:tr h="347472">
                <a:tc>
                  <a:txBody>
                    <a:bodyPr/>
                    <a:lstStyle/>
                    <a:p>
                      <a:pPr algn="l" indent="0" marL="0">
                        <a:buNone/>
                      </a:pPr>
                      <a:r>
                        <a:rPr lang="en-US" sz="1150" b="1" dirty="0">
                          <a:solidFill>
                            <a:srgbClr val="1A1D29"/>
                          </a:solidFill>
                        </a:rPr>
                        <a:t>Accuracy (%)</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86.82</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93.66</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B"/>
                          </a:solidFill>
                        </a:rPr>
                        <a:t>+6.84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89.59</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93.01</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B"/>
                          </a:solidFill>
                        </a:rPr>
                        <a:t>+3.42</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1A1D29"/>
                          </a:solidFill>
                        </a:rPr>
                        <a:t>Precision (%)</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22.33</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72.97</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0E7C7B"/>
                          </a:solidFill>
                        </a:rPr>
                        <a:t>+50.64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27.77</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77.01</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0E7C7B"/>
                          </a:solidFill>
                        </a:rPr>
                        <a:t>+49.24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r>
              <a:tr h="347472">
                <a:tc>
                  <a:txBody>
                    <a:bodyPr/>
                    <a:lstStyle/>
                    <a:p>
                      <a:pPr algn="l" indent="0" marL="0">
                        <a:buNone/>
                      </a:pPr>
                      <a:r>
                        <a:rPr lang="en-US" sz="1150" b="1" dirty="0">
                          <a:solidFill>
                            <a:srgbClr val="1A1D29"/>
                          </a:solidFill>
                        </a:rPr>
                        <a:t>Recall (%)</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95.80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90.00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102E"/>
                          </a:solidFill>
                        </a:rPr>
                        <a:t>−5.80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85.18</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74.44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102E"/>
                          </a:solidFill>
                        </a:rPr>
                        <a:t>−10.74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1A1D29"/>
                          </a:solidFill>
                        </a:rPr>
                        <a:t>F1-score (%)</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36.22</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80.60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0E7C7B"/>
                          </a:solidFill>
                        </a:rPr>
                        <a:t>+44.38</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41.81</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75.71</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0E7C7B"/>
                          </a:solidFill>
                        </a:rPr>
                        <a:t>+33.90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r>
              <a:tr h="347472">
                <a:tc>
                  <a:txBody>
                    <a:bodyPr/>
                    <a:lstStyle/>
                    <a:p>
                      <a:pPr algn="l" indent="0" marL="0">
                        <a:buNone/>
                      </a:pPr>
                      <a:r>
                        <a:rPr lang="en-US" sz="1150" b="1" dirty="0">
                          <a:solidFill>
                            <a:srgbClr val="1A1D29"/>
                          </a:solidFill>
                        </a:rPr>
                        <a:t>False alarms (FP)</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80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30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B"/>
                          </a:solidFill>
                        </a:rPr>
                        <a:t>−50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D29"/>
                          </a:solidFill>
                        </a:rPr>
                        <a:t>60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A1D29"/>
                          </a:solidFill>
                        </a:rPr>
                        <a:t>20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B"/>
                          </a:solidFill>
                        </a:rPr>
                        <a:t>−40</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1A1D29"/>
                          </a:solidFill>
                        </a:rPr>
                        <a:t>Missed frauds (FN)</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1</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9</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C8102E"/>
                          </a:solidFill>
                        </a:rPr>
                        <a:t>+8</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dirty="0">
                          <a:solidFill>
                            <a:srgbClr val="1A1D29"/>
                          </a:solidFill>
                        </a:rPr>
                        <a:t>4</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1A1D29"/>
                          </a:solidFill>
                        </a:rPr>
                        <a:t>23</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c>
                  <a:txBody>
                    <a:bodyPr/>
                    <a:lstStyle/>
                    <a:p>
                      <a:pPr algn="ctr" indent="0" marL="0">
                        <a:buNone/>
                      </a:pPr>
                      <a:r>
                        <a:rPr lang="en-US" sz="1150" b="1" dirty="0">
                          <a:solidFill>
                            <a:srgbClr val="C8102E"/>
                          </a:solidFill>
                        </a:rPr>
                        <a:t>+19</a:t>
                      </a:r>
                      <a:endParaRPr lang="en-US" sz="1150" dirty="0"/>
                    </a:p>
                  </a:txBody>
                  <a:tcPr marL="91440" marR="91440" marT="45720" marB="45720" anchor="ctr">
                    <a:lnL w="9525" cap="flat" cmpd="sng" algn="ctr">
                      <a:solidFill>
                        <a:srgbClr val="B9C0CF"/>
                      </a:solidFill>
                      <a:prstDash val="solid"/>
                      <a:round/>
                      <a:headEnd type="none" w="med" len="med"/>
                      <a:tailEnd type="none" w="med" len="med"/>
                    </a:lnL>
                    <a:lnR w="9525" cap="flat" cmpd="sng" algn="ctr">
                      <a:solidFill>
                        <a:srgbClr val="B9C0CF"/>
                      </a:solidFill>
                      <a:prstDash val="solid"/>
                      <a:round/>
                      <a:headEnd type="none" w="med" len="med"/>
                      <a:tailEnd type="none" w="med" len="med"/>
                    </a:lnR>
                    <a:lnT w="9525" cap="flat" cmpd="sng" algn="ctr">
                      <a:solidFill>
                        <a:srgbClr val="B9C0CF"/>
                      </a:solidFill>
                      <a:prstDash val="solid"/>
                      <a:round/>
                      <a:headEnd type="none" w="med" len="med"/>
                      <a:tailEnd type="none" w="med" len="med"/>
                    </a:lnT>
                    <a:lnB w="9525" cap="flat" cmpd="sng" algn="ctr">
                      <a:solidFill>
                        <a:srgbClr val="B9C0CF"/>
                      </a:solidFill>
                      <a:prstDash val="solid"/>
                      <a:round/>
                      <a:headEnd type="none" w="med" len="med"/>
                      <a:tailEnd type="none" w="med" len="med"/>
                    </a:lnB>
                    <a:solidFill>
                      <a:srgbClr val="F2F3F6"/>
                    </a:solidFill>
                  </a:tcPr>
                </a:tc>
              </a:tr>
            </a:tbl>
          </a:graphicData>
        </a:graphic>
      </p:graphicFrame>
      <p:sp>
        <p:nvSpPr>
          <p:cNvPr id="5" name="Shape 2"/>
          <p:cNvSpPr/>
          <p:nvPr/>
        </p:nvSpPr>
        <p:spPr>
          <a:xfrm>
            <a:off x="457200" y="3703320"/>
            <a:ext cx="4023360" cy="914400"/>
          </a:xfrm>
          <a:prstGeom prst="roundRect">
            <a:avLst>
              <a:gd name="adj" fmla="val 8000"/>
            </a:avLst>
          </a:prstGeom>
          <a:solidFill>
            <a:schemeClr val="bg2"/>
          </a:solidFill>
          <a:ln w="12700">
            <a:solidFill>
              <a:schemeClr val="bg2"/>
            </a:solidFill>
            <a:prstDash val="solid"/>
          </a:ln>
        </p:spPr>
      </p:sp>
      <p:sp>
        <p:nvSpPr>
          <p:cNvPr id="6" name="Text 3"/>
          <p:cNvSpPr txBox="1"/>
          <p:nvPr/>
        </p:nvSpPr>
        <p:spPr>
          <a:xfrm>
            <a:off x="594360" y="3749040"/>
            <a:ext cx="3794760" cy="822960"/>
          </a:xfrm>
          <a:prstGeom prst="rect">
            <a:avLst/>
          </a:prstGeom>
          <a:noFill/>
          <a:ln/>
        </p:spPr>
        <p:txBody>
          <a:bodyPr wrap="square" lIns="0" tIns="0" rIns="0" bIns="0" rtlCol="0" anchor="ctr"/>
          <a:lstStyle/>
          <a:p>
            <a:pPr indent="0" marL="0">
              <a:buNone/>
            </a:pPr>
            <a:r>
              <a:rPr lang="en-US" sz="1050" b="1" dirty="0">
                <a:solidFill>
                  <a:schemeClr val="tx1"/>
                </a:solidFill>
              </a:rPr>
              <a:t>Ranking flips. </a:t>
            </a:r>
            <a:pPr indent="0" marL="0">
              <a:buNone/>
            </a:pPr>
            <a:r>
              <a:rPr lang="en-US" sz="1050" dirty="0">
                <a:solidFill>
                  <a:schemeClr val="tx2"/>
                </a:solidFill>
              </a:rPr>
              <a:t>Paper: BBN &gt; HNB on accuracy (89.59 vs 86.82). Ours: HNB ≥ BBN (93.66 vs 93.01), with HNB clearly ahead on recall and F1.</a:t>
            </a:r>
            <a:endParaRPr lang="en-US" sz="1050" dirty="0"/>
          </a:p>
        </p:txBody>
      </p:sp>
      <p:sp>
        <p:nvSpPr>
          <p:cNvPr id="7" name="Shape 4"/>
          <p:cNvSpPr/>
          <p:nvPr/>
        </p:nvSpPr>
        <p:spPr>
          <a:xfrm>
            <a:off x="4663440" y="3703320"/>
            <a:ext cx="4023360" cy="914400"/>
          </a:xfrm>
          <a:prstGeom prst="roundRect">
            <a:avLst>
              <a:gd name="adj" fmla="val 8000"/>
            </a:avLst>
          </a:prstGeom>
          <a:solidFill>
            <a:schemeClr val="bg2"/>
          </a:solidFill>
          <a:ln w="12700">
            <a:solidFill>
              <a:schemeClr val="bg2"/>
            </a:solidFill>
            <a:prstDash val="solid"/>
          </a:ln>
        </p:spPr>
      </p:sp>
      <p:sp>
        <p:nvSpPr>
          <p:cNvPr id="8" name="Text 5"/>
          <p:cNvSpPr txBox="1"/>
          <p:nvPr/>
        </p:nvSpPr>
        <p:spPr>
          <a:xfrm>
            <a:off x="4800600" y="3749040"/>
            <a:ext cx="3794760" cy="822960"/>
          </a:xfrm>
          <a:prstGeom prst="rect">
            <a:avLst/>
          </a:prstGeom>
          <a:noFill/>
          <a:ln/>
        </p:spPr>
        <p:txBody>
          <a:bodyPr wrap="square" lIns="0" tIns="0" rIns="0" bIns="0" rtlCol="0" anchor="ctr"/>
          <a:lstStyle/>
          <a:p>
            <a:pPr indent="0" marL="0">
              <a:buNone/>
            </a:pPr>
            <a:r>
              <a:rPr lang="en-US" sz="1050" b="1" dirty="0">
                <a:solidFill>
                  <a:schemeClr val="tx1"/>
                </a:solidFill>
              </a:rPr>
              <a:t>How to read it. </a:t>
            </a:r>
            <a:pPr indent="0" marL="0">
              <a:buNone/>
            </a:pPr>
            <a:r>
              <a:rPr lang="en-US" sz="1050" dirty="0">
                <a:solidFill>
                  <a:schemeClr val="tx2"/>
                </a:solidFill>
              </a:rPr>
              <a:t>Δ = ours − paper in percentage points (counts for FP/FN). FN counts are not like-for-like: our test set has 90 frauds vs. 24–28 in the paper.</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COMPARISON</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Why our values differ from the paper</a:t>
            </a:r>
            <a:endParaRPr lang="en-US" sz="2600" dirty="0"/>
          </a:p>
        </p:txBody>
      </p:sp>
      <p:sp>
        <p:nvSpPr>
          <p:cNvPr id="4" name="Shape 2"/>
          <p:cNvSpPr/>
          <p:nvPr/>
        </p:nvSpPr>
        <p:spPr>
          <a:xfrm>
            <a:off x="457200" y="1143000"/>
            <a:ext cx="4023360" cy="1554480"/>
          </a:xfrm>
          <a:prstGeom prst="roundRect">
            <a:avLst>
              <a:gd name="adj" fmla="val 4706"/>
            </a:avLst>
          </a:prstGeom>
          <a:solidFill>
            <a:schemeClr val="bg2"/>
          </a:solidFill>
          <a:ln w="12700">
            <a:solidFill>
              <a:schemeClr val="bg2"/>
            </a:solidFill>
            <a:prstDash val="solid"/>
          </a:ln>
        </p:spPr>
      </p:sp>
      <p:sp>
        <p:nvSpPr>
          <p:cNvPr id="5" name="Shape 3"/>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60781" y="1446581"/>
            <a:ext cx="261518" cy="261518"/>
          </a:xfrm>
          <a:prstGeom prst="rect">
            <a:avLst/>
          </a:prstGeom>
        </p:spPr>
      </p:pic>
      <p:sp>
        <p:nvSpPr>
          <p:cNvPr id="7" name="Text 4"/>
          <p:cNvSpPr txBox="1"/>
          <p:nvPr/>
        </p:nvSpPr>
        <p:spPr>
          <a:xfrm>
            <a:off x="1325880" y="1325880"/>
            <a:ext cx="3017520" cy="502920"/>
          </a:xfrm>
          <a:prstGeom prst="rect">
            <a:avLst/>
          </a:prstGeom>
          <a:noFill/>
          <a:ln/>
        </p:spPr>
        <p:txBody>
          <a:bodyPr wrap="square" lIns="0" tIns="0" rIns="0" bIns="0" rtlCol="0" anchor="ctr"/>
          <a:lstStyle/>
          <a:p>
            <a:pPr indent="0" marL="0">
              <a:buNone/>
            </a:pPr>
            <a:r>
              <a:rPr lang="en-US" sz="1350" b="1" dirty="0">
                <a:solidFill>
                  <a:schemeClr val="tx1"/>
                </a:solidFill>
              </a:rPr>
              <a:t>Leakage-free preprocessing</a:t>
            </a:r>
            <a:endParaRPr lang="en-US" sz="1350" dirty="0"/>
          </a:p>
        </p:txBody>
      </p:sp>
      <p:sp>
        <p:nvSpPr>
          <p:cNvPr id="8" name="Text 5"/>
          <p:cNvSpPr txBox="1"/>
          <p:nvPr/>
        </p:nvSpPr>
        <p:spPr>
          <a:xfrm>
            <a:off x="1325880" y="1874520"/>
            <a:ext cx="3017520" cy="777240"/>
          </a:xfrm>
          <a:prstGeom prst="rect">
            <a:avLst/>
          </a:prstGeom>
          <a:noFill/>
          <a:ln/>
        </p:spPr>
        <p:txBody>
          <a:bodyPr wrap="square" lIns="0" tIns="0" rIns="0" bIns="0" rtlCol="0" anchor="t"/>
          <a:lstStyle/>
          <a:p>
            <a:pPr indent="0" marL="0">
              <a:buNone/>
            </a:pPr>
            <a:r>
              <a:rPr lang="en-US" sz="1050" dirty="0">
                <a:solidFill>
                  <a:schemeClr val="tx2"/>
                </a:solidFill>
              </a:rPr>
              <a:t>Scaler, normalizer, bin edges and oversampling are fitted on training data only; the test set never influences the model.</a:t>
            </a:r>
            <a:endParaRPr lang="en-US" sz="1050" dirty="0"/>
          </a:p>
        </p:txBody>
      </p:sp>
      <p:sp>
        <p:nvSpPr>
          <p:cNvPr id="9" name="Shape 6"/>
          <p:cNvSpPr/>
          <p:nvPr/>
        </p:nvSpPr>
        <p:spPr>
          <a:xfrm>
            <a:off x="4663440" y="1143000"/>
            <a:ext cx="4023360" cy="1554480"/>
          </a:xfrm>
          <a:prstGeom prst="roundRect">
            <a:avLst>
              <a:gd name="adj" fmla="val 4706"/>
            </a:avLst>
          </a:prstGeom>
          <a:solidFill>
            <a:schemeClr val="bg2"/>
          </a:solidFill>
          <a:ln w="12700">
            <a:solidFill>
              <a:schemeClr val="bg2"/>
            </a:solidFill>
            <a:prstDash val="solid"/>
          </a:ln>
        </p:spPr>
      </p:sp>
      <p:sp>
        <p:nvSpPr>
          <p:cNvPr id="10" name="Shape 7"/>
          <p:cNvSpPr/>
          <p:nvPr/>
        </p:nvSpPr>
        <p:spPr>
          <a:xfrm>
            <a:off x="4846320" y="1325880"/>
            <a:ext cx="502920" cy="5029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967021" y="1446581"/>
            <a:ext cx="261518" cy="261518"/>
          </a:xfrm>
          <a:prstGeom prst="rect">
            <a:avLst/>
          </a:prstGeom>
        </p:spPr>
      </p:pic>
      <p:sp>
        <p:nvSpPr>
          <p:cNvPr id="12" name="Text 8"/>
          <p:cNvSpPr txBox="1"/>
          <p:nvPr/>
        </p:nvSpPr>
        <p:spPr>
          <a:xfrm>
            <a:off x="5532120" y="1325880"/>
            <a:ext cx="3017520" cy="502920"/>
          </a:xfrm>
          <a:prstGeom prst="rect">
            <a:avLst/>
          </a:prstGeom>
          <a:noFill/>
          <a:ln/>
        </p:spPr>
        <p:txBody>
          <a:bodyPr wrap="square" lIns="0" tIns="0" rIns="0" bIns="0" rtlCol="0" anchor="ctr"/>
          <a:lstStyle/>
          <a:p>
            <a:pPr indent="0" marL="0">
              <a:buNone/>
            </a:pPr>
            <a:r>
              <a:rPr lang="en-US" sz="1350" b="1" dirty="0">
                <a:solidFill>
                  <a:schemeClr val="tx1"/>
                </a:solidFill>
              </a:rPr>
              <a:t>Realistic stratified test set</a:t>
            </a:r>
            <a:endParaRPr lang="en-US" sz="1350" dirty="0"/>
          </a:p>
        </p:txBody>
      </p:sp>
      <p:sp>
        <p:nvSpPr>
          <p:cNvPr id="13" name="Text 9"/>
          <p:cNvSpPr txBox="1"/>
          <p:nvPr/>
        </p:nvSpPr>
        <p:spPr>
          <a:xfrm>
            <a:off x="5532120" y="1874520"/>
            <a:ext cx="3017520" cy="777240"/>
          </a:xfrm>
          <a:prstGeom prst="rect">
            <a:avLst/>
          </a:prstGeom>
          <a:noFill/>
          <a:ln/>
        </p:spPr>
        <p:txBody>
          <a:bodyPr wrap="square" lIns="0" tIns="0" rIns="0" bIns="0" rtlCol="0" anchor="t"/>
          <a:lstStyle/>
          <a:p>
            <a:pPr indent="0" marL="0">
              <a:buNone/>
            </a:pPr>
            <a:r>
              <a:rPr lang="en-US" sz="1050" dirty="0">
                <a:solidFill>
                  <a:schemeClr val="tx2"/>
                </a:solidFill>
              </a:rPr>
              <a:t>90 frauds (14.6%) in our 615-row test set vs. only 24–28 in the paper's matrices, which changes precision and FN counts.</a:t>
            </a:r>
            <a:endParaRPr lang="en-US" sz="1050" dirty="0"/>
          </a:p>
        </p:txBody>
      </p:sp>
      <p:sp>
        <p:nvSpPr>
          <p:cNvPr id="14" name="Shape 10"/>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5" name="Shape 11"/>
          <p:cNvSpPr/>
          <p:nvPr/>
        </p:nvSpPr>
        <p:spPr>
          <a:xfrm>
            <a:off x="640080" y="3063240"/>
            <a:ext cx="502920" cy="50292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760781" y="3183941"/>
            <a:ext cx="261518" cy="261518"/>
          </a:xfrm>
          <a:prstGeom prst="rect">
            <a:avLst/>
          </a:prstGeom>
        </p:spPr>
      </p:pic>
      <p:sp>
        <p:nvSpPr>
          <p:cNvPr id="17" name="Text 12"/>
          <p:cNvSpPr txBox="1"/>
          <p:nvPr/>
        </p:nvSpPr>
        <p:spPr>
          <a:xfrm>
            <a:off x="1325880" y="3063240"/>
            <a:ext cx="3017520" cy="502920"/>
          </a:xfrm>
          <a:prstGeom prst="rect">
            <a:avLst/>
          </a:prstGeom>
          <a:noFill/>
          <a:ln/>
        </p:spPr>
        <p:txBody>
          <a:bodyPr wrap="square" lIns="0" tIns="0" rIns="0" bIns="0" rtlCol="0" anchor="ctr"/>
          <a:lstStyle/>
          <a:p>
            <a:pPr indent="0" marL="0">
              <a:buNone/>
            </a:pPr>
            <a:r>
              <a:rPr lang="en-US" sz="1350" b="1" dirty="0">
                <a:solidFill>
                  <a:schemeClr val="tx1"/>
                </a:solidFill>
              </a:rPr>
              <a:t>Discretization &amp; feature pruning</a:t>
            </a:r>
            <a:endParaRPr lang="en-US" sz="1350" dirty="0"/>
          </a:p>
        </p:txBody>
      </p:sp>
      <p:sp>
        <p:nvSpPr>
          <p:cNvPr id="18" name="Text 13"/>
          <p:cNvSpPr txBox="1"/>
          <p:nvPr/>
        </p:nvSpPr>
        <p:spPr>
          <a:xfrm>
            <a:off x="1325880" y="3611880"/>
            <a:ext cx="3017520" cy="777240"/>
          </a:xfrm>
          <a:prstGeom prst="rect">
            <a:avLst/>
          </a:prstGeom>
          <a:noFill/>
          <a:ln/>
        </p:spPr>
        <p:txBody>
          <a:bodyPr wrap="square" lIns="0" tIns="0" rIns="0" bIns="0" rtlCol="0" anchor="t"/>
          <a:lstStyle/>
          <a:p>
            <a:pPr indent="0" marL="0">
              <a:buNone/>
            </a:pPr>
            <a:r>
              <a:rPr lang="en-US" sz="1050" dirty="0">
                <a:solidFill>
                  <a:schemeClr val="tx2"/>
                </a:solidFill>
              </a:rPr>
              <a:t>Quintile binning; 3 chargeback features became constant and were dropped, leaving 6 informative features.</a:t>
            </a:r>
            <a:endParaRPr lang="en-US" sz="1050" dirty="0"/>
          </a:p>
        </p:txBody>
      </p:sp>
      <p:sp>
        <p:nvSpPr>
          <p:cNvPr id="19" name="Shape 14"/>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20" name="Shape 15"/>
          <p:cNvSpPr/>
          <p:nvPr/>
        </p:nvSpPr>
        <p:spPr>
          <a:xfrm>
            <a:off x="4846320" y="3063240"/>
            <a:ext cx="502920" cy="502920"/>
          </a:xfrm>
          <a:prstGeom prst="ellipse">
            <a:avLst/>
          </a:prstGeom>
          <a:solidFill>
            <a:schemeClr val="accent3"/>
          </a:solidFill>
          <a:ln w="12700">
            <a:solidFill>
              <a:schemeClr val="accent3"/>
            </a:solidFill>
            <a:prstDash val="solid"/>
          </a:ln>
        </p:spPr>
      </p:sp>
      <p:pic>
        <p:nvPicPr>
          <p:cNvPr id="21" name="Image 3" descr="preencoded.png">    </p:cNvPr>
          <p:cNvPicPr>
            <a:picLocks noChangeAspect="1"/>
          </p:cNvPicPr>
          <p:nvPr/>
        </p:nvPicPr>
        <p:blipFill>
          <a:blip r:embed="rId4"/>
          <a:stretch>
            <a:fillRect/>
          </a:stretch>
        </p:blipFill>
        <p:spPr>
          <a:xfrm>
            <a:off x="4967021" y="3183941"/>
            <a:ext cx="261518" cy="261518"/>
          </a:xfrm>
          <a:prstGeom prst="rect">
            <a:avLst/>
          </a:prstGeom>
        </p:spPr>
      </p:pic>
      <p:sp>
        <p:nvSpPr>
          <p:cNvPr id="22" name="Text 16"/>
          <p:cNvSpPr txBox="1"/>
          <p:nvPr/>
        </p:nvSpPr>
        <p:spPr>
          <a:xfrm>
            <a:off x="5532120" y="3063240"/>
            <a:ext cx="3017520" cy="502920"/>
          </a:xfrm>
          <a:prstGeom prst="rect">
            <a:avLst/>
          </a:prstGeom>
          <a:noFill/>
          <a:ln/>
        </p:spPr>
        <p:txBody>
          <a:bodyPr wrap="square" lIns="0" tIns="0" rIns="0" bIns="0" rtlCol="0" anchor="ctr"/>
          <a:lstStyle/>
          <a:p>
            <a:pPr indent="0" marL="0">
              <a:buNone/>
            </a:pPr>
            <a:r>
              <a:rPr lang="en-US" sz="1350" b="1" dirty="0">
                <a:solidFill>
                  <a:schemeClr val="tx1"/>
                </a:solidFill>
              </a:rPr>
              <a:t>Model design choices</a:t>
            </a:r>
            <a:endParaRPr lang="en-US" sz="1350" dirty="0"/>
          </a:p>
        </p:txBody>
      </p:sp>
      <p:sp>
        <p:nvSpPr>
          <p:cNvPr id="23" name="Text 17"/>
          <p:cNvSpPr txBox="1"/>
          <p:nvPr/>
        </p:nvSpPr>
        <p:spPr>
          <a:xfrm>
            <a:off x="5532120" y="3611880"/>
            <a:ext cx="3017520" cy="777240"/>
          </a:xfrm>
          <a:prstGeom prst="rect">
            <a:avLst/>
          </a:prstGeom>
          <a:noFill/>
          <a:ln/>
        </p:spPr>
        <p:txBody>
          <a:bodyPr wrap="square" lIns="0" tIns="0" rIns="0" bIns="0" rtlCol="0" anchor="t"/>
          <a:lstStyle/>
          <a:p>
            <a:pPr indent="0" marL="0">
              <a:buNone/>
            </a:pPr>
            <a:r>
              <a:rPr lang="en-US" sz="1050" dirty="0">
                <a:solidFill>
                  <a:schemeClr val="tx2"/>
                </a:solidFill>
              </a:rPr>
              <a:t>HNB as an averaged pairwise log-likelihood; BBN with an explicit 7-edge expert DAG at a 0.5 threshold. The paper specifies neither.</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CONCLUSION</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bg1"/>
                </a:solidFill>
              </a:rPr>
              <a:t>Conclusions from the implementation</a:t>
            </a:r>
            <a:endParaRPr lang="en-US" sz="2600" dirty="0"/>
          </a:p>
        </p:txBody>
      </p:sp>
      <p:sp>
        <p:nvSpPr>
          <p:cNvPr id="4" name="Shape 2"/>
          <p:cNvSpPr/>
          <p:nvPr/>
        </p:nvSpPr>
        <p:spPr>
          <a:xfrm>
            <a:off x="457200" y="1143000"/>
            <a:ext cx="4023360" cy="1261872"/>
          </a:xfrm>
          <a:prstGeom prst="roundRect">
            <a:avLst>
              <a:gd name="adj" fmla="val 5797"/>
            </a:avLst>
          </a:prstGeom>
          <a:solidFill>
            <a:schemeClr val="bg1">
              <a:alpha val="8000"/>
            </a:schemeClr>
          </a:solidFill>
          <a:ln w="12700">
            <a:solidFill>
              <a:schemeClr val="bg1">
                <a:alpha val="0"/>
              </a:schemeClr>
            </a:solidFill>
            <a:prstDash val="solid"/>
          </a:ln>
        </p:spPr>
      </p:sp>
      <p:sp>
        <p:nvSpPr>
          <p:cNvPr id="5" name="Text 3"/>
          <p:cNvSpPr txBox="1"/>
          <p:nvPr/>
        </p:nvSpPr>
        <p:spPr>
          <a:xfrm>
            <a:off x="685800" y="1280160"/>
            <a:ext cx="365760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93.7% · 93.0%</a:t>
            </a:r>
            <a:endParaRPr lang="en-US" sz="2000" dirty="0"/>
          </a:p>
        </p:txBody>
      </p:sp>
      <p:sp>
        <p:nvSpPr>
          <p:cNvPr id="6" name="Text 4"/>
          <p:cNvSpPr txBox="1"/>
          <p:nvPr/>
        </p:nvSpPr>
        <p:spPr>
          <a:xfrm>
            <a:off x="685800" y="1709928"/>
            <a:ext cx="3657600" cy="640080"/>
          </a:xfrm>
          <a:prstGeom prst="rect">
            <a:avLst/>
          </a:prstGeom>
          <a:noFill/>
          <a:ln/>
        </p:spPr>
        <p:txBody>
          <a:bodyPr wrap="square" lIns="0" tIns="0" rIns="0" bIns="0" rtlCol="0" anchor="t"/>
          <a:lstStyle/>
          <a:p>
            <a:pPr indent="0" marL="0">
              <a:buNone/>
            </a:pPr>
            <a:r>
              <a:rPr lang="en-US" sz="1100" dirty="0">
                <a:solidFill>
                  <a:schemeClr val="accent6"/>
                </a:solidFill>
              </a:rPr>
              <a:t>Both models beat the 85.4% "always legitimate" baseline by about 8 pp. The paper's HNB (86.8%) barely cleared it.</a:t>
            </a:r>
            <a:endParaRPr lang="en-US" sz="1100" dirty="0"/>
          </a:p>
        </p:txBody>
      </p:sp>
      <p:sp>
        <p:nvSpPr>
          <p:cNvPr id="7" name="Shape 5"/>
          <p:cNvSpPr/>
          <p:nvPr/>
        </p:nvSpPr>
        <p:spPr>
          <a:xfrm>
            <a:off x="4663440" y="1143000"/>
            <a:ext cx="4023360" cy="1261872"/>
          </a:xfrm>
          <a:prstGeom prst="roundRect">
            <a:avLst>
              <a:gd name="adj" fmla="val 5797"/>
            </a:avLst>
          </a:prstGeom>
          <a:solidFill>
            <a:schemeClr val="bg1">
              <a:alpha val="8000"/>
            </a:schemeClr>
          </a:solidFill>
          <a:ln w="12700">
            <a:solidFill>
              <a:schemeClr val="bg1">
                <a:alpha val="0"/>
              </a:schemeClr>
            </a:solidFill>
            <a:prstDash val="solid"/>
          </a:ln>
        </p:spPr>
      </p:sp>
      <p:sp>
        <p:nvSpPr>
          <p:cNvPr id="8" name="Text 6"/>
          <p:cNvSpPr txBox="1"/>
          <p:nvPr/>
        </p:nvSpPr>
        <p:spPr>
          <a:xfrm>
            <a:off x="4892040" y="1280160"/>
            <a:ext cx="365760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90% recall</a:t>
            </a:r>
            <a:endParaRPr lang="en-US" sz="2000" dirty="0"/>
          </a:p>
        </p:txBody>
      </p:sp>
      <p:sp>
        <p:nvSpPr>
          <p:cNvPr id="9" name="Text 7"/>
          <p:cNvSpPr txBox="1"/>
          <p:nvPr/>
        </p:nvSpPr>
        <p:spPr>
          <a:xfrm>
            <a:off x="4892040" y="1709928"/>
            <a:ext cx="3657600" cy="640080"/>
          </a:xfrm>
          <a:prstGeom prst="rect">
            <a:avLst/>
          </a:prstGeom>
          <a:noFill/>
          <a:ln/>
        </p:spPr>
        <p:txBody>
          <a:bodyPr wrap="square" lIns="0" tIns="0" rIns="0" bIns="0" rtlCol="0" anchor="t"/>
          <a:lstStyle/>
          <a:p>
            <a:pPr indent="0" marL="0">
              <a:buNone/>
            </a:pPr>
            <a:r>
              <a:rPr lang="en-US" sz="1100" dirty="0">
                <a:solidFill>
                  <a:schemeClr val="accent6"/>
                </a:solidFill>
              </a:rPr>
              <a:t>HNB is the stronger fraud catcher: it finds 81 of 90 frauds and has the best F1 (0.81).</a:t>
            </a:r>
            <a:endParaRPr lang="en-US" sz="1100" dirty="0"/>
          </a:p>
        </p:txBody>
      </p:sp>
      <p:sp>
        <p:nvSpPr>
          <p:cNvPr id="10" name="Shape 8"/>
          <p:cNvSpPr/>
          <p:nvPr/>
        </p:nvSpPr>
        <p:spPr>
          <a:xfrm>
            <a:off x="457200" y="2560320"/>
            <a:ext cx="4023360" cy="1261872"/>
          </a:xfrm>
          <a:prstGeom prst="roundRect">
            <a:avLst>
              <a:gd name="adj" fmla="val 5797"/>
            </a:avLst>
          </a:prstGeom>
          <a:solidFill>
            <a:schemeClr val="bg1">
              <a:alpha val="8000"/>
            </a:schemeClr>
          </a:solidFill>
          <a:ln w="12700">
            <a:solidFill>
              <a:schemeClr val="bg1">
                <a:alpha val="0"/>
              </a:schemeClr>
            </a:solidFill>
            <a:prstDash val="solid"/>
          </a:ln>
        </p:spPr>
      </p:sp>
      <p:sp>
        <p:nvSpPr>
          <p:cNvPr id="11" name="Text 9"/>
          <p:cNvSpPr txBox="1"/>
          <p:nvPr/>
        </p:nvSpPr>
        <p:spPr>
          <a:xfrm>
            <a:off x="685800" y="2697480"/>
            <a:ext cx="365760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20 false alarms</a:t>
            </a:r>
            <a:endParaRPr lang="en-US" sz="2000" dirty="0"/>
          </a:p>
        </p:txBody>
      </p:sp>
      <p:sp>
        <p:nvSpPr>
          <p:cNvPr id="12" name="Text 10"/>
          <p:cNvSpPr txBox="1"/>
          <p:nvPr/>
        </p:nvSpPr>
        <p:spPr>
          <a:xfrm>
            <a:off x="685800" y="3127248"/>
            <a:ext cx="3657600" cy="640080"/>
          </a:xfrm>
          <a:prstGeom prst="rect">
            <a:avLst/>
          </a:prstGeom>
          <a:noFill/>
          <a:ln/>
        </p:spPr>
        <p:txBody>
          <a:bodyPr wrap="square" lIns="0" tIns="0" rIns="0" bIns="0" rtlCol="0" anchor="t"/>
          <a:lstStyle/>
          <a:p>
            <a:pPr indent="0" marL="0">
              <a:buNone/>
            </a:pPr>
            <a:r>
              <a:rPr lang="en-US" sz="1100" dirty="0">
                <a:solidFill>
                  <a:schemeClr val="accent6"/>
                </a:solidFill>
              </a:rPr>
              <a:t>BBN is the cautious, explainable model: highest precision (77%), with reasoning visible in its DAG and CPDs.</a:t>
            </a:r>
            <a:endParaRPr lang="en-US" sz="1100" dirty="0"/>
          </a:p>
        </p:txBody>
      </p:sp>
      <p:sp>
        <p:nvSpPr>
          <p:cNvPr id="13" name="Shape 11"/>
          <p:cNvSpPr/>
          <p:nvPr/>
        </p:nvSpPr>
        <p:spPr>
          <a:xfrm>
            <a:off x="4663440" y="2560320"/>
            <a:ext cx="4023360" cy="1261872"/>
          </a:xfrm>
          <a:prstGeom prst="roundRect">
            <a:avLst>
              <a:gd name="adj" fmla="val 5797"/>
            </a:avLst>
          </a:prstGeom>
          <a:solidFill>
            <a:schemeClr val="bg1">
              <a:alpha val="8000"/>
            </a:schemeClr>
          </a:solidFill>
          <a:ln w="12700">
            <a:solidFill>
              <a:schemeClr val="bg1">
                <a:alpha val="0"/>
              </a:schemeClr>
            </a:solidFill>
            <a:prstDash val="solid"/>
          </a:ln>
        </p:spPr>
      </p:sp>
      <p:sp>
        <p:nvSpPr>
          <p:cNvPr id="14" name="Text 12"/>
          <p:cNvSpPr txBox="1"/>
          <p:nvPr/>
        </p:nvSpPr>
        <p:spPr>
          <a:xfrm>
            <a:off x="4892040" y="2697480"/>
            <a:ext cx="365760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 3× precision</a:t>
            </a:r>
            <a:endParaRPr lang="en-US" sz="2000" dirty="0"/>
          </a:p>
        </p:txBody>
      </p:sp>
      <p:sp>
        <p:nvSpPr>
          <p:cNvPr id="15" name="Text 13"/>
          <p:cNvSpPr txBox="1"/>
          <p:nvPr/>
        </p:nvSpPr>
        <p:spPr>
          <a:xfrm>
            <a:off x="4892040" y="3127248"/>
            <a:ext cx="3657600" cy="640080"/>
          </a:xfrm>
          <a:prstGeom prst="rect">
            <a:avLst/>
          </a:prstGeom>
          <a:noFill/>
          <a:ln/>
        </p:spPr>
        <p:txBody>
          <a:bodyPr wrap="square" lIns="0" tIns="0" rIns="0" bIns="0" rtlCol="0" anchor="t"/>
          <a:lstStyle/>
          <a:p>
            <a:pPr indent="0" marL="0">
              <a:buNone/>
            </a:pPr>
            <a:r>
              <a:rPr lang="en-US" sz="1100" dirty="0">
                <a:solidFill>
                  <a:schemeClr val="accent6"/>
                </a:solidFill>
              </a:rPr>
              <a:t>A leakage-free, stratified and balanced pipeline raised precision from 22–28% to 73–77%.</a:t>
            </a:r>
            <a:endParaRPr lang="en-US" sz="1100" dirty="0"/>
          </a:p>
        </p:txBody>
      </p:sp>
      <p:sp>
        <p:nvSpPr>
          <p:cNvPr id="16" name="Text 14"/>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250" i="1" dirty="0">
                <a:solidFill>
                  <a:schemeClr val="bg1"/>
                </a:solidFill>
              </a:rPr>
              <a:t>Probabilistic reasoning gives accurate, explainable fraud detection. The decisive signals are high-risk country, declines and foreign transactions.</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spc="200" kern="0" dirty="0">
                <a:solidFill>
                  <a:schemeClr val="accent1"/>
                </a:solidFill>
              </a:rPr>
              <a:t>FUTURE SCOPE</a:t>
            </a:r>
            <a:endParaRPr lang="en-US" sz="1000" dirty="0"/>
          </a:p>
        </p:txBody>
      </p:sp>
      <p:sp>
        <p:nvSpPr>
          <p:cNvPr id="3" name="Text 0"/>
          <p:cNvSpPr/>
          <p:nvPr>
            <p:ph idx="101" type="title" hasCustomPrompt="1"/>
          </p:nvPr>
        </p:nvSpPr>
        <p:spPr>
          <a:xfrm>
            <a:off x="457200" y="43891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Where this work can go next</a:t>
            </a:r>
            <a:endParaRPr lang="en-US" sz="2600" dirty="0"/>
          </a:p>
        </p:txBody>
      </p:sp>
      <p:sp>
        <p:nvSpPr>
          <p:cNvPr id="4" name="Shape 2"/>
          <p:cNvSpPr/>
          <p:nvPr/>
        </p:nvSpPr>
        <p:spPr>
          <a:xfrm>
            <a:off x="457200" y="1143000"/>
            <a:ext cx="2615184" cy="1627632"/>
          </a:xfrm>
          <a:prstGeom prst="roundRect">
            <a:avLst>
              <a:gd name="adj" fmla="val 4494"/>
            </a:avLst>
          </a:prstGeom>
          <a:solidFill>
            <a:schemeClr val="bg2"/>
          </a:solidFill>
          <a:ln w="12700">
            <a:solidFill>
              <a:schemeClr val="bg2"/>
            </a:solidFill>
            <a:prstDash val="solid"/>
          </a:ln>
        </p:spPr>
      </p:sp>
      <p:sp>
        <p:nvSpPr>
          <p:cNvPr id="5" name="Shape 3"/>
          <p:cNvSpPr/>
          <p:nvPr/>
        </p:nvSpPr>
        <p:spPr>
          <a:xfrm>
            <a:off x="640080" y="132588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9808" y="1435608"/>
            <a:ext cx="237744" cy="237744"/>
          </a:xfrm>
          <a:prstGeom prst="rect">
            <a:avLst/>
          </a:prstGeom>
        </p:spPr>
      </p:pic>
      <p:sp>
        <p:nvSpPr>
          <p:cNvPr id="7" name="Text 4"/>
          <p:cNvSpPr txBox="1"/>
          <p:nvPr/>
        </p:nvSpPr>
        <p:spPr>
          <a:xfrm>
            <a:off x="1234440" y="132588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Learned HNB weights</a:t>
            </a:r>
            <a:endParaRPr lang="en-US" sz="1250" dirty="0"/>
          </a:p>
        </p:txBody>
      </p:sp>
      <p:sp>
        <p:nvSpPr>
          <p:cNvPr id="8" name="Text 5"/>
          <p:cNvSpPr txBox="1"/>
          <p:nvPr/>
        </p:nvSpPr>
        <p:spPr>
          <a:xfrm>
            <a:off x="640080" y="1892808"/>
            <a:ext cx="2286000" cy="822960"/>
          </a:xfrm>
          <a:prstGeom prst="rect">
            <a:avLst/>
          </a:prstGeom>
          <a:noFill/>
          <a:ln/>
        </p:spPr>
        <p:txBody>
          <a:bodyPr wrap="square" lIns="0" tIns="0" rIns="0" bIns="0" rtlCol="0" anchor="t"/>
          <a:lstStyle/>
          <a:p>
            <a:pPr indent="0" marL="0">
              <a:buNone/>
            </a:pPr>
            <a:r>
              <a:rPr lang="en-US" sz="1050" dirty="0">
                <a:solidFill>
                  <a:schemeClr val="tx2"/>
                </a:solidFill>
              </a:rPr>
              <a:t>Weight hidden parents by conditional mutual information, as in the original HNB.</a:t>
            </a:r>
            <a:endParaRPr lang="en-US" sz="1050" dirty="0"/>
          </a:p>
        </p:txBody>
      </p:sp>
      <p:sp>
        <p:nvSpPr>
          <p:cNvPr id="9" name="Shape 6"/>
          <p:cNvSpPr/>
          <p:nvPr/>
        </p:nvSpPr>
        <p:spPr>
          <a:xfrm>
            <a:off x="3264408" y="1143000"/>
            <a:ext cx="2615184" cy="1627632"/>
          </a:xfrm>
          <a:prstGeom prst="roundRect">
            <a:avLst>
              <a:gd name="adj" fmla="val 4494"/>
            </a:avLst>
          </a:prstGeom>
          <a:solidFill>
            <a:schemeClr val="bg2"/>
          </a:solidFill>
          <a:ln w="12700">
            <a:solidFill>
              <a:schemeClr val="bg2"/>
            </a:solidFill>
            <a:prstDash val="solid"/>
          </a:ln>
        </p:spPr>
      </p:sp>
      <p:sp>
        <p:nvSpPr>
          <p:cNvPr id="10" name="Shape 7"/>
          <p:cNvSpPr/>
          <p:nvPr/>
        </p:nvSpPr>
        <p:spPr>
          <a:xfrm>
            <a:off x="3447288" y="132588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57016" y="1435608"/>
            <a:ext cx="237744" cy="237744"/>
          </a:xfrm>
          <a:prstGeom prst="rect">
            <a:avLst/>
          </a:prstGeom>
        </p:spPr>
      </p:pic>
      <p:sp>
        <p:nvSpPr>
          <p:cNvPr id="12" name="Text 8"/>
          <p:cNvSpPr txBox="1"/>
          <p:nvPr/>
        </p:nvSpPr>
        <p:spPr>
          <a:xfrm>
            <a:off x="4041648" y="132588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BBN structure learning</a:t>
            </a:r>
            <a:endParaRPr lang="en-US" sz="1250" dirty="0"/>
          </a:p>
        </p:txBody>
      </p:sp>
      <p:sp>
        <p:nvSpPr>
          <p:cNvPr id="13" name="Text 9"/>
          <p:cNvSpPr txBox="1"/>
          <p:nvPr/>
        </p:nvSpPr>
        <p:spPr>
          <a:xfrm>
            <a:off x="3447288" y="1892808"/>
            <a:ext cx="2286000" cy="822960"/>
          </a:xfrm>
          <a:prstGeom prst="rect">
            <a:avLst/>
          </a:prstGeom>
          <a:noFill/>
          <a:ln/>
        </p:spPr>
        <p:txBody>
          <a:bodyPr wrap="square" lIns="0" tIns="0" rIns="0" bIns="0" rtlCol="0" anchor="t"/>
          <a:lstStyle/>
          <a:p>
            <a:pPr indent="0" marL="0">
              <a:buNone/>
            </a:pPr>
            <a:r>
              <a:rPr lang="en-US" sz="1050" dirty="0">
                <a:solidFill>
                  <a:schemeClr val="tx2"/>
                </a:solidFill>
              </a:rPr>
              <a:t>Hill-Climb / BIC or K2 search to discover dependencies automatically.</a:t>
            </a:r>
            <a:endParaRPr lang="en-US" sz="1050" dirty="0"/>
          </a:p>
        </p:txBody>
      </p:sp>
      <p:sp>
        <p:nvSpPr>
          <p:cNvPr id="14" name="Shape 10"/>
          <p:cNvSpPr/>
          <p:nvPr/>
        </p:nvSpPr>
        <p:spPr>
          <a:xfrm>
            <a:off x="6071616" y="1143000"/>
            <a:ext cx="2615184" cy="1627632"/>
          </a:xfrm>
          <a:prstGeom prst="roundRect">
            <a:avLst>
              <a:gd name="adj" fmla="val 4494"/>
            </a:avLst>
          </a:prstGeom>
          <a:solidFill>
            <a:schemeClr val="bg2"/>
          </a:solidFill>
          <a:ln w="12700">
            <a:solidFill>
              <a:schemeClr val="bg2"/>
            </a:solidFill>
            <a:prstDash val="solid"/>
          </a:ln>
        </p:spPr>
      </p:sp>
      <p:sp>
        <p:nvSpPr>
          <p:cNvPr id="15" name="Shape 11"/>
          <p:cNvSpPr/>
          <p:nvPr/>
        </p:nvSpPr>
        <p:spPr>
          <a:xfrm>
            <a:off x="6254496" y="1325880"/>
            <a:ext cx="457200" cy="457200"/>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6364224" y="1435608"/>
            <a:ext cx="237744" cy="237744"/>
          </a:xfrm>
          <a:prstGeom prst="rect">
            <a:avLst/>
          </a:prstGeom>
        </p:spPr>
      </p:pic>
      <p:sp>
        <p:nvSpPr>
          <p:cNvPr id="17" name="Text 12"/>
          <p:cNvSpPr txBox="1"/>
          <p:nvPr/>
        </p:nvSpPr>
        <p:spPr>
          <a:xfrm>
            <a:off x="6848856" y="132588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Threshold &amp; cost tuning</a:t>
            </a:r>
            <a:endParaRPr lang="en-US" sz="1250" dirty="0"/>
          </a:p>
        </p:txBody>
      </p:sp>
      <p:sp>
        <p:nvSpPr>
          <p:cNvPr id="18" name="Text 13"/>
          <p:cNvSpPr txBox="1"/>
          <p:nvPr/>
        </p:nvSpPr>
        <p:spPr>
          <a:xfrm>
            <a:off x="6254496" y="1892808"/>
            <a:ext cx="2286000" cy="822960"/>
          </a:xfrm>
          <a:prstGeom prst="rect">
            <a:avLst/>
          </a:prstGeom>
          <a:noFill/>
          <a:ln/>
        </p:spPr>
        <p:txBody>
          <a:bodyPr wrap="square" lIns="0" tIns="0" rIns="0" bIns="0" rtlCol="0" anchor="t"/>
          <a:lstStyle/>
          <a:p>
            <a:pPr indent="0" marL="0">
              <a:buNone/>
            </a:pPr>
            <a:r>
              <a:rPr lang="en-US" sz="1050" dirty="0">
                <a:solidFill>
                  <a:schemeClr val="tx2"/>
                </a:solidFill>
              </a:rPr>
              <a:t>ROC/PR curves, AUC and cost-sensitive thresholds to trade recall against false alarms.</a:t>
            </a:r>
            <a:endParaRPr lang="en-US" sz="1050" dirty="0"/>
          </a:p>
        </p:txBody>
      </p:sp>
      <p:sp>
        <p:nvSpPr>
          <p:cNvPr id="19" name="Shape 14"/>
          <p:cNvSpPr/>
          <p:nvPr/>
        </p:nvSpPr>
        <p:spPr>
          <a:xfrm>
            <a:off x="457200" y="2926080"/>
            <a:ext cx="2615184" cy="1627632"/>
          </a:xfrm>
          <a:prstGeom prst="roundRect">
            <a:avLst>
              <a:gd name="adj" fmla="val 4494"/>
            </a:avLst>
          </a:prstGeom>
          <a:solidFill>
            <a:schemeClr val="bg2"/>
          </a:solidFill>
          <a:ln w="12700">
            <a:solidFill>
              <a:schemeClr val="bg2"/>
            </a:solidFill>
            <a:prstDash val="solid"/>
          </a:ln>
        </p:spPr>
      </p:sp>
      <p:sp>
        <p:nvSpPr>
          <p:cNvPr id="20" name="Shape 15"/>
          <p:cNvSpPr/>
          <p:nvPr/>
        </p:nvSpPr>
        <p:spPr>
          <a:xfrm>
            <a:off x="640080" y="3108960"/>
            <a:ext cx="457200" cy="457200"/>
          </a:xfrm>
          <a:prstGeom prst="ellipse">
            <a:avLst/>
          </a:prstGeom>
          <a:solidFill>
            <a:schemeClr val="accent3"/>
          </a:solidFill>
          <a:ln w="12700">
            <a:solidFill>
              <a:schemeClr val="accent3"/>
            </a:solidFill>
            <a:prstDash val="solid"/>
          </a:ln>
        </p:spPr>
      </p:sp>
      <p:pic>
        <p:nvPicPr>
          <p:cNvPr id="21" name="Image 3" descr="preencoded.png">    </p:cNvPr>
          <p:cNvPicPr>
            <a:picLocks noChangeAspect="1"/>
          </p:cNvPicPr>
          <p:nvPr/>
        </p:nvPicPr>
        <p:blipFill>
          <a:blip r:embed="rId4"/>
          <a:stretch>
            <a:fillRect/>
          </a:stretch>
        </p:blipFill>
        <p:spPr>
          <a:xfrm>
            <a:off x="749808" y="3218688"/>
            <a:ext cx="237744" cy="237744"/>
          </a:xfrm>
          <a:prstGeom prst="rect">
            <a:avLst/>
          </a:prstGeom>
        </p:spPr>
      </p:pic>
      <p:sp>
        <p:nvSpPr>
          <p:cNvPr id="22" name="Text 16"/>
          <p:cNvSpPr txBox="1"/>
          <p:nvPr/>
        </p:nvSpPr>
        <p:spPr>
          <a:xfrm>
            <a:off x="1234440" y="310896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Richer features</a:t>
            </a:r>
            <a:endParaRPr lang="en-US" sz="1250" dirty="0"/>
          </a:p>
        </p:txBody>
      </p:sp>
      <p:sp>
        <p:nvSpPr>
          <p:cNvPr id="23" name="Text 17"/>
          <p:cNvSpPr txBox="1"/>
          <p:nvPr/>
        </p:nvSpPr>
        <p:spPr>
          <a:xfrm>
            <a:off x="640080" y="3675888"/>
            <a:ext cx="2286000" cy="822960"/>
          </a:xfrm>
          <a:prstGeom prst="rect">
            <a:avLst/>
          </a:prstGeom>
          <a:noFill/>
          <a:ln/>
        </p:spPr>
        <p:txBody>
          <a:bodyPr wrap="square" lIns="0" tIns="0" rIns="0" bIns="0" rtlCol="0" anchor="t"/>
          <a:lstStyle/>
          <a:p>
            <a:pPr indent="0" marL="0">
              <a:buNone/>
            </a:pPr>
            <a:r>
              <a:rPr lang="en-US" sz="1050" dirty="0">
                <a:solidFill>
                  <a:schemeClr val="tx2"/>
                </a:solidFill>
              </a:rPr>
              <a:t>Time, device and user-behaviour signals; the transaction date column was empty.</a:t>
            </a:r>
            <a:endParaRPr lang="en-US" sz="1050" dirty="0"/>
          </a:p>
        </p:txBody>
      </p:sp>
      <p:sp>
        <p:nvSpPr>
          <p:cNvPr id="24" name="Shape 18"/>
          <p:cNvSpPr/>
          <p:nvPr/>
        </p:nvSpPr>
        <p:spPr>
          <a:xfrm>
            <a:off x="3264408" y="2926080"/>
            <a:ext cx="2615184" cy="1627632"/>
          </a:xfrm>
          <a:prstGeom prst="roundRect">
            <a:avLst>
              <a:gd name="adj" fmla="val 4494"/>
            </a:avLst>
          </a:prstGeom>
          <a:solidFill>
            <a:schemeClr val="bg2"/>
          </a:solidFill>
          <a:ln w="12700">
            <a:solidFill>
              <a:schemeClr val="bg2"/>
            </a:solidFill>
            <a:prstDash val="solid"/>
          </a:ln>
        </p:spPr>
      </p:sp>
      <p:sp>
        <p:nvSpPr>
          <p:cNvPr id="25" name="Shape 19"/>
          <p:cNvSpPr/>
          <p:nvPr/>
        </p:nvSpPr>
        <p:spPr>
          <a:xfrm>
            <a:off x="3447288" y="3108960"/>
            <a:ext cx="457200" cy="457200"/>
          </a:xfrm>
          <a:prstGeom prst="ellipse">
            <a:avLst/>
          </a:prstGeom>
          <a:solidFill>
            <a:schemeClr val="accent2"/>
          </a:solidFill>
          <a:ln w="12700">
            <a:solidFill>
              <a:schemeClr val="accent2"/>
            </a:solidFill>
            <a:prstDash val="solid"/>
          </a:ln>
        </p:spPr>
      </p:sp>
      <p:pic>
        <p:nvPicPr>
          <p:cNvPr id="26" name="Image 4" descr="preencoded.png">    </p:cNvPr>
          <p:cNvPicPr>
            <a:picLocks noChangeAspect="1"/>
          </p:cNvPicPr>
          <p:nvPr/>
        </p:nvPicPr>
        <p:blipFill>
          <a:blip r:embed="rId5"/>
          <a:stretch>
            <a:fillRect/>
          </a:stretch>
        </p:blipFill>
        <p:spPr>
          <a:xfrm>
            <a:off x="3557016" y="3218688"/>
            <a:ext cx="237744" cy="237744"/>
          </a:xfrm>
          <a:prstGeom prst="rect">
            <a:avLst/>
          </a:prstGeom>
        </p:spPr>
      </p:pic>
      <p:sp>
        <p:nvSpPr>
          <p:cNvPr id="27" name="Text 20"/>
          <p:cNvSpPr txBox="1"/>
          <p:nvPr/>
        </p:nvSpPr>
        <p:spPr>
          <a:xfrm>
            <a:off x="4041648" y="310896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Robust validation</a:t>
            </a:r>
            <a:endParaRPr lang="en-US" sz="1250" dirty="0"/>
          </a:p>
        </p:txBody>
      </p:sp>
      <p:sp>
        <p:nvSpPr>
          <p:cNvPr id="28" name="Text 21"/>
          <p:cNvSpPr txBox="1"/>
          <p:nvPr/>
        </p:nvSpPr>
        <p:spPr>
          <a:xfrm>
            <a:off x="3447288" y="3675888"/>
            <a:ext cx="2286000" cy="822960"/>
          </a:xfrm>
          <a:prstGeom prst="rect">
            <a:avLst/>
          </a:prstGeom>
          <a:noFill/>
          <a:ln/>
        </p:spPr>
        <p:txBody>
          <a:bodyPr wrap="square" lIns="0" tIns="0" rIns="0" bIns="0" rtlCol="0" anchor="t"/>
          <a:lstStyle/>
          <a:p>
            <a:pPr indent="0" marL="0">
              <a:buNone/>
            </a:pPr>
            <a:r>
              <a:rPr lang="en-US" sz="1050" dirty="0">
                <a:solidFill>
                  <a:schemeClr val="tx2"/>
                </a:solidFill>
              </a:rPr>
              <a:t>k-fold cross-validation and larger benchmarks such as the 284k-row European dataset.</a:t>
            </a:r>
            <a:endParaRPr lang="en-US" sz="1050" dirty="0"/>
          </a:p>
        </p:txBody>
      </p:sp>
      <p:sp>
        <p:nvSpPr>
          <p:cNvPr id="29" name="Shape 22"/>
          <p:cNvSpPr/>
          <p:nvPr/>
        </p:nvSpPr>
        <p:spPr>
          <a:xfrm>
            <a:off x="6071616" y="2926080"/>
            <a:ext cx="2615184" cy="1627632"/>
          </a:xfrm>
          <a:prstGeom prst="roundRect">
            <a:avLst>
              <a:gd name="adj" fmla="val 4494"/>
            </a:avLst>
          </a:prstGeom>
          <a:solidFill>
            <a:schemeClr val="bg2"/>
          </a:solidFill>
          <a:ln w="12700">
            <a:solidFill>
              <a:schemeClr val="bg2"/>
            </a:solidFill>
            <a:prstDash val="solid"/>
          </a:ln>
        </p:spPr>
      </p:sp>
      <p:sp>
        <p:nvSpPr>
          <p:cNvPr id="30" name="Shape 23"/>
          <p:cNvSpPr/>
          <p:nvPr/>
        </p:nvSpPr>
        <p:spPr>
          <a:xfrm>
            <a:off x="6254496" y="3108960"/>
            <a:ext cx="457200" cy="457200"/>
          </a:xfrm>
          <a:prstGeom prst="ellipse">
            <a:avLst/>
          </a:prstGeom>
          <a:solidFill>
            <a:schemeClr val="accent3"/>
          </a:solidFill>
          <a:ln w="12700">
            <a:solidFill>
              <a:schemeClr val="accent3"/>
            </a:solidFill>
            <a:prstDash val="solid"/>
          </a:ln>
        </p:spPr>
      </p:sp>
      <p:pic>
        <p:nvPicPr>
          <p:cNvPr id="31" name="Image 5" descr="preencoded.png">    </p:cNvPr>
          <p:cNvPicPr>
            <a:picLocks noChangeAspect="1"/>
          </p:cNvPicPr>
          <p:nvPr/>
        </p:nvPicPr>
        <p:blipFill>
          <a:blip r:embed="rId6"/>
          <a:stretch>
            <a:fillRect/>
          </a:stretch>
        </p:blipFill>
        <p:spPr>
          <a:xfrm>
            <a:off x="6364224" y="3218688"/>
            <a:ext cx="237744" cy="237744"/>
          </a:xfrm>
          <a:prstGeom prst="rect">
            <a:avLst/>
          </a:prstGeom>
        </p:spPr>
      </p:pic>
      <p:sp>
        <p:nvSpPr>
          <p:cNvPr id="32" name="Text 24"/>
          <p:cNvSpPr txBox="1"/>
          <p:nvPr/>
        </p:nvSpPr>
        <p:spPr>
          <a:xfrm>
            <a:off x="6848856" y="3108960"/>
            <a:ext cx="1737360" cy="457200"/>
          </a:xfrm>
          <a:prstGeom prst="rect">
            <a:avLst/>
          </a:prstGeom>
          <a:noFill/>
          <a:ln/>
        </p:spPr>
        <p:txBody>
          <a:bodyPr wrap="square" lIns="0" tIns="0" rIns="0" bIns="0" rtlCol="0" anchor="ctr"/>
          <a:lstStyle/>
          <a:p>
            <a:pPr indent="0" marL="0">
              <a:buNone/>
            </a:pPr>
            <a:r>
              <a:rPr lang="en-US" sz="1250" b="1" dirty="0">
                <a:solidFill>
                  <a:schemeClr val="tx1"/>
                </a:solidFill>
              </a:rPr>
              <a:t>Hybrid &amp; real-time</a:t>
            </a:r>
            <a:endParaRPr lang="en-US" sz="1250" dirty="0"/>
          </a:p>
        </p:txBody>
      </p:sp>
      <p:sp>
        <p:nvSpPr>
          <p:cNvPr id="33" name="Text 25"/>
          <p:cNvSpPr txBox="1"/>
          <p:nvPr/>
        </p:nvSpPr>
        <p:spPr>
          <a:xfrm>
            <a:off x="6254496" y="3675888"/>
            <a:ext cx="2286000" cy="822960"/>
          </a:xfrm>
          <a:prstGeom prst="rect">
            <a:avLst/>
          </a:prstGeom>
          <a:noFill/>
          <a:ln/>
        </p:spPr>
        <p:txBody>
          <a:bodyPr wrap="square" lIns="0" tIns="0" rIns="0" bIns="0" rtlCol="0" anchor="t"/>
          <a:lstStyle/>
          <a:p>
            <a:pPr indent="0" marL="0">
              <a:buNone/>
            </a:pPr>
            <a:r>
              <a:rPr lang="en-US" sz="1050" dirty="0">
                <a:solidFill>
                  <a:schemeClr val="tx2"/>
                </a:solidFill>
              </a:rPr>
              <a:t>HNB + BBN ensembles, SMOTE vs. ROS, streaming deployment with drift monitoring.</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20040"/>
          </a:xfrm>
          <a:prstGeom prst="rect">
            <a:avLst/>
          </a:prstGeom>
          <a:noFill/>
          <a:ln/>
        </p:spPr>
        <p:txBody>
          <a:bodyPr wrap="square" lIns="0" tIns="0" rIns="0" bIns="0" rtlCol="0"/>
          <a:lstStyle/>
          <a:p>
            <a:pPr indent="0" marL="0">
              <a:buNone/>
            </a:pPr>
            <a:r>
              <a:rPr lang="en-US" sz="1100" b="1" spc="200" kern="0" dirty="0">
                <a:solidFill>
                  <a:schemeClr val="accent1"/>
                </a:solidFill>
              </a:rPr>
              <a:t>PROBABILISTIC REASONING</a:t>
            </a:r>
            <a:endParaRPr lang="en-US" sz="1100" dirty="0"/>
          </a:p>
        </p:txBody>
      </p:sp>
      <p:sp>
        <p:nvSpPr>
          <p:cNvPr id="3" name="Text 0"/>
          <p:cNvSpPr/>
          <p:nvPr>
            <p:ph idx="101" type="title" hasCustomPrompt="1"/>
          </p:nvPr>
        </p:nvSpPr>
        <p:spPr>
          <a:xfrm>
            <a:off x="548640" y="1325880"/>
            <a:ext cx="6035040" cy="1463040"/>
          </a:xfrm>
          <a:prstGeom prst="rect">
            <a:avLst/>
          </a:prstGeom>
          <a:noFill/>
          <a:ln/>
        </p:spPr>
        <p:txBody>
          <a:bodyPr wrap="square" lIns="0" tIns="0" rIns="0" bIns="0" rtlCol="0" anchor="b"/>
          <a:lstStyle/>
          <a:p>
            <a:pPr algn="l" indent="0" marL="0">
              <a:buNone/>
            </a:pPr>
            <a:r>
              <a:rPr lang="en-US" sz="3200" b="1" dirty="0">
                <a:solidFill>
                  <a:schemeClr val="bg1"/>
                </a:solidFill>
              </a:rPr>
              <a:t>Thank you</a:t>
            </a:r>
            <a:endParaRPr lang="en-US" sz="3200" dirty="0"/>
          </a:p>
        </p:txBody>
      </p:sp>
      <p:sp>
        <p:nvSpPr>
          <p:cNvPr id="4" name="Text 0"/>
          <p:cNvSpPr/>
          <p:nvPr>
            <p:ph idx="102" type="body" hasCustomPrompt="1"/>
          </p:nvPr>
        </p:nvSpPr>
        <p:spPr>
          <a:xfrm>
            <a:off x="548640" y="2834640"/>
            <a:ext cx="6035040" cy="640080"/>
          </a:xfrm>
          <a:prstGeom prst="rect">
            <a:avLst/>
          </a:prstGeom>
          <a:noFill/>
          <a:ln/>
        </p:spPr>
        <p:txBody>
          <a:bodyPr wrap="square" lIns="0" tIns="0" rIns="0" bIns="0" rtlCol="0" anchor="t"/>
          <a:lstStyle/>
          <a:p>
            <a:pPr indent="0" marL="0">
              <a:buNone/>
            </a:pPr>
            <a:r>
              <a:rPr lang="en-US" sz="1400" dirty="0">
                <a:solidFill>
                  <a:schemeClr val="accent6"/>
                </a:solidFill>
              </a:rPr>
              <a:t>Questions &amp; discussion</a:t>
            </a:r>
            <a:endParaRPr lang="en-US" sz="1400" dirty="0"/>
          </a:p>
        </p:txBody>
      </p:sp>
      <p:sp>
        <p:nvSpPr>
          <p:cNvPr id="5" name="Shape 3"/>
          <p:cNvSpPr/>
          <p:nvPr/>
        </p:nvSpPr>
        <p:spPr>
          <a:xfrm>
            <a:off x="7086600" y="1325880"/>
            <a:ext cx="1554480" cy="1554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52360" y="1691640"/>
            <a:ext cx="822960" cy="822960"/>
          </a:xfrm>
          <a:prstGeom prst="rect">
            <a:avLst/>
          </a:prstGeom>
        </p:spPr>
      </p:pic>
      <p:sp>
        <p:nvSpPr>
          <p:cNvPr id="7" name="Text 4"/>
          <p:cNvSpPr txBox="1"/>
          <p:nvPr/>
        </p:nvSpPr>
        <p:spPr>
          <a:xfrm>
            <a:off x="548640" y="3977640"/>
            <a:ext cx="8046720" cy="548640"/>
          </a:xfrm>
          <a:prstGeom prst="rect">
            <a:avLst/>
          </a:prstGeom>
          <a:noFill/>
          <a:ln/>
        </p:spPr>
        <p:txBody>
          <a:bodyPr wrap="square" lIns="0" tIns="0" rIns="0" bIns="0" rtlCol="0" anchor="t"/>
          <a:lstStyle/>
          <a:p>
            <a:pPr indent="0" marL="0">
              <a:buNone/>
            </a:pPr>
            <a:r>
              <a:rPr lang="en-US" sz="950" dirty="0">
                <a:solidFill>
                  <a:schemeClr val="accent5"/>
                </a:solidFill>
              </a:rPr>
              <a:t>Reference: G. S. Chaitanya, K. Deepika, G. S. Prabhav, R. B. Patil, M. A. Jabbar, "Credit Card Fraud Detection using Hidden Naive Bayes and Bayesian Belief Network," IEEE I2CT 2024, doi:10.1109/I2CT61223.2024.10544328</a:t>
            </a:r>
            <a:endParaRPr lang="en-US" sz="950" dirty="0"/>
          </a:p>
        </p:txBody>
      </p:sp>
    </p:spTree>
  </p:cSld>
  <p:clrMapOvr>
    <a:masterClrMapping/>
  </p:clrMapOvr>
</p:sld>
</file>

<file path=ppt/theme/theme1.xml><?xml version="1.0" encoding="utf-8"?>
<a:theme xmlns:a="http://schemas.openxmlformats.org/drawingml/2006/main" name="Fraud Ink">
  <a:themeElements>
    <a:clrScheme name="Fraud Ink">
      <a:dk1>
        <a:srgbClr val="1A1D29"/>
      </a:dk1>
      <a:lt1>
        <a:srgbClr val="FFFFFF"/>
      </a:lt1>
      <a:dk2>
        <a:srgbClr val="4A5163"/>
      </a:dk2>
      <a:lt2>
        <a:srgbClr val="F2F3F6"/>
      </a:lt2>
      <a:accent1>
        <a:srgbClr val="C8102E"/>
      </a:accent1>
      <a:accent2>
        <a:srgbClr val="0E7C7B"/>
      </a:accent2>
      <a:accent3>
        <a:srgbClr val="3D4B8C"/>
      </a:accent3>
      <a:accent4>
        <a:srgbClr val="D98E04"/>
      </a:accent4>
      <a:accent5>
        <a:srgbClr val="8A93A6"/>
      </a:accent5>
      <a:accent6>
        <a:srgbClr val="B9C0CF"/>
      </a:accent6>
      <a:hlink>
        <a:srgbClr val="0E7C7B"/>
      </a:hlink>
      <a:folHlink>
        <a:srgbClr val="3D4B8C"/>
      </a:folHlink>
    </a:clrScheme>
    <a:fontScheme name="Fraud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HNB and BBN</dc:title>
  <dc:subject>Probabilistic Reasoning – implementation vs. paper</dc:subject>
  <dc:creator>PptxGenJS</dc:creator>
  <cp:lastModifiedBy>PptxGenJS</cp:lastModifiedBy>
  <cp:revision>1</cp:revision>
  <dcterms:created xsi:type="dcterms:W3CDTF">2026-10-02T13:42:02Z</dcterms:created>
  <dcterms:modified xsi:type="dcterms:W3CDTF">2026-10-02T13:42:02Z</dcterms:modified>
</cp:coreProperties>
</file>